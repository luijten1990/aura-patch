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151c8f4acb4ee9" /><Relationship Type="http://schemas.openxmlformats.org/officeDocument/2006/relationships/extended-properties" Target="/docProps/app.xml" Id="R73696ea1fd434d37" /><Relationship Type="http://schemas.openxmlformats.org/officeDocument/2006/relationships/officeDocument" Target="/ppt/presentation.xml" Id="R76ee34518ba94f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738ff5ff714027"/>
  </p:sldMasterIdLst>
  <p:notesMasterIdLst>
    <p:notesMasterId xmlns:r="http://schemas.openxmlformats.org/officeDocument/2006/relationships" r:id="R7ebd5cf3639c48f2"/>
  </p:notesMasterIdLst>
  <p:sldIdLst>
    <p:sldId xmlns:r="http://schemas.openxmlformats.org/officeDocument/2006/relationships" id="256" r:id="R319982ae503541c1"/>
    <p:sldId xmlns:r="http://schemas.openxmlformats.org/officeDocument/2006/relationships" id="257" r:id="R4b270bab92b14856"/>
    <p:sldId xmlns:r="http://schemas.openxmlformats.org/officeDocument/2006/relationships" id="258" r:id="Rb91e07de14a64382"/>
    <p:sldId xmlns:r="http://schemas.openxmlformats.org/officeDocument/2006/relationships" id="259" r:id="Rc48b14bdd2aa4fc7"/>
    <p:sldId xmlns:r="http://schemas.openxmlformats.org/officeDocument/2006/relationships" id="260" r:id="Rb76953faf0744aba"/>
    <p:sldId xmlns:r="http://schemas.openxmlformats.org/officeDocument/2006/relationships" id="261" r:id="R9cd0fcae513c4a57"/>
    <p:sldId xmlns:r="http://schemas.openxmlformats.org/officeDocument/2006/relationships" id="262" r:id="R6856e0250f0e4b52"/>
    <p:sldId xmlns:r="http://schemas.openxmlformats.org/officeDocument/2006/relationships" id="263" r:id="R8eccc84346fd40d1"/>
    <p:sldId xmlns:r="http://schemas.openxmlformats.org/officeDocument/2006/relationships" id="264" r:id="Rc7ff709fc55c4674"/>
    <p:sldId xmlns:r="http://schemas.openxmlformats.org/officeDocument/2006/relationships" id="265" r:id="Rf66b85d67d0d4e82"/>
    <p:sldId xmlns:r="http://schemas.openxmlformats.org/officeDocument/2006/relationships" id="266" r:id="Rd2e6f8cd92f049df"/>
    <p:sldId xmlns:r="http://schemas.openxmlformats.org/officeDocument/2006/relationships" id="267" r:id="Rf837addafc424416"/>
    <p:sldId xmlns:r="http://schemas.openxmlformats.org/officeDocument/2006/relationships" id="268" r:id="Rb0c09441431541cc"/>
    <p:sldId xmlns:r="http://schemas.openxmlformats.org/officeDocument/2006/relationships" id="269" r:id="R64659bff798a43b5"/>
    <p:sldId xmlns:r="http://schemas.openxmlformats.org/officeDocument/2006/relationships" id="270" r:id="R5dd022a50a984cf4"/>
    <p:sldId xmlns:r="http://schemas.openxmlformats.org/officeDocument/2006/relationships" id="271" r:id="R7680d8975a80467f"/>
    <p:sldId xmlns:r="http://schemas.openxmlformats.org/officeDocument/2006/relationships" id="272" r:id="R11b5145731304e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8151c7e606400f" /><Relationship Type="http://schemas.openxmlformats.org/officeDocument/2006/relationships/slideMaster" Target="/ppt/slideMasters/slideMaster1.xml" Id="R5c738ff5ff714027" /><Relationship Type="http://schemas.openxmlformats.org/officeDocument/2006/relationships/notesMaster" Target="/ppt/notesMasters/notesMaster1.xml" Id="R7ebd5cf3639c48f2" /><Relationship Type="http://schemas.openxmlformats.org/officeDocument/2006/relationships/presProps" Target="/ppt/presProps.xml" Id="R8edd262084d049e3" /><Relationship Type="http://schemas.openxmlformats.org/officeDocument/2006/relationships/tableStyles" Target="/ppt/tableStyles.xml" Id="R88d16b9455de4001" /><Relationship Type="http://schemas.openxmlformats.org/officeDocument/2006/relationships/slide" Target="/ppt/slides/slide1.xml" Id="R319982ae503541c1" /><Relationship Type="http://schemas.openxmlformats.org/officeDocument/2006/relationships/slide" Target="/ppt/slides/slide2.xml" Id="R4b270bab92b14856" /><Relationship Type="http://schemas.openxmlformats.org/officeDocument/2006/relationships/slide" Target="/ppt/slides/slide3.xml" Id="Rb91e07de14a64382" /><Relationship Type="http://schemas.openxmlformats.org/officeDocument/2006/relationships/slide" Target="/ppt/slides/slide4.xml" Id="Rc48b14bdd2aa4fc7" /><Relationship Type="http://schemas.openxmlformats.org/officeDocument/2006/relationships/slide" Target="/ppt/slides/slide5.xml" Id="Rb76953faf0744aba" /><Relationship Type="http://schemas.openxmlformats.org/officeDocument/2006/relationships/slide" Target="/ppt/slides/slide6.xml" Id="R9cd0fcae513c4a57" /><Relationship Type="http://schemas.openxmlformats.org/officeDocument/2006/relationships/slide" Target="/ppt/slides/slide7.xml" Id="R6856e0250f0e4b52" /><Relationship Type="http://schemas.openxmlformats.org/officeDocument/2006/relationships/slide" Target="/ppt/slides/slide8.xml" Id="R8eccc84346fd40d1" /><Relationship Type="http://schemas.openxmlformats.org/officeDocument/2006/relationships/slide" Target="/ppt/slides/slide9.xml" Id="Rc7ff709fc55c4674" /><Relationship Type="http://schemas.openxmlformats.org/officeDocument/2006/relationships/slide" Target="/ppt/slides/slide10.xml" Id="Rf66b85d67d0d4e82" /><Relationship Type="http://schemas.openxmlformats.org/officeDocument/2006/relationships/slide" Target="/ppt/slides/slide11.xml" Id="Rd2e6f8cd92f049df" /><Relationship Type="http://schemas.openxmlformats.org/officeDocument/2006/relationships/slide" Target="/ppt/slides/slide12.xml" Id="Rf837addafc424416" /><Relationship Type="http://schemas.openxmlformats.org/officeDocument/2006/relationships/slide" Target="/ppt/slides/slide13.xml" Id="Rb0c09441431541cc" /><Relationship Type="http://schemas.openxmlformats.org/officeDocument/2006/relationships/slide" Target="/ppt/slides/slide14.xml" Id="R64659bff798a43b5" /><Relationship Type="http://schemas.openxmlformats.org/officeDocument/2006/relationships/slide" Target="/ppt/slides/slide15.xml" Id="R5dd022a50a984cf4" /><Relationship Type="http://schemas.openxmlformats.org/officeDocument/2006/relationships/slide" Target="/ppt/slides/slide16.xml" Id="R7680d8975a80467f" /><Relationship Type="http://schemas.openxmlformats.org/officeDocument/2006/relationships/slide" Target="/ppt/slides/slide17.xml" Id="R11b5145731304e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67c6aad1a341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6ba33eb332491e" /><Relationship Type="http://schemas.openxmlformats.org/officeDocument/2006/relationships/notesMaster" Target="/ppt/notesMasters/notesMaster1.xml" Id="Re26ac4f9c0084c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b00aa042554dd9" /><Relationship Type="http://schemas.openxmlformats.org/officeDocument/2006/relationships/notesMaster" Target="/ppt/notesMasters/notesMaster1.xml" Id="R036ab424f81349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42b30510cd4b7b" /><Relationship Type="http://schemas.openxmlformats.org/officeDocument/2006/relationships/notesMaster" Target="/ppt/notesMasters/notesMaster1.xml" Id="R1561453491cb43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0ab27a240a446d" /><Relationship Type="http://schemas.openxmlformats.org/officeDocument/2006/relationships/notesMaster" Target="/ppt/notesMasters/notesMaster1.xml" Id="Ra993cbe43f3d47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a0100d079f4db0" /><Relationship Type="http://schemas.openxmlformats.org/officeDocument/2006/relationships/notesMaster" Target="/ppt/notesMasters/notesMaster1.xml" Id="R43433e75f53f48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012b2430a24c6b" /><Relationship Type="http://schemas.openxmlformats.org/officeDocument/2006/relationships/notesMaster" Target="/ppt/notesMasters/notesMaster1.xml" Id="R7f50f6172a5c41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bde20e1828450a" /><Relationship Type="http://schemas.openxmlformats.org/officeDocument/2006/relationships/notesMaster" Target="/ppt/notesMasters/notesMaster1.xml" Id="R798bd7e1a6c641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16b5305a024847" /><Relationship Type="http://schemas.openxmlformats.org/officeDocument/2006/relationships/notesMaster" Target="/ppt/notesMasters/notesMaster1.xml" Id="Rb0ee6def664f4a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597e49afbd4289" /><Relationship Type="http://schemas.openxmlformats.org/officeDocument/2006/relationships/notesMaster" Target="/ppt/notesMasters/notesMaster1.xml" Id="R64d1c878fc7c4c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4745f7915c4da4" /><Relationship Type="http://schemas.openxmlformats.org/officeDocument/2006/relationships/notesMaster" Target="/ppt/notesMasters/notesMaster1.xml" Id="R89cb5811ab0845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6ce89114b64a15" /><Relationship Type="http://schemas.openxmlformats.org/officeDocument/2006/relationships/notesMaster" Target="/ppt/notesMasters/notesMaster1.xml" Id="Rd98c45f1037047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0e9b75b0ca43b1" /><Relationship Type="http://schemas.openxmlformats.org/officeDocument/2006/relationships/notesMaster" Target="/ppt/notesMasters/notesMaster1.xml" Id="Rfff9ba500de048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950ad153ae4449" /><Relationship Type="http://schemas.openxmlformats.org/officeDocument/2006/relationships/notesMaster" Target="/ppt/notesMasters/notesMaster1.xml" Id="Rd430389a73ad47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48201a4d5bb4de7" /><Relationship Type="http://schemas.openxmlformats.org/officeDocument/2006/relationships/notesMaster" Target="/ppt/notesMasters/notesMaster1.xml" Id="R76b4984ac568450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495ad86c23406d" /><Relationship Type="http://schemas.openxmlformats.org/officeDocument/2006/relationships/notesMaster" Target="/ppt/notesMasters/notesMaster1.xml" Id="Rcb9218f05ad243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bb2f3cf1cf4165" /><Relationship Type="http://schemas.openxmlformats.org/officeDocument/2006/relationships/notesMaster" Target="/ppt/notesMasters/notesMaster1.xml" Id="Rb1ebe0044c12417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f546235908e4d82" /><Relationship Type="http://schemas.openxmlformats.org/officeDocument/2006/relationships/notesMaster" Target="/ppt/notesMasters/notesMaster1.xml" Id="Rf2732c00485c43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Aura Patch management materials and brand assets.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Aura Patch product positioning, pricing, and formulation supplied by management.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pipeline and positioning supplied by management.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Go-to-market strategy supplied by management; channel performance remains to be validated.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Calculations use management pricing assumption of $39.99 per active monthly subscriber.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Illustrative calculation using $39.99 price, ~$2 product cost, and 20% affiliate fee; excludes material operating costs.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Illustrative management allocation for a $1M raise; final budget depends on raise size, quotes, and market learning.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Management assumptions and founder-provided information; not independently verified.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Illustrative 18-month milestones; timing depends on financing, compliance, supply, and launch performance.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Aura Patch management materials and brand assets.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97cec12cd34b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ed0d78bd204539" /><Relationship Type="http://schemas.openxmlformats.org/officeDocument/2006/relationships/slideLayout" Target="/ppt/slideLayouts/slideLayout1.xml" Id="R8ed0c52a3ab740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d0c52a3ab740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9f22609b1422c" /><Relationship Type="http://schemas.openxmlformats.org/officeDocument/2006/relationships/image" Target="/ppt/media/image.jpeg" Id="R24b0afc3d0014d73" /><Relationship Type="http://schemas.openxmlformats.org/officeDocument/2006/relationships/image" Target="/ppt/media/image.png" Id="R9b9df64d97254efc" /><Relationship Type="http://schemas.openxmlformats.org/officeDocument/2006/relationships/notesSlide" Target="/ppt/notesSlides/notesSlide1.xml" Id="R6286e6700e2741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28a6768274642" /><Relationship Type="http://schemas.openxmlformats.org/officeDocument/2006/relationships/notesSlide" Target="/ppt/notesSlides/notesSlide2.xml" Id="R35a48982a32146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6ea36385a4852" /><Relationship Type="http://schemas.openxmlformats.org/officeDocument/2006/relationships/image" Target="/ppt/media/image2.jpeg" Id="R0e66afa29c904649" /><Relationship Type="http://schemas.openxmlformats.org/officeDocument/2006/relationships/notesSlide" Target="/ppt/notesSlides/notesSlide3.xml" Id="R834ff65c560d46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f1e62192c43ac" /><Relationship Type="http://schemas.openxmlformats.org/officeDocument/2006/relationships/notesSlide" Target="/ppt/notesSlides/notesSlide4.xml" Id="Re857ae9726fd46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8f2b6ad0748ee" /><Relationship Type="http://schemas.openxmlformats.org/officeDocument/2006/relationships/notesSlide" Target="/ppt/notesSlides/notesSlide5.xml" Id="R4495d9a12a6542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ae4f5db094d3e" /><Relationship Type="http://schemas.openxmlformats.org/officeDocument/2006/relationships/notesSlide" Target="/ppt/notesSlides/notesSlide6.xml" Id="R832c34fdf62b44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b815a873b04f08" /><Relationship Type="http://schemas.openxmlformats.org/officeDocument/2006/relationships/notesSlide" Target="/ppt/notesSlides/notesSlide7.xml" Id="R82980ba66a8243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eb9d531034778" /><Relationship Type="http://schemas.openxmlformats.org/officeDocument/2006/relationships/notesSlide" Target="/ppt/notesSlides/notesSlide8.xml" Id="Rbec12856a2574d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ba0424e124e85" /><Relationship Type="http://schemas.openxmlformats.org/officeDocument/2006/relationships/notesSlide" Target="/ppt/notesSlides/notesSlide9.xml" Id="R9842e7974bbc49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6b9ad549746e9" /><Relationship Type="http://schemas.openxmlformats.org/officeDocument/2006/relationships/notesSlide" Target="/ppt/notesSlides/notesSlide10.xml" Id="R72ac54e7e1c2486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752be1f4f47fa" /><Relationship Type="http://schemas.openxmlformats.org/officeDocument/2006/relationships/notesSlide" Target="/ppt/notesSlides/notesSlide11.xml" Id="Rfa049b8c93fd43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76a1f7a4740f1" /><Relationship Type="http://schemas.openxmlformats.org/officeDocument/2006/relationships/notesSlide" Target="/ppt/notesSlides/notesSlide12.xml" Id="R2dd1f5eccdf043e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999d0770b499e" /><Relationship Type="http://schemas.openxmlformats.org/officeDocument/2006/relationships/notesSlide" Target="/ppt/notesSlides/notesSlide13.xml" Id="R0de59587c10c45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9e096c7624a12" /><Relationship Type="http://schemas.openxmlformats.org/officeDocument/2006/relationships/notesSlide" Target="/ppt/notesSlides/notesSlide14.xml" Id="R6008441d18a543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5601c24494f4d" /><Relationship Type="http://schemas.openxmlformats.org/officeDocument/2006/relationships/notesSlide" Target="/ppt/notesSlides/notesSlide15.xml" Id="R86b6c50531544b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454654234441b" /><Relationship Type="http://schemas.openxmlformats.org/officeDocument/2006/relationships/notesSlide" Target="/ppt/notesSlides/notesSlide16.xml" Id="R61f71c89079947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27fd9bfbe4202" /><Relationship Type="http://schemas.openxmlformats.org/officeDocument/2006/relationships/image" Target="/ppt/media/image3.jpeg" Id="R2cc9e2fb173845e3" /><Relationship Type="http://schemas.openxmlformats.org/officeDocument/2006/relationships/image" Target="/ppt/media/image2.png" Id="R4e24003395724cb9" /><Relationship Type="http://schemas.openxmlformats.org/officeDocument/2006/relationships/notesSlide" Target="/ppt/notesSlides/notesSlide17.xml" Id="R9ecbe15f68ab4d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0afc3d0014d73"/>
          <a:srcRect xmlns:a="http://schemas.openxmlformats.org/drawingml/2006/main" l="11567" t="0" r="115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0"/>
            <a:ext cx="4381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9E0EE-F678-4F93-A96A-4C044044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0"/>
            <a:ext cx="104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df64d97254efc"/>
          <a:stretch xmlns:a="http://schemas.openxmlformats.org/drawingml/2006/main"/>
        </p:blipFill>
        <p:spPr>
          <a:xfrm xmlns:a="http://schemas.openxmlformats.org/drawingml/2006/main">
            <a:off x="928312" y="400050"/>
            <a:ext cx="886577" cy="514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4B9B3-19DD-40F6-A65A-12D279A4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INVESTOR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64E69-0DBB-4AF8-8E7D-10DBFE4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47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DF8"/>
                </a:solidFill>
              </a:defRPr>
            </a:pPr>
            <a:r>
              <a:rPr sz="3600" b="0">
                <a:solidFill>
                  <a:srgbClr val="FFFDF8"/>
                </a:solidFill>
              </a:rPr>
              <a:t>The daily wellness ritual</a:t>
            </a:r>
          </a:p>
          <a:p xmlns:a="http://schemas.openxmlformats.org/drawingml/2006/main">
            <a:pPr algn="l">
              <a:defRPr sz="3600" b="0">
                <a:solidFill>
                  <a:srgbClr val="FFFDF8"/>
                </a:solidFill>
              </a:defRPr>
            </a:pPr>
            <a:r>
              <a:rPr sz="3600" b="0">
                <a:solidFill>
                  <a:srgbClr val="FFFDF8"/>
                </a:solidFill>
              </a:rPr>
              <a:t>built to become a platform.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9C5E0-1D1B-4A1D-9693-0960781F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ABDB4"/>
                </a:solidFill>
              </a:defRPr>
            </a:pPr>
            <a:r>
              <a:rPr sz="1500" b="0">
                <a:solidFill>
                  <a:srgbClr val="AABDB4"/>
                </a:solidFill>
              </a:rPr>
              <a:t>A subscription-led patch brand with a flagship product, a focused acquisition engine, and two adjacent product lines ready for staged development.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904687-CA6C-4483-9D1F-45CA29BB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647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SEEKING $500K–$1.5M IN STRATEGIC SEED CAPITAL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6C75A-191D-4B2B-81F6-37F921AC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AABDB4"/>
                </a:solidFill>
              </a:defRPr>
            </a:pPr>
            <a:r>
              <a:rPr sz="750" b="0">
                <a:solidFill>
                  <a:srgbClr val="AABDB4"/>
                </a:solidFill>
              </a:rPr>
              <a:t>Confidential  /  2026</a:t>
            </a:r>
          </a:p>
        </p:txBody>
      </p:sp>
    </p:spTree>
    <p:extLst>
      <p:ext uri="{BB962C8B-B14F-4D97-AF65-F5344CB8AC3E}">
        <p14:creationId xmlns:p14="http://schemas.microsoft.com/office/powerpoint/2010/main" val="15606922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D35C09-957E-4B1E-8924-3528044B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THE OPENING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A125-4DC4-4FCC-8A92-B3CB418B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6A4A2-C38B-43CE-A167-3FEAF662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3E353-63DF-43C4-BD42-1915635F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Consumers want wellness that fits into real life.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B0337-D03C-4586-80A6-0C1A0D23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Aura turns a daily intention into a simple, repeatable ritual.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E04BC7-58E7-4203-B4E7-EB0AD729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13CF7-0A07-45C5-B2C3-A795E572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EA4BD-A20E-406A-9A55-F1606814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3C34"/>
                </a:solidFill>
              </a:defRPr>
            </a:pPr>
            <a:r>
              <a:rPr sz="1725" b="0">
                <a:solidFill>
                  <a:srgbClr val="183C34"/>
                </a:solidFill>
              </a:rPr>
              <a:t>Low friction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4F5AA-1667-4CAA-8A7B-927C4158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209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No pills, powders, mixing, or complicated schedules.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81B71-2535-4A8B-8378-2D05A390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383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DEBB9-4C41-4D02-84C9-3E6E815D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71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C6DDB-6892-43CC-B172-E71FC311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3C34"/>
                </a:solidFill>
              </a:defRPr>
            </a:pPr>
            <a:r>
              <a:rPr sz="1725" b="0">
                <a:solidFill>
                  <a:srgbClr val="183C34"/>
                </a:solidFill>
              </a:rPr>
              <a:t>Goal-led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50CF3-F4E8-42DC-88AC-EF09F45C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76600"/>
            <a:ext cx="209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Clear formulations built around specific everyday needs.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524C0-1FC2-43BC-BE26-B6D62088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383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07D9F-7796-46B9-A5E5-FDF2033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71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3BE3F4-8A2F-488B-A093-9A26130A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3C34"/>
                </a:solidFill>
              </a:defRPr>
            </a:pPr>
            <a:r>
              <a:rPr sz="1725" b="0">
                <a:solidFill>
                  <a:srgbClr val="183C34"/>
                </a:solidFill>
              </a:rPr>
              <a:t>Habit-forming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7002D-9CEC-4D70-9F42-E084E52E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76600"/>
            <a:ext cx="209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Thirty individually portioned patches support monthly continuity.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CCA7E0-5513-4C72-828B-CFC02C30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383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25F57-8B20-423B-B002-A1E6FF61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717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AB3C6-AA74-4698-A96A-229C23E9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3C34"/>
                </a:solidFill>
              </a:defRPr>
            </a:pPr>
            <a:r>
              <a:rPr sz="1725" b="0">
                <a:solidFill>
                  <a:srgbClr val="183C34"/>
                </a:solidFill>
              </a:rPr>
              <a:t>Expandable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A8205B-1F82-49C2-B0FC-4E763C35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76600"/>
            <a:ext cx="209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One familiar format can carry multiple targeted products.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2CB164-9DEC-4CD5-B195-892E5208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The opportunity is not another supplement. It is a better interface for everyday wellness.</a:t>
            </a:r>
          </a:p>
        </p:txBody>
      </p:sp>
    </p:spTree>
    <p:extLst>
      <p:ext uri="{BB962C8B-B14F-4D97-AF65-F5344CB8AC3E}">
        <p14:creationId xmlns:p14="http://schemas.microsoft.com/office/powerpoint/2010/main" val="12252141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273ABC-62A9-417C-B1F6-3C26B67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THE FLAGSHIP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8721C-895D-4716-84CA-87299E21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8A71D0-B4D1-4180-A0ED-B853D9AD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6BF44-672A-440E-A75C-4B3815C1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Aura™ creates the monthly ritual.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FFA748-81CF-40D0-8BBB-904A1021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Daily Wellness &amp; Immune Support Patch  /  30 patches  /  $49.99 one-time purchase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afa29c904649"/>
          <a:stretch xmlns:a="http://schemas.openxmlformats.org/drawingml/2006/main"/>
        </p:blipFill>
        <p:spPr>
          <a:xfrm xmlns:a="http://schemas.openxmlformats.org/drawingml/2006/main">
            <a:off x="7858125" y="1942808"/>
            <a:ext cx="2857500" cy="3543884"/>
          </a:xfrm>
          <a:prstGeom xmlns:a="http://schemas.openxmlformats.org/drawingml/2006/main" prst="roundRect">
            <a:avLst>
              <a:gd name="adj" fmla="val 533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4E65A-5866-4644-943E-251B9288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C9AC1-DE68-4106-A0F5-3C373D1F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95262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Daily optimization positioning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C0F76-0ED6-4FA6-B6D3-92C3F68E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7650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CE1BB-0F7E-4EEC-A92F-79798DF4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C74E7-4504-4E8A-AD20-6715F9A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6193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Stabilized allicin, nutrients, botanicals, adaptogens, and probiotics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29EEE-10B0-470A-97C7-D304D87C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4325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42F17-07C9-44CE-B5AA-C5416DC1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C8B4C-F5E6-4349-A552-4DF9900E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Individually portioned, easy-to-use format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D4BDB-FE40-4B49-9771-FC21FEF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1000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F6C26-D4C2-440B-BA88-83EC3BCD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F89D6-0D17-44A0-BB2F-BA23254A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9528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Designed for consistent daily 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FF19B4-4DA7-4198-8018-9D186861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7675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A959F9-D8EE-4777-9C15-407F5B67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4EF7F-4324-4122-9039-8E2939B5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1962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20% subscription incentive creates a $39.99 monthly price 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C0F9B-AF64-4939-948B-675344CF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143500"/>
            <a:ext cx="561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91906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176E8-20DA-420D-8C93-50D961E3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PROOF BEFORE CAPITAL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8FD1FB-900F-4F2E-BF3A-2223E55E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0AE83-B209-4694-9086-ACDAD761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ABDB4"/>
                </a:solidFill>
              </a:defRPr>
            </a:pPr>
            <a:r>
              <a:rPr sz="675" b="0">
                <a:solidFill>
                  <a:srgbClr val="AABDB4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89E60-66FF-44E2-99D5-7A93C7C7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FFDF8"/>
                </a:solidFill>
              </a:defRPr>
            </a:pPr>
            <a:r>
              <a:rPr sz="2700" b="0">
                <a:solidFill>
                  <a:srgbClr val="FFFDF8"/>
                </a:solidFill>
              </a:rPr>
              <a:t>The product exists. Capital funds commercialization.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6AED6-5238-4608-AD4F-09029CDC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DB4"/>
                </a:solidFill>
              </a:defRPr>
            </a:pPr>
            <a:r>
              <a:rPr sz="1275" b="0">
                <a:solidFill>
                  <a:srgbClr val="AABDB4"/>
                </a:solidFill>
              </a:rPr>
              <a:t>Five years of founder-led work established the product, manufacturing path, and early human-use experience.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90CBF-9951-4F42-9BF7-2BD57607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5+ years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F754E-DBB6-469C-8FE1-66812B67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699D5-AF66-456D-9617-25980E3F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Founder-led development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514ED-A37C-410D-AC64-ECEED9D2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~$100K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FD5CB-F860-496A-8811-0B67D9B3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384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0597F-1A74-45EF-9FE4-DFB537F3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52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Personally invested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B39A21-9D27-4EBB-8937-51BF022F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860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~150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19B6-7C23-4A1D-8545-6C2A40DB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8384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49827-7522-4D6C-BE21-92ADABEF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52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Human-use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BF378-CDF9-4AC3-9E4E-8AF5B36E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860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E2B43-F8A9-4E05-A9D7-C18A1CE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3845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D92ABA-EFFB-4823-81D0-EE2B3C59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52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Founder salaries for ~5 years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46D00-DEF1-48F2-91E9-C9281D15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FORMULATION DEVELOPED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F1B6F2-C2D9-40CF-B9F6-A62F0E30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62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MANUFACTURING ESTABLISHED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9A552F-125C-43D2-90DA-20270456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762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COMMERCIAL LAUNCH NEXT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7C2BA-20FA-4AE0-A8AD-87765A0A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317133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8A6A2C-759D-484D-A59E-E45C63F2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EVIDENCE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9ECB5-CC5B-4216-933F-2B75B23F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0FDF3-186C-4770-B3BD-0F63E4A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57B3C-4E18-4015-9815-661C8EBF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Early human-use work reduces uncertainty—not the need for validation.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1975F-4CE0-49F0-863A-2A67A64A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The initial study informs the next phase; it is not positioned as proof of efficacy.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26BB3-5886-4ED0-924A-1749CF0D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83C34"/>
                </a:solidFill>
              </a:defRPr>
            </a:pPr>
            <a:r>
              <a:rPr sz="2250" b="0">
                <a:solidFill>
                  <a:srgbClr val="183C34"/>
                </a:solidFill>
              </a:rPr>
              <a:t>~150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281E4-20A1-47C0-B225-7F676BBB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621BE-F696-40ED-9DF3-2324B7E5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Participants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84718-0E35-4BAC-8B42-629E6D7A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002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21916-4771-4E9A-8532-3AC12C8A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8859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Human-use study conducted in China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88C7A-9E72-4AC2-9A56-79831F6E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43175"/>
            <a:ext cx="700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B5372-654C-4EBC-9D20-CA98CE7A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194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91BA2-C0D7-4224-B280-312BAB3A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7051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Non-double-blinded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F59F3-C55D-4FA5-8D9C-541C7B9F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62325"/>
            <a:ext cx="700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589BF-9E19-4C1B-ACE4-A262FEA2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385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21D7C-DA01-4B92-BBDF-CD4F8F49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5242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Initial experience and product 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7422E-B8A0-4E65-843F-B1A4826A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700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E6A051-3C5C-4891-9CB3-B8AAB47A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57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NEXT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DBA8D-BA4D-4DBA-B84A-FA87E73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3434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Claims review plus expanded scientific and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7778B1-D851-4A97-ACB1-954A1D8A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00625"/>
            <a:ext cx="700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A59DD-9F3E-4C9A-B89A-1BCE0915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Investor diligence should treat these findings as preliminary.</a:t>
            </a:r>
          </a:p>
        </p:txBody>
      </p:sp>
    </p:spTree>
    <p:extLst>
      <p:ext uri="{BB962C8B-B14F-4D97-AF65-F5344CB8AC3E}">
        <p14:creationId xmlns:p14="http://schemas.microsoft.com/office/powerpoint/2010/main" val="1684981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963D8A-0CE8-4459-BFE9-3EA0A13B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WHY A PLATFORM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865AF-6D75-446B-A1FB-38B7D06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46310-D5F3-4B17-8348-58EF7079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C06EF-A3BA-42AE-8765-68545941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The same ritual can serve multiple consumer missions.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F4E07-AB53-4498-96CD-9B3D6DAC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Aura™ establishes the format. Adjacent products increase lifetime value and widen the audience.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FD537-3836-413D-8437-87A82D28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2952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8C887-62DA-404D-97E1-3B4A3174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86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DF8"/>
                </a:solidFill>
              </a:defRPr>
            </a:pPr>
            <a:r>
              <a:rPr sz="2100" b="0">
                <a:solidFill>
                  <a:srgbClr val="FFFDF8"/>
                </a:solidFill>
              </a:rPr>
              <a:t>Aura™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5E1D9-1C7E-4A79-B859-1279046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575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IMMUNE • DEFENSE • WELLNESS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FEEFD-9CD7-4EE8-BF1B-1BC8DA92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667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Flagship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41FCD-36DD-44CE-99A4-8DA1B124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4767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59D4CD-4AFD-41BA-A7C3-690B0BF5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047875"/>
            <a:ext cx="2952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F57C7-ACBD-4B27-82C4-939A1610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86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C34"/>
                </a:solidFill>
              </a:defRPr>
            </a:pPr>
            <a:r>
              <a:rPr sz="2100" b="0">
                <a:solidFill>
                  <a:srgbClr val="183C34"/>
                </a:solidFill>
              </a:rPr>
              <a:t>Aura Energy™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D9BD7-6849-4B06-99FD-5E1D2A12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FOCUS • ENERGY • VITALITY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13FD9-AC16-4E2D-81E9-B0497AC5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67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Development after product-market 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2900E-8E29-4437-A342-F612A971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767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BCA69-CEFA-43AC-ACEE-293D384B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47875"/>
            <a:ext cx="2952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4DFC82-BE45-407D-A21E-0CF8B3F0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286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C34"/>
                </a:solidFill>
              </a:defRPr>
            </a:pPr>
            <a:r>
              <a:rPr sz="2100" b="0">
                <a:solidFill>
                  <a:srgbClr val="183C34"/>
                </a:solidFill>
              </a:rPr>
              <a:t>Aura Recover™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6D76A7-F3E2-4E00-AA93-3B3C284F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8575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CLEANSE • RESET • RESTORE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80354-4CAF-42F8-9B96-5F961C07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667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Development after product-market signal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F84204-AABF-4860-8DEB-5C8567D6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4767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NEXT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055728-4534-467D-B48A-1E953331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Product expansion is staged—not funded ahead of evidence.</a:t>
            </a:r>
          </a:p>
        </p:txBody>
      </p:sp>
    </p:spTree>
    <p:extLst>
      <p:ext uri="{BB962C8B-B14F-4D97-AF65-F5344CB8AC3E}">
        <p14:creationId xmlns:p14="http://schemas.microsoft.com/office/powerpoint/2010/main" val="9117790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F60D9B-4A04-42F6-BBA3-E703BA48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REVENUE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8E31-6EDB-4387-A552-E8D64B38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4965A-D18D-4CC4-9792-E38CB03F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ABDB4"/>
                </a:solidFill>
              </a:defRPr>
            </a:pPr>
            <a:r>
              <a:rPr sz="675" b="0">
                <a:solidFill>
                  <a:srgbClr val="AABDB4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363FA-5980-4EB9-A643-93E05A2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FFDF8"/>
                </a:solidFill>
              </a:defRPr>
            </a:pPr>
            <a:r>
              <a:rPr sz="2700" b="0">
                <a:solidFill>
                  <a:srgbClr val="FFFDF8"/>
                </a:solidFill>
              </a:rPr>
              <a:t>A monthly ritual creates a simple economic engine.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8AEBB-16F8-4C35-A531-FEA8B221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DB4"/>
                </a:solidFill>
              </a:defRPr>
            </a:pPr>
            <a:r>
              <a:rPr sz="1275" b="0">
                <a:solidFill>
                  <a:srgbClr val="AABDB4"/>
                </a:solidFill>
              </a:rPr>
              <a:t>Current pricing and cost figures are management assumptions.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FEDD40-7DE4-404B-8846-3FE1955F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2238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$49.99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9DD01-AF64-42CE-8A0C-8576FE51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23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3DDC3-56EE-49DA-B764-C73C5A19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One-time purchase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42FD3-F629-421A-A253-C00016A8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286000"/>
            <a:ext cx="2238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$39.99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9BB79-1696-4954-9D7F-7F68A132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838450"/>
            <a:ext cx="223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D492B-7FAC-470B-8654-C7890C3D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527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Monthly subscription (20% off)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F1548-EB7A-48EF-ACBB-60635781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286000"/>
            <a:ext cx="2238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~$2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332FC-DB97-4D7F-B602-973C2FA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38450"/>
            <a:ext cx="223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4EC7B-A770-454F-AB19-1E7B0999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9527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Estimated product cost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064F87-9155-4D01-9A08-68F0C35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286000"/>
            <a:ext cx="2238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20%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38CD1D-CF5B-40AB-9844-56FD46E6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838450"/>
            <a:ext cx="223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26040-2096-45A4-B2C0-77B04969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95275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Ambassador referral fee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F17D5-C99E-4350-AB58-F1DEA31D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ABDB4"/>
                </a:solidFill>
              </a:defRPr>
            </a:pPr>
            <a:r>
              <a:rPr sz="1425" b="0">
                <a:solidFill>
                  <a:srgbClr val="AABDB4"/>
                </a:solidFill>
              </a:rPr>
              <a:t>Recurring value depends on acquisition efficiency, retention, fulfillment, and compliant customer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21385949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77AD3-0975-4061-A460-C54818DA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GO-TO-MARKET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3090E-1177-4C90-8FE0-81CCC8E0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6DFDD-62E0-42B2-8E5D-8B3D0D15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3344B-9598-4391-8F58-66BE1B06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Marketing is the first scaling constraint—and the largest use of capital.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31B31-ED33-434A-A676-42A8B2D6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Aura combines controlled paid acquisition with compounding advocacy and retail discovery.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A90EB-F724-4083-9D93-D37E822F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418CB-C11D-4402-91BC-64B3BC3E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Paid social + creator content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5414D-8721-489E-8C24-E43453D7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019300"/>
            <a:ext cx="585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Rapid message testing, conversion learning, and scalable reach.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8F8F4-8D0D-4360-BF52-0110024F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1937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2FBF3-0EC5-450B-842D-583345DB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0E97F-EFC0-48E8-A671-F9CE7354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575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Ambassadors + affiliates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D8C34-EBF7-41F5-B546-85AAEC04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857500"/>
            <a:ext cx="585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Trusted recommendations with performance-linked economics.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B7807-ED4D-424E-8289-33713722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5757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2743BE-7DB6-4250-A3A2-56EBBECA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732CF-516C-4183-AA80-AD270A2C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957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Retention + CRM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851305-3388-4B60-86F5-873497E0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695700"/>
            <a:ext cx="585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Subscription onboarding, education, replenishment, and win-back.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D0DEF-64DB-45BA-9AA2-5C4C6F59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29577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BDDCC4-35F8-49E1-B4CB-0670ABB8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428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60D07-9B8A-40E3-B39B-0CEC90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Selective wholesale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645E69-3D34-4BEB-AA61-3AE9A37E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533900"/>
            <a:ext cx="5857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Retail exposure where wellness discovery already happens.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1E706C-1B83-4348-825D-1C6D3972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133975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305418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74F8DE-7638-442E-8895-58CC67BF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GROWTH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F9C48-C125-4B3B-8493-21F1CDB8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6CBA3-F6DA-4AD2-A75D-01A37EBA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D61B1-C41D-4427-AF04-FC2A5422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Every acquisition dollar should build a stronger recurring engine.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676C2-B6B4-4745-9A1B-08FA9E6D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Launch spending is designed to produce learning—not vanity reach.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158B5-DDAE-41C4-B756-B3C76EA4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1250"/>
            <a:ext cx="152400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AD32C-7A87-481A-8251-E1CE3483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908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3C712-2A8D-46B0-89AB-C325470A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48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FFDF8"/>
                </a:solidFill>
              </a:defRPr>
            </a:pPr>
            <a:r>
              <a:rPr sz="1575" b="0">
                <a:solidFill>
                  <a:srgbClr val="FFFDF8"/>
                </a:solidFill>
              </a:rPr>
              <a:t>Acquire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BF294-7C4E-4DCA-8D90-31B26FFE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05125"/>
            <a:ext cx="42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C89B45"/>
                </a:solidFill>
              </a:defRPr>
            </a:pPr>
            <a:r>
              <a:rPr sz="1950" b="0">
                <a:solidFill>
                  <a:srgbClr val="C89B45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815CC-F9A9-4E8A-97F3-011F342C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81250"/>
            <a:ext cx="152400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37E7D-BA63-41A3-9482-F4C3D743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5CD27-F434-4F1F-A351-79C61DC0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48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3C34"/>
                </a:solidFill>
              </a:defRPr>
            </a:pPr>
            <a:r>
              <a:rPr sz="1575" b="0">
                <a:solidFill>
                  <a:srgbClr val="183C34"/>
                </a:solidFill>
              </a:rPr>
              <a:t>Convert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F6D591-9B12-4886-A0C0-44647308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905125"/>
            <a:ext cx="42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C89B45"/>
                </a:solidFill>
              </a:defRPr>
            </a:pPr>
            <a:r>
              <a:rPr sz="1950" b="0">
                <a:solidFill>
                  <a:srgbClr val="C89B4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CC8ED7-F6C4-4B74-AA22-74679C49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381250"/>
            <a:ext cx="152400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226678-7BE3-4740-8EDC-AF21135F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5908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A8EBE3-42CC-44D5-8CB3-11EE31DE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048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3C34"/>
                </a:solidFill>
              </a:defRPr>
            </a:pPr>
            <a:r>
              <a:rPr sz="1575" b="0">
                <a:solidFill>
                  <a:srgbClr val="183C34"/>
                </a:solidFill>
              </a:rPr>
              <a:t>Onboard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481847-F96E-474C-A94A-C6AA6885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05125"/>
            <a:ext cx="42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C89B45"/>
                </a:solidFill>
              </a:defRPr>
            </a:pPr>
            <a:r>
              <a:rPr sz="1950" b="0">
                <a:solidFill>
                  <a:srgbClr val="C89B45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2DB7E-B04D-4E56-B279-63F1D054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152400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74EF7F-89E8-44E2-924C-57071853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908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40F98-5B99-4DBF-B709-F2C051CB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3C34"/>
                </a:solidFill>
              </a:defRPr>
            </a:pPr>
            <a:r>
              <a:rPr sz="1575" b="0">
                <a:solidFill>
                  <a:srgbClr val="183C34"/>
                </a:solidFill>
              </a:rPr>
              <a:t>Retain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87091-92DF-4202-8431-C3D698A4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905125"/>
            <a:ext cx="42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C89B45"/>
                </a:solidFill>
              </a:defRPr>
            </a:pPr>
            <a:r>
              <a:rPr sz="1950" b="0">
                <a:solidFill>
                  <a:srgbClr val="C89B45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C6DBB6-5DEE-4725-8218-76DAD1A3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381250"/>
            <a:ext cx="152400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F687B0-EF9A-473B-BBA8-2CEC68A5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5908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9D81FA-FCB4-48B0-A1C4-11FC5D9E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048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3C34"/>
                </a:solidFill>
              </a:defRPr>
            </a:pPr>
            <a:r>
              <a:rPr sz="1575" b="0">
                <a:solidFill>
                  <a:srgbClr val="183C34"/>
                </a:solidFill>
              </a:rPr>
              <a:t>Refer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775C7D-0832-4540-8944-D6695C51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The operating dashboard: CAC  •  conversion  •  month-2 retention  •  LTV  •  referral contribution</a:t>
            </a:r>
          </a:p>
        </p:txBody>
      </p:sp>
    </p:spTree>
    <p:extLst>
      <p:ext uri="{BB962C8B-B14F-4D97-AF65-F5344CB8AC3E}">
        <p14:creationId xmlns:p14="http://schemas.microsoft.com/office/powerpoint/2010/main" val="14972215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0F22C3-848E-41AD-8E4A-C5A23E2E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SCALE POTENTIAL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184EA-EE54-46C3-B0B1-602084B0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49D61-E7D0-4A5E-B02F-EC1BC1C8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E7F6A-0B06-4F7A-BC04-F1AAC819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Subscription growth creates a visible revenue ladder.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F7192-EE03-4210-B5D8-F696B7D4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Illustrative scenarios at $39.99 per active monthly subscriber.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89BCB-F2EA-4379-A3E8-6335689D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ACTIVE SUBSCRIBERS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60C77-5028-4840-B607-4F899350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MONTHLY REVENUE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7BE5E-B355-400D-BF22-C9CF449D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ANNUALIZED REVENUE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0481A-3BAB-4275-9706-62592C14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500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0A9A44-8ED7-43FA-AFD1-132B6994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$20K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D8418-7D06-4AB7-98C7-80733174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$240K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80BDF8-D9A3-4244-9C18-7A971727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955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16C796-3C81-43BD-AEFD-7F066558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289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1,000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A8B9A-239D-4AB8-B790-E8BE49E0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289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$40K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F4F1B-546A-4BF3-B1C8-0A257DBE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289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$480K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8CB34-275A-4E7B-B277-975B0963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908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4E060-161A-4B1D-AEE5-5DA2530A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242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2,500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83F499-3D9F-4E58-9FBC-DB87AA97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$100K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B5D3E5-E184-446C-9F39-34845C0E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$1.20M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A9E644-D38D-438A-8A21-18FDA435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861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51FB41-EC39-4B83-91D3-EC9B292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9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5,000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E2B0CA-E632-4F8E-9178-2D72CA50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9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$200K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17E96C-6B91-4880-8E13-8BFA9C7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95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$2.40M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31AF77-5A62-493A-A631-81DD3077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814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3EA1F1-77EA-43C1-A05E-AD210CB5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10,000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CD8AE5-181D-455E-AF4C-56650037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14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$400K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4D08AC-853C-4E50-B1FA-25AE09AE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14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3C34"/>
                </a:solidFill>
              </a:defRPr>
            </a:pPr>
            <a:r>
              <a:rPr sz="1350" b="0">
                <a:solidFill>
                  <a:srgbClr val="183C34"/>
                </a:solidFill>
              </a:rPr>
              <a:t>$4.80M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082751-D088-41C8-B289-96C9A469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2074A7-B7D6-4591-BDD6-418A8C73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0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3C34"/>
                </a:solidFill>
              </a:defRPr>
            </a:pPr>
            <a:r>
              <a:rPr sz="1350" b="1">
                <a:solidFill>
                  <a:srgbClr val="183C34"/>
                </a:solidFill>
              </a:rPr>
              <a:t>20,000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59B4E6-1492-4DE1-9D18-ACED6383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10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3C34"/>
                </a:solidFill>
              </a:defRPr>
            </a:pPr>
            <a:r>
              <a:rPr sz="1350" b="1">
                <a:solidFill>
                  <a:srgbClr val="183C34"/>
                </a:solidFill>
              </a:rPr>
              <a:t>$800K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E9D9E2-F0E8-4704-AFA4-DDA627F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10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3C34"/>
                </a:solidFill>
              </a:defRPr>
            </a:pPr>
            <a:r>
              <a:rPr sz="1350" b="1">
                <a:solidFill>
                  <a:srgbClr val="183C34"/>
                </a:solidFill>
              </a:rPr>
              <a:t>$9.60M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2B0FF5-82CF-463C-812F-AA29153F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72075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633849-CE41-450B-8537-B6EA871D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7212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A73"/>
                </a:solidFill>
              </a:defRPr>
            </a:pPr>
            <a:r>
              <a:rPr sz="975" b="0">
                <a:solidFill>
                  <a:srgbClr val="647A73"/>
                </a:solidFill>
              </a:rPr>
              <a:t>Illustrative scenarios—not a forecast or guarantee.</a:t>
            </a:r>
          </a:p>
        </p:txBody>
      </p:sp>
    </p:spTree>
    <p:extLst>
      <p:ext uri="{BB962C8B-B14F-4D97-AF65-F5344CB8AC3E}">
        <p14:creationId xmlns:p14="http://schemas.microsoft.com/office/powerpoint/2010/main" val="5380523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6EB6C-5155-4B91-902A-1EFF7E56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UNIT ECONOMICS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F93E2-FEE3-4C49-8F37-25B73359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0EBED-4159-4603-AD45-2D608A75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ABDB4"/>
                </a:solidFill>
              </a:defRPr>
            </a:pPr>
            <a:r>
              <a:rPr sz="675" b="0">
                <a:solidFill>
                  <a:srgbClr val="AABDB4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0EB5E-7E5C-4425-BA7B-BDB22EFA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FFDF8"/>
                </a:solidFill>
              </a:defRPr>
            </a:pPr>
            <a:r>
              <a:rPr sz="2700" b="0">
                <a:solidFill>
                  <a:srgbClr val="FFFDF8"/>
                </a:solidFill>
              </a:rPr>
              <a:t>Attractive gross economics leave room to fund growth—if retention holds.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CE9B5-653E-4275-B602-0512CCEC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DB4"/>
                </a:solidFill>
              </a:defRPr>
            </a:pPr>
            <a:r>
              <a:rPr sz="1275" b="0">
                <a:solidFill>
                  <a:srgbClr val="AABDB4"/>
                </a:solidFill>
              </a:rPr>
              <a:t>Illustrative monthly model at 20,000 active subscriptions.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889C0-675C-47A5-99FF-3ACA07F0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$799.8K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DA1C6-FA21-46A7-B2B5-02667014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23927-07C4-4B7E-8BC3-62AF89B3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Subscription revenue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873C9-3335-4C27-B99D-EB24E6D7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43125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($40K)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FBB2D-FCA7-480B-82CA-7E44C7F9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9557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51B9C-797B-44C7-9C07-A808A9A8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Estimated product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5D2E0-BDEC-4F40-A07F-60154C00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43125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(~$160K)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6C9E8-E6FE-489C-945E-2FD1FA0D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9557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EB605-5D4B-4886-85E6-593FB118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98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20% affiliate fees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CC571-3ED2-4ED0-8211-5AF3C44E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43125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89B45"/>
                </a:solidFill>
              </a:defRPr>
            </a:pPr>
            <a:r>
              <a:rPr sz="2250" b="0">
                <a:solidFill>
                  <a:srgbClr val="C89B45"/>
                </a:solidFill>
              </a:rPr>
              <a:t>~$599.8K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250532-7BFB-4B5F-8521-7D7EA9DD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955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675F"/>
          </a:solidFill>
          <a:ln xmlns:a="http://schemas.openxmlformats.org/drawingml/2006/main" w="9525">
            <a:solidFill>
              <a:srgbClr val="4367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855F14-D199-4B6A-8AB4-C509A82E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098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ABDB4"/>
                </a:solidFill>
              </a:defRPr>
            </a:pPr>
            <a:r>
              <a:rPr sz="1050" b="0">
                <a:solidFill>
                  <a:srgbClr val="AABDB4"/>
                </a:solidFill>
              </a:rPr>
              <a:t>Before remaining costs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CC8C3-7183-409F-83E2-1FAB8BB6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Excludes shipping, fulfillment, payment processing, paid media, customer service, regulatory/compliance, taxes, returns, and corporate overhead.</a:t>
            </a:r>
          </a:p>
        </p:txBody>
      </p:sp>
    </p:spTree>
    <p:extLst>
      <p:ext uri="{BB962C8B-B14F-4D97-AF65-F5344CB8AC3E}">
        <p14:creationId xmlns:p14="http://schemas.microsoft.com/office/powerpoint/2010/main" val="2770004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CCE7E-25AB-4D1D-92AE-B5A703C0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CURRENT 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F160A-C4A6-48B6-9A59-A82CD706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66FBC-2785-4C6F-AC32-0DE5DDE2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FB92D1-6C6A-457F-B8DE-F015175E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Aura enters the raise with product risk reduced and commercial risk still to prove.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4614C-23D9-4BFE-822A-0BEB952C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The next evidence comes from market behavior: conversion, retention, and repeatable acquisition.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228C6-C1D9-4835-AEAA-A0F4D2FE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A8FFE-77EC-4BC6-B4A5-19713638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93CA1-843D-4CD4-8ED8-52940D4F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10B38-CAC8-4A96-9CAC-0E2118E7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Formulation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Packaging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Manufacturing path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Founder investment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6F465-3930-4012-98E0-073CD34C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38284-8C73-4A45-8638-443812AB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CE81E-675C-4201-9FB0-9AA23A7F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480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35874-08E8-43D0-A0C4-540497BF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86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U.S.-first storefront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Subscription model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Affiliate concept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Product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73D91-5917-41BC-B406-19021F6A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90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CB248-F1CF-458E-AD2A-FE54801A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Unproven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B8AD1-49B9-482B-BAAB-EB7C78B6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480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985E-89B0-429A-AC83-0074B3B5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86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CAC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Retention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LTV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Channel efficiency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7180A-08AA-4C5F-9F4D-C1271F64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907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4E3CF3-328E-48A6-A8F5-81A8A086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71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C34"/>
                </a:solidFill>
              </a:defRPr>
            </a:pPr>
            <a:r>
              <a:rPr sz="1800" b="0">
                <a:solidFill>
                  <a:srgbClr val="183C34"/>
                </a:solidFill>
              </a:rPr>
              <a:t>Next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8C69B-31E1-49FB-830F-72028712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4800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0EBB9E-DAFD-4993-B90A-029EC1C0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Launch flagship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Measure cohorts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Refine messaging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Scale what works</a:t>
            </a:r>
          </a:p>
        </p:txBody>
      </p:sp>
    </p:spTree>
    <p:extLst>
      <p:ext uri="{BB962C8B-B14F-4D97-AF65-F5344CB8AC3E}">
        <p14:creationId xmlns:p14="http://schemas.microsoft.com/office/powerpoint/2010/main" val="242702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0E791D-7919-4266-9949-574DC8A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WHAT CAPITAL UNLOCKS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EF272-0724-4D5E-B7F9-5B483651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1947A-9CF7-42A4-AFEF-88E77549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0CA7F-E488-40AB-BDB8-2C1A28F4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The raise funds a commercial learning system—not just inventory.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F4520-1B96-4E74-8D82-6AEAE1EB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Each workstream supports faster evidence, better decisions, and more durable growth.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10E2DE-32CF-47D4-8A53-2227F790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F5318-1197-4A9F-A9A4-7088ADA0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24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Customer acquisition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79E35-62C4-42B2-9409-DEF645DB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Creative, paid media, creators, partnerships, measurement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7C4FA-AA90-468D-AD60-675F4910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4F5F1-1A85-4B21-A0A8-8C3C0371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00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0FEC3-96C3-4D1D-9EA6-38E5985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24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Retention engine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22760-11B1-4D38-9653-639CD1FC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24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Subscription onboarding, CRM, education, lifecycle campaigns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EF4349-D7A3-4BB3-8D6B-1B8B9E80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57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6740A-6BF0-4DB2-BB0F-272C9A90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39D0A-86D0-4167-A1BA-673310B8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67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Supply readiness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F2B22-D6F9-4C0F-BFE3-2D5C5D6B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67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Inventory, quality control, fulfillment, working capital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148E2-8679-4799-8EE6-C005B0CB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6FA477-82EF-4C5C-9F7A-8C3FE66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143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7F54E-A7AB-40DD-9693-8EF3A536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67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Product pipeline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2F8A21-322D-424D-9A49-3B89E1F9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67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Aura Energy and Aura Recover formulation, testing, packaging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02BD44-A706-46D9-9217-85B427CB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00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BC0644-F6DD-460E-B3EC-BB68BC4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AD704-02E5-42BE-8603-916125C0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Compliance +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DF71A0-9EFD-403A-AFE4-0FCEF3A4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Claims review, regulatory preparation, validation plan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13755D-4B95-4C90-A767-453F560E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43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145445-83AF-45EF-83ED-88626A18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2862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02784E-7A02-4063-950C-1AD72625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100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Operating foundation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7C4DD4-A738-4E3A-B893-5128ED12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01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A73"/>
                </a:solidFill>
              </a:defRPr>
            </a:pPr>
            <a:r>
              <a:rPr sz="1050" b="0">
                <a:solidFill>
                  <a:srgbClr val="647A73"/>
                </a:solidFill>
              </a:rPr>
              <a:t>Technology, customer support, finance, legal, IP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256B8F-640D-4088-AA2D-47004F7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43500"/>
            <a:ext cx="4429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7CE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79625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3ECFD4-9C55-417F-96B1-6FD130A3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USE OF FUNDS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62A18-F6E7-4BA5-AA1A-5A605BFD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E399A-852A-456B-BA4B-02C0C2EF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ABDB4"/>
                </a:solidFill>
              </a:defRPr>
            </a:pPr>
            <a:r>
              <a:rPr sz="675" b="0">
                <a:solidFill>
                  <a:srgbClr val="AABDB4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4E0AD-C4ED-4B53-9DC0-4BA1A8D8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FFDF8"/>
                </a:solidFill>
              </a:defRPr>
            </a:pPr>
            <a:r>
              <a:rPr sz="2700" b="0">
                <a:solidFill>
                  <a:srgbClr val="FFFDF8"/>
                </a:solidFill>
              </a:rPr>
              <a:t>Nearly half the illustrative $1M plan funds demand creation.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6D172-C9E2-48C6-8428-2CA48386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DB4"/>
                </a:solidFill>
              </a:defRPr>
            </a:pPr>
            <a:r>
              <a:rPr sz="1275" b="0">
                <a:solidFill>
                  <a:srgbClr val="AABDB4"/>
                </a:solidFill>
              </a:rPr>
              <a:t>Product expansion receives a dedicated budget—but follows the flagship’s market signal.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A10B0-F891-402E-9F7C-AEC72424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5434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5C401-4D29-483D-AB26-C39545B5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391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3029"/>
                </a:solidFill>
              </a:defRPr>
            </a:pPr>
            <a:r>
              <a:rPr sz="1350" b="1">
                <a:solidFill>
                  <a:srgbClr val="0B3029"/>
                </a:solidFill>
              </a:rPr>
              <a:t>45%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ECDA43-D2C2-4BB8-ACBD-18260E52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33625"/>
            <a:ext cx="201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DE947-FF4B-453A-B16D-9D7718FD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524125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20%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F6BE2-6E1C-40AC-9ECB-A4ADE7AF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333625"/>
            <a:ext cx="15144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9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0DF16D-F489-413E-8C0D-575B95C9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524125"/>
            <a:ext cx="1362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15%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459CE-6B18-43A0-9921-0AF5E4D2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33625"/>
            <a:ext cx="1009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97B49-63AA-4278-B56A-B3D91B7F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2412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10%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FB3CA-41DE-4F12-AC35-F5BC94EC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33625"/>
            <a:ext cx="5048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3B1D62-97D9-404C-8A30-77F0C738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24125"/>
            <a:ext cx="352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D97A7-FA88-47F7-AA2A-4DA22F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333625"/>
            <a:ext cx="5048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FD489-E99C-4067-87D4-5499DAB5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524125"/>
            <a:ext cx="352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DF8"/>
                </a:solidFill>
              </a:defRPr>
            </a:pPr>
            <a:r>
              <a:rPr sz="1350" b="1">
                <a:solidFill>
                  <a:srgbClr val="FFFDF8"/>
                </a:solidFill>
              </a:rPr>
              <a:t>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FAC5FF-9F13-467E-80B7-CAB93CE9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9B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EFF89-8BDF-4A45-B04A-6C2E0FAD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45%  Marketing + customer acquisition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6F932-A71D-4D58-B922-703A1AF0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CCE884-68A3-4021-8C5D-5C21F204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DF8"/>
                </a:solidFill>
              </a:defRPr>
            </a:pPr>
            <a:r>
              <a:rPr sz="1200" b="0">
                <a:solidFill>
                  <a:srgbClr val="FFFDF8"/>
                </a:solidFill>
              </a:rPr>
              <a:t>20%  Inventory + fulfillment readiness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09A604-E05A-4B0E-8339-67AAEEE0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9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23B67-FC5A-4785-9CD3-389CEB6D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DF8"/>
                </a:solidFill>
              </a:defRPr>
            </a:pPr>
            <a:r>
              <a:rPr sz="1200" b="1">
                <a:solidFill>
                  <a:srgbClr val="FFFDF8"/>
                </a:solidFill>
              </a:rPr>
              <a:t>15%  Aura Energy + Aura Recover development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7912B8-A8E0-4E42-A6A0-50D55C92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B02456-A3E0-46AE-9673-4403E50A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147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DF8"/>
                </a:solidFill>
              </a:defRPr>
            </a:pPr>
            <a:r>
              <a:rPr sz="1200" b="0">
                <a:solidFill>
                  <a:srgbClr val="FFFDF8"/>
                </a:solidFill>
              </a:rPr>
              <a:t>10%  Regulatory, claims + validation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7301BA-5C02-466B-8EC1-DB55D5F9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00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22BDED-B281-47A7-A69C-8062C7D4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243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DF8"/>
                </a:solidFill>
              </a:defRPr>
            </a:pPr>
            <a:r>
              <a:rPr sz="1200" b="0">
                <a:solidFill>
                  <a:srgbClr val="FFFDF8"/>
                </a:solidFill>
              </a:rPr>
              <a:t>5%  E-commerce, CRM + analytics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D5F848-5634-4EDF-8CD7-212B8306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D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9A9330-ECBC-473A-BD28-7E871067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933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DF8"/>
                </a:solidFill>
              </a:defRPr>
            </a:pPr>
            <a:r>
              <a:rPr sz="1200" b="0">
                <a:solidFill>
                  <a:srgbClr val="FFFDF8"/>
                </a:solidFill>
              </a:rPr>
              <a:t>5%  Legal, IP + working capital</a:t>
            </a:r>
          </a:p>
        </p:txBody>
      </p:sp>
    </p:spTree>
    <p:extLst>
      <p:ext uri="{BB962C8B-B14F-4D97-AF65-F5344CB8AC3E}">
        <p14:creationId xmlns:p14="http://schemas.microsoft.com/office/powerpoint/2010/main" val="6508035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B67070-B768-4A2B-8A53-A3025506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FUNDING TIERS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FB46E2-C385-46E0-B013-E547F4DC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B87359-9648-48D3-8DD5-E180F1DB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22702-D6FC-42EA-AD2A-87888E51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More capital buys faster learning and a broader product horizon.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37F7F-159A-46BC-9102-9BAA5B20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The investment range supports three disciplined operating tempos.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816B7-F7BB-44FA-9C11-1D4D425B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190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DF8FF-F21E-416C-8920-646C2A98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38375"/>
            <a:ext cx="271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83C34"/>
                </a:solidFill>
              </a:defRPr>
            </a:pPr>
            <a:r>
              <a:rPr sz="2325" b="0">
                <a:solidFill>
                  <a:srgbClr val="183C34"/>
                </a:solidFill>
              </a:rPr>
              <a:t>$500K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CD629-5594-4CED-A207-8C744A0D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809875"/>
            <a:ext cx="2714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LAUNCH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FF257-16C9-4EFE-B90A-B4AC76B0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238500"/>
            <a:ext cx="2714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Flagship readiness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Compliance foundation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Initial acquisition testing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Subscription + CRM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First inventory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5522B-D739-43DF-9CFC-4CC331AF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000250"/>
            <a:ext cx="3190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B0AFF-F8FA-450B-B5B1-A97E540E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38375"/>
            <a:ext cx="271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C89B45"/>
                </a:solidFill>
              </a:defRPr>
            </a:pPr>
            <a:r>
              <a:rPr sz="2325" b="0">
                <a:solidFill>
                  <a:srgbClr val="C89B45"/>
                </a:solidFill>
              </a:rPr>
              <a:t>$1M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BC2F9-5C16-4E17-97FA-7E12C474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2714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PROVE + EXPAND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8FA63-8B04-4A84-BD71-91155565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38500"/>
            <a:ext cx="2714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Everything at launch</a:t>
            </a:r>
          </a:p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Scaled channel testing</a:t>
            </a:r>
          </a:p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Retention optimization</a:t>
            </a:r>
          </a:p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Working capital</a:t>
            </a:r>
          </a:p>
          <a:p xmlns:a="http://schemas.openxmlformats.org/drawingml/2006/main">
            <a:pPr algn="l">
              <a:defRPr sz="1200" b="0">
                <a:solidFill>
                  <a:srgbClr val="AABDB4"/>
                </a:solidFill>
              </a:defRPr>
            </a:pPr>
            <a:r>
              <a:rPr sz="1200" b="0">
                <a:solidFill>
                  <a:srgbClr val="AABDB4"/>
                </a:solidFill>
              </a:rPr>
              <a:t>Begin Energy + Recover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3FBF6-640A-41A9-817B-2AAFFBD5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00250"/>
            <a:ext cx="31908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7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A5D076-B4FD-4DC9-8D64-99B579F8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38375"/>
            <a:ext cx="271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83C34"/>
                </a:solidFill>
              </a:defRPr>
            </a:pPr>
            <a:r>
              <a:rPr sz="2325" b="0">
                <a:solidFill>
                  <a:srgbClr val="183C34"/>
                </a:solidFill>
              </a:rPr>
              <a:t>$1.5M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8A4B-33B8-4613-B0B1-57C913C3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809875"/>
            <a:ext cx="2714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ACCELERATE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0BFFFC-0EE7-4295-8752-D32B2154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238500"/>
            <a:ext cx="2714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Everything at prove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Broader U.S. acquisition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Launch-ready adjacent products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Wholesale capability</a:t>
            </a:r>
          </a:p>
          <a:p xmlns:a="http://schemas.openxmlformats.org/drawingml/2006/main">
            <a:pPr algn="l">
              <a:defRPr sz="1200" b="0">
                <a:solidFill>
                  <a:srgbClr val="647A73"/>
                </a:solidFill>
              </a:defRPr>
            </a:pPr>
            <a:r>
              <a:rPr sz="1200" b="0">
                <a:solidFill>
                  <a:srgbClr val="647A73"/>
                </a:solidFill>
              </a:rPr>
              <a:t>Expanded validation</a:t>
            </a:r>
          </a:p>
        </p:txBody>
      </p:sp>
    </p:spTree>
    <p:extLst>
      <p:ext uri="{BB962C8B-B14F-4D97-AF65-F5344CB8AC3E}">
        <p14:creationId xmlns:p14="http://schemas.microsoft.com/office/powerpoint/2010/main" val="20327917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25FFEE-FF9A-43A0-AA6C-60E78348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89B45"/>
                </a:solidFill>
              </a:defRPr>
            </a:pPr>
            <a:r>
              <a:rPr sz="825" b="1">
                <a:solidFill>
                  <a:srgbClr val="C89B45"/>
                </a:solidFill>
              </a:rPr>
              <a:t>18-MONTH MILESTONES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FC825-CD90-412E-80BA-9C49850F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381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C89B45"/>
                </a:solidFill>
              </a:defRPr>
            </a:pPr>
            <a:r>
              <a:rPr sz="750" b="0">
                <a:solidFill>
                  <a:srgbClr val="C89B45"/>
                </a:solidFill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315E22-3AC9-40B1-B48B-F066A79E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81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A73"/>
                </a:solidFill>
              </a:defRPr>
            </a:pPr>
            <a:r>
              <a:rPr sz="675" b="0">
                <a:solidFill>
                  <a:srgbClr val="647A73"/>
                </a:solidFill>
              </a:rPr>
              <a:t>AURA PATCH  /  CONFIDENTIAL  / 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A933E8-6F9F-4D2E-91BD-DC837D79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83C34"/>
                </a:solidFill>
              </a:defRPr>
            </a:pPr>
            <a:r>
              <a:rPr sz="2700" b="0">
                <a:solidFill>
                  <a:srgbClr val="183C34"/>
                </a:solidFill>
              </a:rPr>
              <a:t>Capital converts assumptions into measurable operating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F8066-F5E4-4554-80C9-B9CA1B50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A73"/>
                </a:solidFill>
              </a:defRPr>
            </a:pPr>
            <a:r>
              <a:rPr sz="1275" b="0">
                <a:solidFill>
                  <a:srgbClr val="647A73"/>
                </a:solidFill>
              </a:rPr>
              <a:t>The plan gates expansion behind repeatable flagship performance.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28F78-FD48-4B39-9325-0DB42B8D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DB4"/>
          </a:solidFill>
          <a:ln xmlns:a="http://schemas.openxmlformats.org/drawingml/2006/main" w="9525">
            <a:solidFill>
              <a:srgbClr val="AABDB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49D75-17E5-4C97-928B-95ABD82A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099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AE035-0B1A-49D2-BFCB-3AB41DC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0670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899DD-7250-4B45-82A3-802A91C1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0–3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9E889-6C3C-4D02-B50D-95060A51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288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Foundation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18BAE-11C0-41C2-8D9E-7A39101D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Corporate, regulatory, supply, analytics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49766-5950-46D8-9376-2D02BFC5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99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A92AC-E2E0-4153-9C53-20A22DFA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670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50C47-CE0C-4368-BE73-FAF3CA92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4–6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D3EB8-E05E-4F09-853B-E2A3A6CF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288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Launch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86CF7-FDEB-44D8-91F3-CC9E5A86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6712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Flagship live; first cohorts acquired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8C1789-EA97-4FC6-940E-F0CEF42F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099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021DA4-7BED-4B28-99BA-AF8B0B49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29F9A-9690-4B6B-8B57-1232B4E2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7–12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A1E96E-BF5F-47D3-B1C2-E2682274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Optimize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224D03-2EE8-4E7F-AF91-4E70CF16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6712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Improve CAC, conversion, retention, LTV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E25BA-BF90-42A4-BD06-7D58F54C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099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83D288-E174-4D1B-8287-0C2F681B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670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62EB9D-9D14-42BD-A1A2-CA108947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9550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45"/>
                </a:solidFill>
              </a:defRPr>
            </a:pPr>
            <a:r>
              <a:rPr sz="975" b="1">
                <a:solidFill>
                  <a:srgbClr val="C89B45"/>
                </a:solidFill>
              </a:rPr>
              <a:t>13–18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1AD5E-4742-4F12-906A-E3C90AB1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288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C34"/>
                </a:solidFill>
              </a:defRPr>
            </a:pPr>
            <a:r>
              <a:rPr sz="1650" b="0">
                <a:solidFill>
                  <a:srgbClr val="183C34"/>
                </a:solidFill>
              </a:rPr>
              <a:t>Expand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AEF0F7-0B4D-431E-9FC5-BAAB2DDE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6712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A73"/>
                </a:solidFill>
              </a:defRPr>
            </a:pPr>
            <a:r>
              <a:rPr sz="1125" b="0">
                <a:solidFill>
                  <a:srgbClr val="647A73"/>
                </a:solidFill>
              </a:rPr>
              <a:t>Scale winning channels; advance Energy + Recover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59945E-DDB6-4644-BB94-E5063163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3C34"/>
                </a:solidFill>
              </a:defRPr>
            </a:pPr>
            <a:r>
              <a:rPr sz="1500" b="0">
                <a:solidFill>
                  <a:srgbClr val="183C34"/>
                </a:solidFill>
              </a:rPr>
              <a:t>Decision gates: acquisition efficiency  •  retention quality  •  repeat purchase  •  inventory velocity</a:t>
            </a:r>
          </a:p>
        </p:txBody>
      </p:sp>
    </p:spTree>
    <p:extLst>
      <p:ext uri="{BB962C8B-B14F-4D97-AF65-F5344CB8AC3E}">
        <p14:creationId xmlns:p14="http://schemas.microsoft.com/office/powerpoint/2010/main" val="2673837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9e2fb173845e3"/>
          <a:srcRect xmlns:a="http://schemas.openxmlformats.org/drawingml/2006/main" l="11567" t="0" r="115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0"/>
            <a:ext cx="4381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C438C-4BEE-4544-A8FF-B83DEABA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0"/>
            <a:ext cx="104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5"/>
          </a:solidFill>
          <a:ln xmlns:a="http://schemas.openxmlformats.org/drawingml/2006/main" w="9525">
            <a:solidFill>
              <a:srgbClr val="123F35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4003395724cb9"/>
          <a:stretch xmlns:a="http://schemas.openxmlformats.org/drawingml/2006/main"/>
        </p:blipFill>
        <p:spPr>
          <a:xfrm xmlns:a="http://schemas.openxmlformats.org/drawingml/2006/main">
            <a:off x="928312" y="400050"/>
            <a:ext cx="886577" cy="514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C251C-2ECF-4140-ADC9-81DCC869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45"/>
                </a:solidFill>
              </a:defRPr>
            </a:pPr>
            <a:r>
              <a:rPr sz="900" b="1">
                <a:solidFill>
                  <a:srgbClr val="C89B45"/>
                </a:solidFill>
              </a:rPr>
              <a:t>STRATEGIC SEED CAPITAL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64326-95F1-4024-B7DA-317E8DE7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381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DF8"/>
                </a:solidFill>
              </a:defRPr>
            </a:pPr>
            <a:r>
              <a:rPr sz="3600" b="0">
                <a:solidFill>
                  <a:srgbClr val="FFFDF8"/>
                </a:solidFill>
              </a:rPr>
              <a:t>Fund the launch.</a:t>
            </a:r>
          </a:p>
          <a:p xmlns:a="http://schemas.openxmlformats.org/drawingml/2006/main">
            <a:pPr algn="l">
              <a:defRPr sz="3600" b="0">
                <a:solidFill>
                  <a:srgbClr val="FFFDF8"/>
                </a:solidFill>
              </a:defRPr>
            </a:pPr>
            <a:r>
              <a:rPr sz="3600" b="0">
                <a:solidFill>
                  <a:srgbClr val="FFFDF8"/>
                </a:solidFill>
              </a:rPr>
              <a:t>Prove the engine.</a:t>
            </a:r>
          </a:p>
          <a:p xmlns:a="http://schemas.openxmlformats.org/drawingml/2006/main">
            <a:pPr algn="l">
              <a:defRPr sz="3600" b="0">
                <a:solidFill>
                  <a:srgbClr val="FFFDF8"/>
                </a:solidFill>
              </a:defRPr>
            </a:pPr>
            <a:r>
              <a:rPr sz="3600" b="0">
                <a:solidFill>
                  <a:srgbClr val="FFFDF8"/>
                </a:solidFill>
              </a:rPr>
              <a:t>Expand the ritual.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C86FA-6446-4F7A-9827-10999701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ABDB4"/>
                </a:solidFill>
              </a:defRPr>
            </a:pPr>
            <a:r>
              <a:rPr sz="1425" b="0">
                <a:solidFill>
                  <a:srgbClr val="AABDB4"/>
                </a:solidFill>
              </a:rPr>
              <a:t>Aura is seeking $500K–$1.5M to launch the flagship, build a measurable acquisition and retention engine, and advance two adjacent product lines with discipline.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65F3C-1F93-4B7A-A37B-D87E6ADE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DF8"/>
                </a:solidFill>
              </a:defRPr>
            </a:pPr>
            <a:r>
              <a:rPr sz="1050" b="1">
                <a:solidFill>
                  <a:srgbClr val="FFFDF8"/>
                </a:solidFill>
              </a:rPr>
              <a:t>support@getaurapatch.com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4B6F2-2233-4F54-BBFA-F5009A87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89B45"/>
                </a:solidFill>
              </a:defRPr>
            </a:pPr>
            <a:r>
              <a:rPr sz="1050" b="1">
                <a:solidFill>
                  <a:srgbClr val="C89B45"/>
                </a:solidFill>
              </a:rPr>
              <a:t>getaurapatch.com</a:t>
            </a:r>
          </a:p>
        </p:txBody>
      </p:sp>
    </p:spTree>
    <p:extLst>
      <p:ext uri="{BB962C8B-B14F-4D97-AF65-F5344CB8AC3E}">
        <p14:creationId xmlns:p14="http://schemas.microsoft.com/office/powerpoint/2010/main" val="1053583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2026-09-03T07:27:25.9770000Z</dcterms:created>
  <dcterms:modified xsi:type="dcterms:W3CDTF">2026-09-03T07:27:25.9770000Z</dcterms:modified>
</coreProperties>
</file>