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e42efd65a24b5e" /><Relationship Type="http://schemas.openxmlformats.org/officeDocument/2006/relationships/extended-properties" Target="/docProps/app.xml" Id="R3d71322399834c09" /><Relationship Type="http://schemas.openxmlformats.org/officeDocument/2006/relationships/officeDocument" Target="/ppt/presentation.xml" Id="R3b4fc2c20a3043cf" /></Relationships>
</file>

<file path=ppt/presentation.xml><?xml version="1.0" encoding="utf-8"?>
<p:presentation xmlns:p="http://schemas.openxmlformats.org/presentationml/2006/main">
  <p:sldMasterIdLst>
    <p:sldMasterId xmlns:r="http://schemas.openxmlformats.org/officeDocument/2006/relationships" id="2147483648" r:id="R8db74c9f564b44df"/>
  </p:sldMasterIdLst>
  <p:notesMasterIdLst>
    <p:notesMasterId xmlns:r="http://schemas.openxmlformats.org/officeDocument/2006/relationships" r:id="R52f1c27752754924"/>
  </p:notesMasterIdLst>
  <p:sldIdLst>
    <p:sldId xmlns:r="http://schemas.openxmlformats.org/officeDocument/2006/relationships" id="256" r:id="R01d2ccdc61d7485b"/>
    <p:sldId xmlns:r="http://schemas.openxmlformats.org/officeDocument/2006/relationships" id="257" r:id="R9e6079ac02284f90"/>
    <p:sldId xmlns:r="http://schemas.openxmlformats.org/officeDocument/2006/relationships" id="258" r:id="R4514d8f3e1284d1f"/>
    <p:sldId xmlns:r="http://schemas.openxmlformats.org/officeDocument/2006/relationships" id="259" r:id="Rf0435b4c8908451b"/>
    <p:sldId xmlns:r="http://schemas.openxmlformats.org/officeDocument/2006/relationships" id="260" r:id="Radb8eb217b5f4467"/>
    <p:sldId xmlns:r="http://schemas.openxmlformats.org/officeDocument/2006/relationships" id="261" r:id="R508d69705d1f42d8"/>
    <p:sldId xmlns:r="http://schemas.openxmlformats.org/officeDocument/2006/relationships" id="262" r:id="R524e59c133824455"/>
    <p:sldId xmlns:r="http://schemas.openxmlformats.org/officeDocument/2006/relationships" id="263" r:id="R476bdf810a2648c7"/>
    <p:sldId xmlns:r="http://schemas.openxmlformats.org/officeDocument/2006/relationships" id="264" r:id="R498005fd97364d7a"/>
    <p:sldId xmlns:r="http://schemas.openxmlformats.org/officeDocument/2006/relationships" id="265" r:id="R2ede3b6ca9004645"/>
    <p:sldId xmlns:r="http://schemas.openxmlformats.org/officeDocument/2006/relationships" id="266" r:id="Re7b44e80176e415b"/>
    <p:sldId xmlns:r="http://schemas.openxmlformats.org/officeDocument/2006/relationships" id="267" r:id="R34df1c08fda3487c"/>
    <p:sldId xmlns:r="http://schemas.openxmlformats.org/officeDocument/2006/relationships" id="268" r:id="R759ce0e09f944d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78f14debf64bac" /><Relationship Type="http://schemas.openxmlformats.org/officeDocument/2006/relationships/slideMaster" Target="/ppt/slideMasters/slideMaster1.xml" Id="R8db74c9f564b44df" /><Relationship Type="http://schemas.openxmlformats.org/officeDocument/2006/relationships/notesMaster" Target="/ppt/notesMasters/notesMaster1.xml" Id="R52f1c27752754924" /><Relationship Type="http://schemas.openxmlformats.org/officeDocument/2006/relationships/presProps" Target="/ppt/presProps.xml" Id="R179bc9f2dadb4405" /><Relationship Type="http://schemas.openxmlformats.org/officeDocument/2006/relationships/tableStyles" Target="/ppt/tableStyles.xml" Id="R0d11059595824933" /><Relationship Type="http://schemas.openxmlformats.org/officeDocument/2006/relationships/slide" Target="/ppt/slides/slide1.xml" Id="R01d2ccdc61d7485b" /><Relationship Type="http://schemas.openxmlformats.org/officeDocument/2006/relationships/slide" Target="/ppt/slides/slide2.xml" Id="R9e6079ac02284f90" /><Relationship Type="http://schemas.openxmlformats.org/officeDocument/2006/relationships/slide" Target="/ppt/slides/slide3.xml" Id="R4514d8f3e1284d1f" /><Relationship Type="http://schemas.openxmlformats.org/officeDocument/2006/relationships/slide" Target="/ppt/slides/slide4.xml" Id="Rf0435b4c8908451b" /><Relationship Type="http://schemas.openxmlformats.org/officeDocument/2006/relationships/slide" Target="/ppt/slides/slide5.xml" Id="Radb8eb217b5f4467" /><Relationship Type="http://schemas.openxmlformats.org/officeDocument/2006/relationships/slide" Target="/ppt/slides/slide6.xml" Id="R508d69705d1f42d8" /><Relationship Type="http://schemas.openxmlformats.org/officeDocument/2006/relationships/slide" Target="/ppt/slides/slide7.xml" Id="R524e59c133824455" /><Relationship Type="http://schemas.openxmlformats.org/officeDocument/2006/relationships/slide" Target="/ppt/slides/slide8.xml" Id="R476bdf810a2648c7" /><Relationship Type="http://schemas.openxmlformats.org/officeDocument/2006/relationships/slide" Target="/ppt/slides/slide9.xml" Id="R498005fd97364d7a" /><Relationship Type="http://schemas.openxmlformats.org/officeDocument/2006/relationships/slide" Target="/ppt/slides/slide10.xml" Id="R2ede3b6ca9004645" /><Relationship Type="http://schemas.openxmlformats.org/officeDocument/2006/relationships/slide" Target="/ppt/slides/slide11.xml" Id="Re7b44e80176e415b" /><Relationship Type="http://schemas.openxmlformats.org/officeDocument/2006/relationships/slide" Target="/ppt/slides/slide12.xml" Id="R34df1c08fda3487c" /><Relationship Type="http://schemas.openxmlformats.org/officeDocument/2006/relationships/slide" Target="/ppt/slides/slide13.xml" Id="R759ce0e09f944d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df32c89daf48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51ac9e06394e16" /><Relationship Type="http://schemas.openxmlformats.org/officeDocument/2006/relationships/notesMaster" Target="/ppt/notesMasters/notesMaster1.xml" Id="Rc4d0c33d756f47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dc0a44c554451f" /><Relationship Type="http://schemas.openxmlformats.org/officeDocument/2006/relationships/notesMaster" Target="/ppt/notesMasters/notesMaster1.xml" Id="R0b1a81c5749f47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fbadcb7f2a47e4" /><Relationship Type="http://schemas.openxmlformats.org/officeDocument/2006/relationships/notesMaster" Target="/ppt/notesMasters/notesMaster1.xml" Id="R162c8d05938d48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bed1909aa14f91" /><Relationship Type="http://schemas.openxmlformats.org/officeDocument/2006/relationships/notesMaster" Target="/ppt/notesMasters/notesMaster1.xml" Id="Rbd34fd5cf74d49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8b57cec7fa45b7" /><Relationship Type="http://schemas.openxmlformats.org/officeDocument/2006/relationships/notesMaster" Target="/ppt/notesMasters/notesMaster1.xml" Id="R042fb3c15de944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b4583ef0bb4f4d" /><Relationship Type="http://schemas.openxmlformats.org/officeDocument/2006/relationships/notesMaster" Target="/ppt/notesMasters/notesMaster1.xml" Id="Re0b0de0a297f48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700db69d014d64" /><Relationship Type="http://schemas.openxmlformats.org/officeDocument/2006/relationships/notesMaster" Target="/ppt/notesMasters/notesMaster1.xml" Id="R069e99d14c684f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7beeb328ea4f48" /><Relationship Type="http://schemas.openxmlformats.org/officeDocument/2006/relationships/notesMaster" Target="/ppt/notesMasters/notesMaster1.xml" Id="R02af2fdf57844e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dd5fa0e0024577" /><Relationship Type="http://schemas.openxmlformats.org/officeDocument/2006/relationships/notesMaster" Target="/ppt/notesMasters/notesMaster1.xml" Id="R1555714d226b4f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85368819c74977" /><Relationship Type="http://schemas.openxmlformats.org/officeDocument/2006/relationships/notesMaster" Target="/ppt/notesMasters/notesMaster1.xml" Id="Rc5ccf9f2e92341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79fe2ccfef488c" /><Relationship Type="http://schemas.openxmlformats.org/officeDocument/2006/relationships/notesMaster" Target="/ppt/notesMasters/notesMaster1.xml" Id="R849109ad534d41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e4c6716d064482" /><Relationship Type="http://schemas.openxmlformats.org/officeDocument/2006/relationships/notesMaster" Target="/ppt/notesMasters/notesMaster1.xml" Id="R6953dd6ccbf34b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c1de4f4c14477d" /><Relationship Type="http://schemas.openxmlformats.org/officeDocument/2006/relationships/notesMaster" Target="/ppt/notesMasters/notesMaster1.xml" Id="R43ade01c98524d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Packaging: supplied updated pouch image, ChatGPT Image Oct 24, 2026, 12_57_49 AM.png.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Based on source slide 2. Consumer need and adoption are positioning hypotheses, not quantified market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Based on source slide 3. Ingredient descriptions reflect the original formulation summary. Ingredient presence does not establish delivery, absorption or efficacy. Final specifications and claims require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Based on source slides 2, 3, 6, 7 and 12. These are proposed positioning advantages, not validated competitive superiority or an established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Based on source slides 4, 5 and 12. Management reports about 150 human-use participants in China in non-double-blinded work. No efficacy conclusion, clinical endpoint data, sales or clinical results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Source slides 3 and 7. Pricing and costs are management assumptions. Subscription savings: $49.99 minus $39.99 = $10.00, which is 20.004% of one-time price (approximately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Consolidates source slides 8, 9 and 12. U.S.-first channel plan. No channel results or historical CAC, retention or LTV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Source slides 7 and 11. Exact arithmetic: referral fee 0.20 × $39.99 = $7.998. Gross contribution $39.99 − $2.00 − $7.998 = $29.992 (75.0% rounded). At 20,000 subscriptions: revenue $799,800, product cost $40,000, referral fees $159,960, gross contribution $599,840. Model assumes every subscription incurs a referral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Source slide 10. Exact arithmetic replaces rounded source figures. Monthly revenue = subscribers × $39.99. Annualized revenue = monthly × 12, assuming a constant subscriber count. No growth timing or probability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Source slides 6, 13, 15 and 16. Energy and Recover are planned adjacent products. Proposed positioning requires formulation, testing and claims review. Expansion is contingent on flagship market evidence and available funding.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Based on source slides 1, 12 and 15. Funding tiers represent management plans, not commitments. Valuation, investment instrument and deal terms are not supplied in the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Based on source slides 14 and 16. Illustrative $1M plan: 45% + 20% + 15% + 10% + 5% + 5% = 100%, totaling $1,000,000. Timing and outcomes are management assumptions. Product expansion spending remains gated by flagship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Aura Patch investor presentation supplied by management, 17-slide PDF. Figures and status reflect management statements, not independent verification. Closing contact information from source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6afaa13eae49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18951c2df54f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a7784b3a5746f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f2ef55818a48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cc499bf9dd4b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8b27dcc9d245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BC581E-63EE-4FBD-886B-D098F19E43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780E28-618E-4574-B122-65122A7BD9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CA431D1-B7A0-4D8A-9704-B455F8F3DF5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39894C-046A-4653-A1B1-B31EC31086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388F85-1BD8-4F25-AD36-A17D57F697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66FB4A-1F91-4106-9E2E-EEB009CF33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C303F2-8F86-4249-BE06-7B89CDBC09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7F809D3-B265-4F28-A40A-3A2BDC65EB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363AF4-54DE-4EEA-8222-F5285EEED0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65DB2B-7707-48C2-86CE-1152E3E6F9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5ba55043174b58" /><Relationship Type="http://schemas.openxmlformats.org/officeDocument/2006/relationships/slideLayout" Target="/ppt/slideLayouts/slideLayout1.xml" Id="R984598f2651c4703" /><Relationship Type="http://schemas.openxmlformats.org/officeDocument/2006/relationships/slideLayout" Target="/ppt/slideLayouts/slideLayout2.xml" Id="Re128e250b1564841" /><Relationship Type="http://schemas.openxmlformats.org/officeDocument/2006/relationships/slideLayout" Target="/ppt/slideLayouts/slideLayout3.xml" Id="Rc36a3dfa51594cf3" /><Relationship Type="http://schemas.openxmlformats.org/officeDocument/2006/relationships/slideLayout" Target="/ppt/slideLayouts/slideLayout4.xml" Id="R968b4a4a8add4b2b" /><Relationship Type="http://schemas.openxmlformats.org/officeDocument/2006/relationships/slideLayout" Target="/ppt/slideLayouts/slideLayout5.xml" Id="R95cf9c42a2724fa4" /><Relationship Type="http://schemas.openxmlformats.org/officeDocument/2006/relationships/slideLayout" Target="/ppt/slideLayouts/slideLayout6.xml" Id="R79d0793704ed44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4598f2651c4703"/>
    <p:sldLayoutId xmlns:r="http://schemas.openxmlformats.org/officeDocument/2006/relationships" id="2147483650" r:id="Re128e250b1564841"/>
    <p:sldLayoutId xmlns:r="http://schemas.openxmlformats.org/officeDocument/2006/relationships" id="2147483651" r:id="Rc36a3dfa51594cf3"/>
    <p:sldLayoutId xmlns:r="http://schemas.openxmlformats.org/officeDocument/2006/relationships" id="2147483652" r:id="R968b4a4a8add4b2b"/>
    <p:sldLayoutId xmlns:r="http://schemas.openxmlformats.org/officeDocument/2006/relationships" id="2147483653" r:id="R95cf9c42a2724fa4"/>
    <p:sldLayoutId xmlns:r="http://schemas.openxmlformats.org/officeDocument/2006/relationships" id="2147483654" r:id="R79d0793704ed44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c74dea08744132" /><Relationship Type="http://schemas.openxmlformats.org/officeDocument/2006/relationships/image" Target="/ppt/media/image.png" Id="Rb5e4948a2b5c4276" /><Relationship Type="http://schemas.openxmlformats.org/officeDocument/2006/relationships/notesSlide" Target="/ppt/notesSlides/notesSlide1.xml" Id="R46c2ac448b5c4e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37c8cf3934458c" /><Relationship Type="http://schemas.openxmlformats.org/officeDocument/2006/relationships/notesSlide" Target="/ppt/notesSlides/notesSlide2.xml" Id="R249c66101e8c4b8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3b98a434a34198" /><Relationship Type="http://schemas.openxmlformats.org/officeDocument/2006/relationships/notesSlide" Target="/ppt/notesSlides/notesSlide3.xml" Id="R81328d4893004a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8a79b5c2c84c5f" /><Relationship Type="http://schemas.openxmlformats.org/officeDocument/2006/relationships/notesSlide" Target="/ppt/notesSlides/notesSlide4.xml" Id="R23d26f2eeb6045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9bccabe4b84703" /><Relationship Type="http://schemas.openxmlformats.org/officeDocument/2006/relationships/notesSlide" Target="/ppt/notesSlides/notesSlide5.xml" Id="R91e029f019ee4e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cc9e2740ef4dcd" /><Relationship Type="http://schemas.openxmlformats.org/officeDocument/2006/relationships/notesSlide" Target="/ppt/notesSlides/notesSlide6.xml" Id="R547de78c1e2d4b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67641f7b5d4bae" /><Relationship Type="http://schemas.openxmlformats.org/officeDocument/2006/relationships/notesSlide" Target="/ppt/notesSlides/notesSlide7.xml" Id="R42b48a92890243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ec0d8b05b74c6c" /><Relationship Type="http://schemas.openxmlformats.org/officeDocument/2006/relationships/notesSlide" Target="/ppt/notesSlides/notesSlide8.xml" Id="R3e0bfaec5e064b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5b7a168c0b342b5" /><Relationship Type="http://schemas.openxmlformats.org/officeDocument/2006/relationships/notesSlide" Target="/ppt/notesSlides/notesSlide9.xml" Id="R59897f904b014b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84e49510504696" /><Relationship Type="http://schemas.openxmlformats.org/officeDocument/2006/relationships/notesSlide" Target="/ppt/notesSlides/notesSlide10.xml" Id="R24fa17344a5a4b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89d8853a4a40b0" /><Relationship Type="http://schemas.openxmlformats.org/officeDocument/2006/relationships/notesSlide" Target="/ppt/notesSlides/notesSlide11.xml" Id="Rca682c4c440c42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4da1844664c46ca" /><Relationship Type="http://schemas.openxmlformats.org/officeDocument/2006/relationships/notesSlide" Target="/ppt/notesSlides/notesSlide12.xml" Id="Ra2d78d2ae63045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db6ef0a5fcd411a" /><Relationship Type="http://schemas.openxmlformats.org/officeDocument/2006/relationships/notesSlide" Target="/ppt/notesSlides/notesSlide13.xml" Id="R1ceb19cab9f74077" /></Relationships>
</file>

<file path=ppt/slides/slide1.xml><?xml version="1.0" encoding="utf-8"?>
<p:sld xmlns:p="http://schemas.openxmlformats.org/presentationml/2006/main">
  <p:cSld>
    <p:bg>
      <p:bgPr>
        <a:solidFill xmlns:a="http://schemas.openxmlformats.org/drawingml/2006/main">
          <a:srgbClr val="073F48"/>
        </a:solidFill>
      </p:bgPr>
    </p:bg>
    <p:spTree>
      <p:nvGrpSpPr>
        <p:cNvPr id="1" name=""/>
        <p:cNvGrpSpPr/>
        <p:nvPr/>
      </p:nvGrpSpPr>
      <p:grpSpPr>
        <a:xfrm xmlns:a="http://schemas.openxmlformats.org/drawingml/2006/main"/>
      </p:grpSpPr>
      <p:sp>
        <p:nvSpPr>
          <p:cNvPr id="2" name="AURA">
            <a:extLst xmlns:a="http://schemas.openxmlformats.org/drawingml/2006/main">
              <a:ext uri="{FF2B5EF4-FFF2-40B4-BE49-F238E27FC236}">
                <a16:creationId xmlns:a16="http://schemas.microsoft.com/office/drawing/2014/main" id="{F0B00AD3-99D5-4274-9ED7-08649D4B702B}"/>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250" b="0">
                <a:solidFill>
                  <a:srgbClr val="F5F0E7"/>
                </a:solidFill>
                <a:latin typeface="Georgia"/>
                <a:ea typeface="Georgia"/>
                <a:cs typeface="Georgia"/>
              </a:defRPr>
            </a:defPPr>
            <a:lvl1pPr>
              <a:defRPr sz="5250" b="0">
                <a:solidFill>
                  <a:srgbClr val="F5F0E7"/>
                </a:solidFill>
                <a:latin typeface="Georgia"/>
                <a:ea typeface="Georgia"/>
                <a:cs typeface="Georgia"/>
              </a:defRPr>
            </a:lvl1pPr>
            <a:lvl2pPr>
              <a:defRPr sz="5250" b="0">
                <a:solidFill>
                  <a:srgbClr val="F5F0E7"/>
                </a:solidFill>
                <a:latin typeface="Georgia"/>
                <a:ea typeface="Georgia"/>
                <a:cs typeface="Georgia"/>
              </a:defRPr>
            </a:lvl2pPr>
            <a:lvl3pPr>
              <a:defRPr sz="5250" b="0">
                <a:solidFill>
                  <a:srgbClr val="F5F0E7"/>
                </a:solidFill>
                <a:latin typeface="Georgia"/>
                <a:ea typeface="Georgia"/>
                <a:cs typeface="Georgia"/>
              </a:defRPr>
            </a:lvl3pPr>
            <a:lvl4pPr>
              <a:defRPr sz="5250" b="0">
                <a:solidFill>
                  <a:srgbClr val="F5F0E7"/>
                </a:solidFill>
                <a:latin typeface="Georgia"/>
                <a:ea typeface="Georgia"/>
                <a:cs typeface="Georgia"/>
              </a:defRPr>
            </a:lvl4pPr>
            <a:lvl5pPr>
              <a:defRPr sz="5250" b="0">
                <a:solidFill>
                  <a:srgbClr val="F5F0E7"/>
                </a:solidFill>
                <a:latin typeface="Georgia"/>
                <a:ea typeface="Georgia"/>
                <a:cs typeface="Georgia"/>
              </a:defRPr>
            </a:lvl5pPr>
            <a:lvl6pPr>
              <a:defRPr sz="5250" b="0">
                <a:solidFill>
                  <a:srgbClr val="F5F0E7"/>
                </a:solidFill>
                <a:latin typeface="Georgia"/>
                <a:ea typeface="Georgia"/>
                <a:cs typeface="Georgia"/>
              </a:defRPr>
            </a:lvl6pPr>
            <a:lvl7pPr>
              <a:defRPr sz="5250" b="0">
                <a:solidFill>
                  <a:srgbClr val="F5F0E7"/>
                </a:solidFill>
                <a:latin typeface="Georgia"/>
                <a:ea typeface="Georgia"/>
                <a:cs typeface="Georgia"/>
              </a:defRPr>
            </a:lvl7pPr>
            <a:lvl8pPr>
              <a:defRPr sz="5250" b="0">
                <a:solidFill>
                  <a:srgbClr val="F5F0E7"/>
                </a:solidFill>
                <a:latin typeface="Georgia"/>
                <a:ea typeface="Georgia"/>
                <a:cs typeface="Georgia"/>
              </a:defRPr>
            </a:lvl8pPr>
            <a:lvl9pPr>
              <a:defRPr sz="5250" b="0">
                <a:solidFill>
                  <a:srgbClr val="F5F0E7"/>
                </a:solidFill>
                <a:latin typeface="Georgia"/>
                <a:ea typeface="Georgia"/>
                <a:cs typeface="Georgia"/>
              </a:defRPr>
            </a:lvl9pPr>
          </a:lstStyle>
          <a:p xmlns:a="http://schemas.openxmlformats.org/drawingml/2006/main">
            <a:pPr>
              <a:defRPr sz="5250" b="0">
                <a:solidFill>
                  <a:srgbClr val="F5F0E7"/>
                </a:solidFill>
                <a:latin typeface="Georgia"/>
                <a:ea typeface="Georgia"/>
                <a:cs typeface="Georgia"/>
              </a:defRPr>
            </a:pPr>
            <a:r>
              <a:rPr sz="5250" b="0">
                <a:solidFill>
                  <a:srgbClr val="F5F0E7"/>
                </a:solidFill>
                <a:latin typeface="Georgia"/>
                <a:ea typeface="Georgia"/>
                <a:cs typeface="Georgia"/>
              </a:rPr>
              <a:t>AURA</a:t>
            </a:r>
          </a:p>
        </p:txBody>
      </p:sp>
      <p:sp>
        <p:nvSpPr>
          <p:cNvPr id="3" name="AURA PATCH  /  CONFIDENTIAL  /  OCTOBER 2026">
            <a:extLst xmlns:a="http://schemas.openxmlformats.org/drawingml/2006/main">
              <a:ext uri="{FF2B5EF4-FFF2-40B4-BE49-F238E27FC236}">
                <a16:creationId xmlns:a16="http://schemas.microsoft.com/office/drawing/2014/main" id="{9D4D4F5A-5AEB-4005-B25E-5D964B343B73}"/>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B9CEC7"/>
                </a:solidFill>
                <a:latin typeface="Calibri"/>
                <a:ea typeface="Calibri"/>
                <a:cs typeface="Calibri"/>
              </a:defRPr>
            </a:defPPr>
            <a:lvl1pPr>
              <a:defRPr sz="900" b="0">
                <a:solidFill>
                  <a:srgbClr val="B9CEC7"/>
                </a:solidFill>
                <a:latin typeface="Calibri"/>
                <a:ea typeface="Calibri"/>
                <a:cs typeface="Calibri"/>
              </a:defRPr>
            </a:lvl1pPr>
            <a:lvl2pPr>
              <a:defRPr sz="900" b="0">
                <a:solidFill>
                  <a:srgbClr val="B9CEC7"/>
                </a:solidFill>
                <a:latin typeface="Calibri"/>
                <a:ea typeface="Calibri"/>
                <a:cs typeface="Calibri"/>
              </a:defRPr>
            </a:lvl2pPr>
            <a:lvl3pPr>
              <a:defRPr sz="900" b="0">
                <a:solidFill>
                  <a:srgbClr val="B9CEC7"/>
                </a:solidFill>
                <a:latin typeface="Calibri"/>
                <a:ea typeface="Calibri"/>
                <a:cs typeface="Calibri"/>
              </a:defRPr>
            </a:lvl3pPr>
            <a:lvl4pPr>
              <a:defRPr sz="900" b="0">
                <a:solidFill>
                  <a:srgbClr val="B9CEC7"/>
                </a:solidFill>
                <a:latin typeface="Calibri"/>
                <a:ea typeface="Calibri"/>
                <a:cs typeface="Calibri"/>
              </a:defRPr>
            </a:lvl4pPr>
            <a:lvl5pPr>
              <a:defRPr sz="900" b="0">
                <a:solidFill>
                  <a:srgbClr val="B9CEC7"/>
                </a:solidFill>
                <a:latin typeface="Calibri"/>
                <a:ea typeface="Calibri"/>
                <a:cs typeface="Calibri"/>
              </a:defRPr>
            </a:lvl5pPr>
            <a:lvl6pPr>
              <a:defRPr sz="900" b="0">
                <a:solidFill>
                  <a:srgbClr val="B9CEC7"/>
                </a:solidFill>
                <a:latin typeface="Calibri"/>
                <a:ea typeface="Calibri"/>
                <a:cs typeface="Calibri"/>
              </a:defRPr>
            </a:lvl6pPr>
            <a:lvl7pPr>
              <a:defRPr sz="900" b="0">
                <a:solidFill>
                  <a:srgbClr val="B9CEC7"/>
                </a:solidFill>
                <a:latin typeface="Calibri"/>
                <a:ea typeface="Calibri"/>
                <a:cs typeface="Calibri"/>
              </a:defRPr>
            </a:lvl7pPr>
            <a:lvl8pPr>
              <a:defRPr sz="900" b="0">
                <a:solidFill>
                  <a:srgbClr val="B9CEC7"/>
                </a:solidFill>
                <a:latin typeface="Calibri"/>
                <a:ea typeface="Calibri"/>
                <a:cs typeface="Calibri"/>
              </a:defRPr>
            </a:lvl8pPr>
            <a:lvl9pPr>
              <a:defRPr sz="900" b="0">
                <a:solidFill>
                  <a:srgbClr val="B9CEC7"/>
                </a:solidFill>
                <a:latin typeface="Calibri"/>
                <a:ea typeface="Calibri"/>
                <a:cs typeface="Calibri"/>
              </a:defRPr>
            </a:lvl9pPr>
          </a:lstStyle>
          <a:p xmlns:a="http://schemas.openxmlformats.org/drawingml/2006/main">
            <a:pPr>
              <a:defRPr sz="900" b="0">
                <a:solidFill>
                  <a:srgbClr val="B9CEC7"/>
                </a:solidFill>
                <a:latin typeface="Calibri"/>
                <a:ea typeface="Calibri"/>
                <a:cs typeface="Calibri"/>
              </a:defRPr>
            </a:pPr>
            <a:r>
              <a:rPr sz="900" b="0">
                <a:solidFill>
                  <a:srgbClr val="B9CEC7"/>
                </a:solidFill>
                <a:latin typeface="Calibri"/>
                <a:ea typeface="Calibri"/>
                <a:cs typeface="Calibri"/>
              </a:rPr>
              <a:t>AURA PATCH  /  CONFIDENTIAL  /  OCTOBER 2026</a:t>
            </a:r>
          </a:p>
        </p:txBody>
      </p:sp>
      <p:sp>
        <p:nvSpPr>
          <p:cNvPr id="4" name="01">
            <a:extLst xmlns:a="http://schemas.openxmlformats.org/drawingml/2006/main">
              <a:ext uri="{FF2B5EF4-FFF2-40B4-BE49-F238E27FC236}">
                <a16:creationId xmlns:a16="http://schemas.microsoft.com/office/drawing/2014/main" id="{C50020C1-D027-4204-B150-2A973C0143C9}"/>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01</a:t>
            </a:r>
          </a:p>
        </p:txBody>
      </p:sp>
      <p:sp>
        <p:nvSpPr>
          <p:cNvPr id="5" name="Daily Wellness Patch">
            <a:extLst xmlns:a="http://schemas.openxmlformats.org/drawingml/2006/main">
              <a:ext uri="{FF2B5EF4-FFF2-40B4-BE49-F238E27FC236}">
                <a16:creationId xmlns:a16="http://schemas.microsoft.com/office/drawing/2014/main" id="{84BC0DAD-86F2-4BFB-8561-5D1C7ED80824}"/>
              </a:ext>
            </a:extLst>
          </p:cNvPr>
          <p:cNvSpPr>
            <a:spLocks xmlns:a="http://schemas.openxmlformats.org/drawingml/2006/main" noGrp="1"/>
          </p:cNvSpPr>
          <p:nvPr/>
        </p:nvSpPr>
        <p:spPr>
          <a:xfrm xmlns:a="http://schemas.openxmlformats.org/drawingml/2006/main">
            <a:off x="609600" y="1581150"/>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0">
                <a:solidFill>
                  <a:srgbClr val="BF9A50"/>
                </a:solidFill>
                <a:latin typeface="Calibri"/>
                <a:ea typeface="Calibri"/>
                <a:cs typeface="Calibri"/>
              </a:defRPr>
            </a:defPPr>
            <a:lvl1pPr>
              <a:defRPr sz="2400" b="0">
                <a:solidFill>
                  <a:srgbClr val="BF9A50"/>
                </a:solidFill>
                <a:latin typeface="Calibri"/>
                <a:ea typeface="Calibri"/>
                <a:cs typeface="Calibri"/>
              </a:defRPr>
            </a:lvl1pPr>
            <a:lvl2pPr>
              <a:defRPr sz="2400" b="0">
                <a:solidFill>
                  <a:srgbClr val="BF9A50"/>
                </a:solidFill>
                <a:latin typeface="Calibri"/>
                <a:ea typeface="Calibri"/>
                <a:cs typeface="Calibri"/>
              </a:defRPr>
            </a:lvl2pPr>
            <a:lvl3pPr>
              <a:defRPr sz="2400" b="0">
                <a:solidFill>
                  <a:srgbClr val="BF9A50"/>
                </a:solidFill>
                <a:latin typeface="Calibri"/>
                <a:ea typeface="Calibri"/>
                <a:cs typeface="Calibri"/>
              </a:defRPr>
            </a:lvl3pPr>
            <a:lvl4pPr>
              <a:defRPr sz="2400" b="0">
                <a:solidFill>
                  <a:srgbClr val="BF9A50"/>
                </a:solidFill>
                <a:latin typeface="Calibri"/>
                <a:ea typeface="Calibri"/>
                <a:cs typeface="Calibri"/>
              </a:defRPr>
            </a:lvl4pPr>
            <a:lvl5pPr>
              <a:defRPr sz="2400" b="0">
                <a:solidFill>
                  <a:srgbClr val="BF9A50"/>
                </a:solidFill>
                <a:latin typeface="Calibri"/>
                <a:ea typeface="Calibri"/>
                <a:cs typeface="Calibri"/>
              </a:defRPr>
            </a:lvl5pPr>
            <a:lvl6pPr>
              <a:defRPr sz="2400" b="0">
                <a:solidFill>
                  <a:srgbClr val="BF9A50"/>
                </a:solidFill>
                <a:latin typeface="Calibri"/>
                <a:ea typeface="Calibri"/>
                <a:cs typeface="Calibri"/>
              </a:defRPr>
            </a:lvl6pPr>
            <a:lvl7pPr>
              <a:defRPr sz="2400" b="0">
                <a:solidFill>
                  <a:srgbClr val="BF9A50"/>
                </a:solidFill>
                <a:latin typeface="Calibri"/>
                <a:ea typeface="Calibri"/>
                <a:cs typeface="Calibri"/>
              </a:defRPr>
            </a:lvl7pPr>
            <a:lvl8pPr>
              <a:defRPr sz="2400" b="0">
                <a:solidFill>
                  <a:srgbClr val="BF9A50"/>
                </a:solidFill>
                <a:latin typeface="Calibri"/>
                <a:ea typeface="Calibri"/>
                <a:cs typeface="Calibri"/>
              </a:defRPr>
            </a:lvl8pPr>
            <a:lvl9pPr>
              <a:defRPr sz="2400" b="0">
                <a:solidFill>
                  <a:srgbClr val="BF9A50"/>
                </a:solidFill>
                <a:latin typeface="Calibri"/>
                <a:ea typeface="Calibri"/>
                <a:cs typeface="Calibri"/>
              </a:defRPr>
            </a:lvl9pPr>
          </a:lstStyle>
          <a:p xmlns:a="http://schemas.openxmlformats.org/drawingml/2006/main">
            <a:pPr>
              <a:defRPr sz="2400" b="0">
                <a:solidFill>
                  <a:srgbClr val="BF9A50"/>
                </a:solidFill>
                <a:latin typeface="Calibri"/>
                <a:ea typeface="Calibri"/>
                <a:cs typeface="Calibri"/>
              </a:defRPr>
            </a:pPr>
            <a:r>
              <a:rPr sz="2400" b="0">
                <a:solidFill>
                  <a:srgbClr val="BF9A50"/>
                </a:solidFill>
                <a:latin typeface="Calibri"/>
                <a:ea typeface="Calibri"/>
                <a:cs typeface="Calibri"/>
              </a:rPr>
              <a:t>Daily Wellness Patch</a:t>
            </a:r>
          </a:p>
        </p:txBody>
      </p:sp>
      <p:sp>
        <p:nvSpPr>
          <p:cNvPr id="6" name="A daily ritual.&#10;A subscription business.">
            <a:extLst xmlns:a="http://schemas.openxmlformats.org/drawingml/2006/main">
              <a:ext uri="{FF2B5EF4-FFF2-40B4-BE49-F238E27FC236}">
                <a16:creationId xmlns:a16="http://schemas.microsoft.com/office/drawing/2014/main" id="{562E97CE-D432-4D99-8EF4-86D232A41B5A}"/>
              </a:ext>
            </a:extLst>
          </p:cNvPr>
          <p:cNvSpPr>
            <a:spLocks xmlns:a="http://schemas.openxmlformats.org/drawingml/2006/main" noGrp="1"/>
          </p:cNvSpPr>
          <p:nvPr/>
        </p:nvSpPr>
        <p:spPr>
          <a:xfrm xmlns:a="http://schemas.openxmlformats.org/drawingml/2006/main">
            <a:off x="609600" y="2647950"/>
            <a:ext cx="6048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675" b="0">
                <a:solidFill>
                  <a:srgbClr val="F5F0E7"/>
                </a:solidFill>
                <a:latin typeface="Calibri"/>
                <a:ea typeface="Calibri"/>
                <a:cs typeface="Calibri"/>
              </a:defRPr>
            </a:defPPr>
            <a:lvl1pPr>
              <a:defRPr sz="3675" b="0">
                <a:solidFill>
                  <a:srgbClr val="F5F0E7"/>
                </a:solidFill>
                <a:latin typeface="Calibri"/>
                <a:ea typeface="Calibri"/>
                <a:cs typeface="Calibri"/>
              </a:defRPr>
            </a:lvl1pPr>
            <a:lvl2pPr>
              <a:defRPr sz="3675" b="0">
                <a:solidFill>
                  <a:srgbClr val="F5F0E7"/>
                </a:solidFill>
                <a:latin typeface="Calibri"/>
                <a:ea typeface="Calibri"/>
                <a:cs typeface="Calibri"/>
              </a:defRPr>
            </a:lvl2pPr>
            <a:lvl3pPr>
              <a:defRPr sz="3675" b="0">
                <a:solidFill>
                  <a:srgbClr val="F5F0E7"/>
                </a:solidFill>
                <a:latin typeface="Calibri"/>
                <a:ea typeface="Calibri"/>
                <a:cs typeface="Calibri"/>
              </a:defRPr>
            </a:lvl3pPr>
            <a:lvl4pPr>
              <a:defRPr sz="3675" b="0">
                <a:solidFill>
                  <a:srgbClr val="F5F0E7"/>
                </a:solidFill>
                <a:latin typeface="Calibri"/>
                <a:ea typeface="Calibri"/>
                <a:cs typeface="Calibri"/>
              </a:defRPr>
            </a:lvl4pPr>
            <a:lvl5pPr>
              <a:defRPr sz="3675" b="0">
                <a:solidFill>
                  <a:srgbClr val="F5F0E7"/>
                </a:solidFill>
                <a:latin typeface="Calibri"/>
                <a:ea typeface="Calibri"/>
                <a:cs typeface="Calibri"/>
              </a:defRPr>
            </a:lvl5pPr>
            <a:lvl6pPr>
              <a:defRPr sz="3675" b="0">
                <a:solidFill>
                  <a:srgbClr val="F5F0E7"/>
                </a:solidFill>
                <a:latin typeface="Calibri"/>
                <a:ea typeface="Calibri"/>
                <a:cs typeface="Calibri"/>
              </a:defRPr>
            </a:lvl6pPr>
            <a:lvl7pPr>
              <a:defRPr sz="3675" b="0">
                <a:solidFill>
                  <a:srgbClr val="F5F0E7"/>
                </a:solidFill>
                <a:latin typeface="Calibri"/>
                <a:ea typeface="Calibri"/>
                <a:cs typeface="Calibri"/>
              </a:defRPr>
            </a:lvl7pPr>
            <a:lvl8pPr>
              <a:defRPr sz="3675" b="0">
                <a:solidFill>
                  <a:srgbClr val="F5F0E7"/>
                </a:solidFill>
                <a:latin typeface="Calibri"/>
                <a:ea typeface="Calibri"/>
                <a:cs typeface="Calibri"/>
              </a:defRPr>
            </a:lvl8pPr>
            <a:lvl9pPr>
              <a:defRPr sz="3675" b="0">
                <a:solidFill>
                  <a:srgbClr val="F5F0E7"/>
                </a:solidFill>
                <a:latin typeface="Calibri"/>
                <a:ea typeface="Calibri"/>
                <a:cs typeface="Calibri"/>
              </a:defRPr>
            </a:lvl9pPr>
          </a:lstStyle>
          <a:p xmlns:a="http://schemas.openxmlformats.org/drawingml/2006/main">
            <a:pPr>
              <a:defRPr sz="3675" b="0">
                <a:solidFill>
                  <a:srgbClr val="F5F0E7"/>
                </a:solidFill>
                <a:latin typeface="Calibri"/>
                <a:ea typeface="Calibri"/>
                <a:cs typeface="Calibri"/>
              </a:defRPr>
            </a:pPr>
            <a:r>
              <a:rPr sz="3675" b="0">
                <a:solidFill>
                  <a:srgbClr val="F5F0E7"/>
                </a:solidFill>
                <a:latin typeface="Calibri"/>
                <a:ea typeface="Calibri"/>
                <a:cs typeface="Calibri"/>
              </a:rPr>
              <a:t>A daily ritual.</a:t>
            </a:r>
          </a:p>
          <a:p xmlns:a="http://schemas.openxmlformats.org/drawingml/2006/main">
            <a:pPr>
              <a:defRPr sz="3675" b="0">
                <a:solidFill>
                  <a:srgbClr val="F5F0E7"/>
                </a:solidFill>
                <a:latin typeface="Calibri"/>
                <a:ea typeface="Calibri"/>
                <a:cs typeface="Calibri"/>
              </a:defRPr>
            </a:pPr>
            <a:r>
              <a:rPr sz="3675" b="0">
                <a:solidFill>
                  <a:srgbClr val="F5F0E7"/>
                </a:solidFill>
                <a:latin typeface="Calibri"/>
                <a:ea typeface="Calibri"/>
                <a:cs typeface="Calibri"/>
              </a:rPr>
              <a:t>A subscription business.</a:t>
            </a:r>
          </a:p>
        </p:txBody>
      </p:sp>
      <p:sp>
        <p:nvSpPr>
          <p:cNvPr id="7" name="Flagship launch with staged expansion&#10;into ad">
            <a:extLst xmlns:a="http://schemas.openxmlformats.org/drawingml/2006/main">
              <a:ext uri="{FF2B5EF4-FFF2-40B4-BE49-F238E27FC236}">
                <a16:creationId xmlns:a16="http://schemas.microsoft.com/office/drawing/2014/main" id="{08903A37-8839-41B0-8F77-8C526EB7642D}"/>
              </a:ext>
            </a:extLst>
          </p:cNvPr>
          <p:cNvSpPr>
            <a:spLocks xmlns:a="http://schemas.openxmlformats.org/drawingml/2006/main" noGrp="1"/>
          </p:cNvSpPr>
          <p:nvPr/>
        </p:nvSpPr>
        <p:spPr>
          <a:xfrm xmlns:a="http://schemas.openxmlformats.org/drawingml/2006/main">
            <a:off x="609600" y="4314825"/>
            <a:ext cx="581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9CEC7"/>
                </a:solidFill>
                <a:latin typeface="Calibri"/>
                <a:ea typeface="Calibri"/>
                <a:cs typeface="Calibri"/>
              </a:defRPr>
            </a:defPPr>
            <a:lvl1pPr>
              <a:defRPr sz="2025" b="0">
                <a:solidFill>
                  <a:srgbClr val="B9CEC7"/>
                </a:solidFill>
                <a:latin typeface="Calibri"/>
                <a:ea typeface="Calibri"/>
                <a:cs typeface="Calibri"/>
              </a:defRPr>
            </a:lvl1pPr>
            <a:lvl2pPr>
              <a:defRPr sz="2025" b="0">
                <a:solidFill>
                  <a:srgbClr val="B9CEC7"/>
                </a:solidFill>
                <a:latin typeface="Calibri"/>
                <a:ea typeface="Calibri"/>
                <a:cs typeface="Calibri"/>
              </a:defRPr>
            </a:lvl2pPr>
            <a:lvl3pPr>
              <a:defRPr sz="2025" b="0">
                <a:solidFill>
                  <a:srgbClr val="B9CEC7"/>
                </a:solidFill>
                <a:latin typeface="Calibri"/>
                <a:ea typeface="Calibri"/>
                <a:cs typeface="Calibri"/>
              </a:defRPr>
            </a:lvl3pPr>
            <a:lvl4pPr>
              <a:defRPr sz="2025" b="0">
                <a:solidFill>
                  <a:srgbClr val="B9CEC7"/>
                </a:solidFill>
                <a:latin typeface="Calibri"/>
                <a:ea typeface="Calibri"/>
                <a:cs typeface="Calibri"/>
              </a:defRPr>
            </a:lvl4pPr>
            <a:lvl5pPr>
              <a:defRPr sz="2025" b="0">
                <a:solidFill>
                  <a:srgbClr val="B9CEC7"/>
                </a:solidFill>
                <a:latin typeface="Calibri"/>
                <a:ea typeface="Calibri"/>
                <a:cs typeface="Calibri"/>
              </a:defRPr>
            </a:lvl5pPr>
            <a:lvl6pPr>
              <a:defRPr sz="2025" b="0">
                <a:solidFill>
                  <a:srgbClr val="B9CEC7"/>
                </a:solidFill>
                <a:latin typeface="Calibri"/>
                <a:ea typeface="Calibri"/>
                <a:cs typeface="Calibri"/>
              </a:defRPr>
            </a:lvl6pPr>
            <a:lvl7pPr>
              <a:defRPr sz="2025" b="0">
                <a:solidFill>
                  <a:srgbClr val="B9CEC7"/>
                </a:solidFill>
                <a:latin typeface="Calibri"/>
                <a:ea typeface="Calibri"/>
                <a:cs typeface="Calibri"/>
              </a:defRPr>
            </a:lvl7pPr>
            <a:lvl8pPr>
              <a:defRPr sz="2025" b="0">
                <a:solidFill>
                  <a:srgbClr val="B9CEC7"/>
                </a:solidFill>
                <a:latin typeface="Calibri"/>
                <a:ea typeface="Calibri"/>
                <a:cs typeface="Calibri"/>
              </a:defRPr>
            </a:lvl8pPr>
            <a:lvl9pPr>
              <a:defRPr sz="2025" b="0">
                <a:solidFill>
                  <a:srgbClr val="B9CEC7"/>
                </a:solidFill>
                <a:latin typeface="Calibri"/>
                <a:ea typeface="Calibri"/>
                <a:cs typeface="Calibri"/>
              </a:defRPr>
            </a:lvl9pPr>
          </a:lstStyle>
          <a:p xmlns:a="http://schemas.openxmlformats.org/drawingml/2006/main">
            <a:pPr>
              <a:defRPr sz="2025" b="0">
                <a:solidFill>
                  <a:srgbClr val="B9CEC7"/>
                </a:solidFill>
                <a:latin typeface="Calibri"/>
                <a:ea typeface="Calibri"/>
                <a:cs typeface="Calibri"/>
              </a:defRPr>
            </a:pPr>
            <a:r>
              <a:rPr sz="2025" b="0">
                <a:solidFill>
                  <a:srgbClr val="B9CEC7"/>
                </a:solidFill>
                <a:latin typeface="Calibri"/>
                <a:ea typeface="Calibri"/>
                <a:cs typeface="Calibri"/>
              </a:rPr>
              <a:t>Flagship launch with staged expansion</a:t>
            </a:r>
          </a:p>
          <a:p xmlns:a="http://schemas.openxmlformats.org/drawingml/2006/main">
            <a:pPr>
              <a:defRPr sz="2025" b="0">
                <a:solidFill>
                  <a:srgbClr val="B9CEC7"/>
                </a:solidFill>
                <a:latin typeface="Calibri"/>
                <a:ea typeface="Calibri"/>
                <a:cs typeface="Calibri"/>
              </a:defRPr>
            </a:pPr>
            <a:r>
              <a:rPr sz="2025" b="0">
                <a:solidFill>
                  <a:srgbClr val="B9CEC7"/>
                </a:solidFill>
                <a:latin typeface="Calibri"/>
                <a:ea typeface="Calibri"/>
                <a:cs typeface="Calibri"/>
              </a:rPr>
              <a:t>into adjacent wellness products.</a:t>
            </a:r>
          </a:p>
        </p:txBody>
      </p:sp>
      <p:sp>
        <p:nvSpPr>
          <p:cNvPr id="8" name="SEEKING $500K–$1.5M IN SEED CAPITAL">
            <a:extLst xmlns:a="http://schemas.openxmlformats.org/drawingml/2006/main">
              <a:ext uri="{FF2B5EF4-FFF2-40B4-BE49-F238E27FC236}">
                <a16:creationId xmlns:a16="http://schemas.microsoft.com/office/drawing/2014/main" id="{E158B479-1998-4642-9C0B-CFD9FD92413B}"/>
              </a:ext>
            </a:extLst>
          </p:cNvPr>
          <p:cNvSpPr>
            <a:spLocks xmlns:a="http://schemas.openxmlformats.org/drawingml/2006/main" noGrp="1"/>
          </p:cNvSpPr>
          <p:nvPr/>
        </p:nvSpPr>
        <p:spPr>
          <a:xfrm xmlns:a="http://schemas.openxmlformats.org/drawingml/2006/main">
            <a:off x="609600" y="56197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1">
                <a:solidFill>
                  <a:srgbClr val="BF9A50"/>
                </a:solidFill>
                <a:latin typeface="Calibri"/>
                <a:ea typeface="Calibri"/>
                <a:cs typeface="Calibri"/>
              </a:defRPr>
            </a:defPPr>
            <a:lvl1pPr>
              <a:defRPr sz="1650" b="1">
                <a:solidFill>
                  <a:srgbClr val="BF9A50"/>
                </a:solidFill>
                <a:latin typeface="Calibri"/>
                <a:ea typeface="Calibri"/>
                <a:cs typeface="Calibri"/>
              </a:defRPr>
            </a:lvl1pPr>
            <a:lvl2pPr>
              <a:defRPr sz="1650" b="1">
                <a:solidFill>
                  <a:srgbClr val="BF9A50"/>
                </a:solidFill>
                <a:latin typeface="Calibri"/>
                <a:ea typeface="Calibri"/>
                <a:cs typeface="Calibri"/>
              </a:defRPr>
            </a:lvl2pPr>
            <a:lvl3pPr>
              <a:defRPr sz="1650" b="1">
                <a:solidFill>
                  <a:srgbClr val="BF9A50"/>
                </a:solidFill>
                <a:latin typeface="Calibri"/>
                <a:ea typeface="Calibri"/>
                <a:cs typeface="Calibri"/>
              </a:defRPr>
            </a:lvl3pPr>
            <a:lvl4pPr>
              <a:defRPr sz="1650" b="1">
                <a:solidFill>
                  <a:srgbClr val="BF9A50"/>
                </a:solidFill>
                <a:latin typeface="Calibri"/>
                <a:ea typeface="Calibri"/>
                <a:cs typeface="Calibri"/>
              </a:defRPr>
            </a:lvl4pPr>
            <a:lvl5pPr>
              <a:defRPr sz="1650" b="1">
                <a:solidFill>
                  <a:srgbClr val="BF9A50"/>
                </a:solidFill>
                <a:latin typeface="Calibri"/>
                <a:ea typeface="Calibri"/>
                <a:cs typeface="Calibri"/>
              </a:defRPr>
            </a:lvl5pPr>
            <a:lvl6pPr>
              <a:defRPr sz="1650" b="1">
                <a:solidFill>
                  <a:srgbClr val="BF9A50"/>
                </a:solidFill>
                <a:latin typeface="Calibri"/>
                <a:ea typeface="Calibri"/>
                <a:cs typeface="Calibri"/>
              </a:defRPr>
            </a:lvl6pPr>
            <a:lvl7pPr>
              <a:defRPr sz="1650" b="1">
                <a:solidFill>
                  <a:srgbClr val="BF9A50"/>
                </a:solidFill>
                <a:latin typeface="Calibri"/>
                <a:ea typeface="Calibri"/>
                <a:cs typeface="Calibri"/>
              </a:defRPr>
            </a:lvl7pPr>
            <a:lvl8pPr>
              <a:defRPr sz="1650" b="1">
                <a:solidFill>
                  <a:srgbClr val="BF9A50"/>
                </a:solidFill>
                <a:latin typeface="Calibri"/>
                <a:ea typeface="Calibri"/>
                <a:cs typeface="Calibri"/>
              </a:defRPr>
            </a:lvl8pPr>
            <a:lvl9pPr>
              <a:defRPr sz="1650" b="1">
                <a:solidFill>
                  <a:srgbClr val="BF9A50"/>
                </a:solidFill>
                <a:latin typeface="Calibri"/>
                <a:ea typeface="Calibri"/>
                <a:cs typeface="Calibri"/>
              </a:defRPr>
            </a:lvl9pPr>
          </a:lstStyle>
          <a:p xmlns:a="http://schemas.openxmlformats.org/drawingml/2006/main">
            <a:pPr>
              <a:defRPr sz="1650" b="1">
                <a:solidFill>
                  <a:srgbClr val="BF9A50"/>
                </a:solidFill>
                <a:latin typeface="Calibri"/>
                <a:ea typeface="Calibri"/>
                <a:cs typeface="Calibri"/>
              </a:defRPr>
            </a:pPr>
            <a:r>
              <a:rPr sz="1650" b="1">
                <a:solidFill>
                  <a:srgbClr val="BF9A50"/>
                </a:solidFill>
                <a:latin typeface="Calibri"/>
                <a:ea typeface="Calibri"/>
                <a:cs typeface="Calibri"/>
              </a:rPr>
              <a:t>SEEKING $500K–$1.5M IN SEED CAPITAL</a:t>
            </a:r>
          </a:p>
        </p:txBody>
      </p:sp>
      <p:pic>
        <p:nvPicPr>
          <p:cNvPr id="9" name="">
            <a:extLst xmlns:a="http://schemas.openxmlformats.org/drawingml/2006/main">
              <a:ext uri="{FF2B5EF4-FFF2-40B4-BE49-F238E27FC236}">
                <a16:creationId xmlns:a16="http://schemas.microsoft.com/office/drawing/2014/main" id="{D1F6B2AB-9DF7-4DFF-9280-7FEEC21F3F62}"/>
              </a:ext>
            </a:extLst>
          </p:cNvPr>
          <p:cNvPicPr>
            <a:picLocks xmlns:a="http://schemas.openxmlformats.org/drawingml/2006/main" noChangeAspect="1"/>
          </p:cNvPicPr>
          <p:nvPr/>
        </p:nvPicPr>
        <p:blipFill>
          <a:blip xmlns:r="http://schemas.openxmlformats.org/officeDocument/2006/relationships" xmlns:a="http://schemas.openxmlformats.org/drawingml/2006/main" r:embed="Rb5e4948a2b5c4276"/>
          <a:srcRect xmlns:a="http://schemas.openxmlformats.org/drawingml/2006/main" l="6076" t="0" r="6076"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Tree>
    <p:extLst>
      <p:ext uri="{BB962C8B-B14F-4D97-AF65-F5344CB8AC3E}">
        <p14:creationId xmlns:p14="http://schemas.microsoft.com/office/powerpoint/2010/main" val="1613832254"/>
      </p:ext>
    </p:extLst>
  </p:cSld>
</p:sld>
</file>

<file path=ppt/slides/slide2.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 name="The opportunity: simpler daily wellness">
            <a:extLst xmlns:a="http://schemas.openxmlformats.org/drawingml/2006/main">
              <a:ext uri="{FF2B5EF4-FFF2-40B4-BE49-F238E27FC236}">
                <a16:creationId xmlns:a16="http://schemas.microsoft.com/office/drawing/2014/main" id="{38AB2F8F-9F00-4980-B5ED-1D7B0547EE47}"/>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73F48"/>
                </a:solidFill>
                <a:latin typeface="Calibri"/>
                <a:ea typeface="Calibri"/>
                <a:cs typeface="Calibri"/>
              </a:defRPr>
            </a:defPPr>
            <a:lvl1pPr>
              <a:defRPr sz="3300" b="0">
                <a:solidFill>
                  <a:srgbClr val="073F48"/>
                </a:solidFill>
                <a:latin typeface="Calibri"/>
                <a:ea typeface="Calibri"/>
                <a:cs typeface="Calibri"/>
              </a:defRPr>
            </a:lvl1pPr>
            <a:lvl2pPr>
              <a:defRPr sz="3300" b="0">
                <a:solidFill>
                  <a:srgbClr val="073F48"/>
                </a:solidFill>
                <a:latin typeface="Calibri"/>
                <a:ea typeface="Calibri"/>
                <a:cs typeface="Calibri"/>
              </a:defRPr>
            </a:lvl2pPr>
            <a:lvl3pPr>
              <a:defRPr sz="3300" b="0">
                <a:solidFill>
                  <a:srgbClr val="073F48"/>
                </a:solidFill>
                <a:latin typeface="Calibri"/>
                <a:ea typeface="Calibri"/>
                <a:cs typeface="Calibri"/>
              </a:defRPr>
            </a:lvl3pPr>
            <a:lvl4pPr>
              <a:defRPr sz="3300" b="0">
                <a:solidFill>
                  <a:srgbClr val="073F48"/>
                </a:solidFill>
                <a:latin typeface="Calibri"/>
                <a:ea typeface="Calibri"/>
                <a:cs typeface="Calibri"/>
              </a:defRPr>
            </a:lvl4pPr>
            <a:lvl5pPr>
              <a:defRPr sz="3300" b="0">
                <a:solidFill>
                  <a:srgbClr val="073F48"/>
                </a:solidFill>
                <a:latin typeface="Calibri"/>
                <a:ea typeface="Calibri"/>
                <a:cs typeface="Calibri"/>
              </a:defRPr>
            </a:lvl5pPr>
            <a:lvl6pPr>
              <a:defRPr sz="3300" b="0">
                <a:solidFill>
                  <a:srgbClr val="073F48"/>
                </a:solidFill>
                <a:latin typeface="Calibri"/>
                <a:ea typeface="Calibri"/>
                <a:cs typeface="Calibri"/>
              </a:defRPr>
            </a:lvl6pPr>
            <a:lvl7pPr>
              <a:defRPr sz="3300" b="0">
                <a:solidFill>
                  <a:srgbClr val="073F48"/>
                </a:solidFill>
                <a:latin typeface="Calibri"/>
                <a:ea typeface="Calibri"/>
                <a:cs typeface="Calibri"/>
              </a:defRPr>
            </a:lvl7pPr>
            <a:lvl8pPr>
              <a:defRPr sz="3300" b="0">
                <a:solidFill>
                  <a:srgbClr val="073F48"/>
                </a:solidFill>
                <a:latin typeface="Calibri"/>
                <a:ea typeface="Calibri"/>
                <a:cs typeface="Calibri"/>
              </a:defRPr>
            </a:lvl8pPr>
            <a:lvl9pPr>
              <a:defRPr sz="3300" b="0">
                <a:solidFill>
                  <a:srgbClr val="073F48"/>
                </a:solidFill>
                <a:latin typeface="Calibri"/>
                <a:ea typeface="Calibri"/>
                <a:cs typeface="Calibri"/>
              </a:defRPr>
            </a:lvl9pPr>
          </a:lstStyle>
          <a:p xmlns:a="http://schemas.openxmlformats.org/drawingml/2006/main">
            <a:pPr>
              <a:defRPr sz="3300" b="0">
                <a:solidFill>
                  <a:srgbClr val="073F48"/>
                </a:solidFill>
                <a:latin typeface="Calibri"/>
                <a:ea typeface="Calibri"/>
                <a:cs typeface="Calibri"/>
              </a:defRPr>
            </a:pPr>
            <a:r>
              <a:rPr sz="3300" b="0">
                <a:solidFill>
                  <a:srgbClr val="073F48"/>
                </a:solidFill>
                <a:latin typeface="Calibri"/>
                <a:ea typeface="Calibri"/>
                <a:cs typeface="Calibri"/>
              </a:rPr>
              <a:t>The opportunity: simpler daily wellness</a:t>
            </a:r>
          </a:p>
        </p:txBody>
      </p:sp>
      <p:sp>
        <p:nvSpPr>
          <p:cNvPr id="3" name="AURA PATCH  /  CONFIDENTIAL  /  OCTOBER 2026">
            <a:extLst xmlns:a="http://schemas.openxmlformats.org/drawingml/2006/main">
              <a:ext uri="{FF2B5EF4-FFF2-40B4-BE49-F238E27FC236}">
                <a16:creationId xmlns:a16="http://schemas.microsoft.com/office/drawing/2014/main" id="{E3CD2CCA-3744-4DB9-A433-BFC87EB12592}"/>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567371"/>
                </a:solidFill>
                <a:latin typeface="Calibri"/>
                <a:ea typeface="Calibri"/>
                <a:cs typeface="Calibri"/>
              </a:defRPr>
            </a:defPPr>
            <a:lvl1pPr>
              <a:defRPr sz="900" b="0">
                <a:solidFill>
                  <a:srgbClr val="567371"/>
                </a:solidFill>
                <a:latin typeface="Calibri"/>
                <a:ea typeface="Calibri"/>
                <a:cs typeface="Calibri"/>
              </a:defRPr>
            </a:lvl1pPr>
            <a:lvl2pPr>
              <a:defRPr sz="900" b="0">
                <a:solidFill>
                  <a:srgbClr val="567371"/>
                </a:solidFill>
                <a:latin typeface="Calibri"/>
                <a:ea typeface="Calibri"/>
                <a:cs typeface="Calibri"/>
              </a:defRPr>
            </a:lvl2pPr>
            <a:lvl3pPr>
              <a:defRPr sz="900" b="0">
                <a:solidFill>
                  <a:srgbClr val="567371"/>
                </a:solidFill>
                <a:latin typeface="Calibri"/>
                <a:ea typeface="Calibri"/>
                <a:cs typeface="Calibri"/>
              </a:defRPr>
            </a:lvl3pPr>
            <a:lvl4pPr>
              <a:defRPr sz="900" b="0">
                <a:solidFill>
                  <a:srgbClr val="567371"/>
                </a:solidFill>
                <a:latin typeface="Calibri"/>
                <a:ea typeface="Calibri"/>
                <a:cs typeface="Calibri"/>
              </a:defRPr>
            </a:lvl4pPr>
            <a:lvl5pPr>
              <a:defRPr sz="900" b="0">
                <a:solidFill>
                  <a:srgbClr val="567371"/>
                </a:solidFill>
                <a:latin typeface="Calibri"/>
                <a:ea typeface="Calibri"/>
                <a:cs typeface="Calibri"/>
              </a:defRPr>
            </a:lvl5pPr>
            <a:lvl6pPr>
              <a:defRPr sz="900" b="0">
                <a:solidFill>
                  <a:srgbClr val="567371"/>
                </a:solidFill>
                <a:latin typeface="Calibri"/>
                <a:ea typeface="Calibri"/>
                <a:cs typeface="Calibri"/>
              </a:defRPr>
            </a:lvl6pPr>
            <a:lvl7pPr>
              <a:defRPr sz="900" b="0">
                <a:solidFill>
                  <a:srgbClr val="567371"/>
                </a:solidFill>
                <a:latin typeface="Calibri"/>
                <a:ea typeface="Calibri"/>
                <a:cs typeface="Calibri"/>
              </a:defRPr>
            </a:lvl7pPr>
            <a:lvl8pPr>
              <a:defRPr sz="900" b="0">
                <a:solidFill>
                  <a:srgbClr val="567371"/>
                </a:solidFill>
                <a:latin typeface="Calibri"/>
                <a:ea typeface="Calibri"/>
                <a:cs typeface="Calibri"/>
              </a:defRPr>
            </a:lvl8pPr>
            <a:lvl9pPr>
              <a:defRPr sz="900" b="0">
                <a:solidFill>
                  <a:srgbClr val="567371"/>
                </a:solidFill>
                <a:latin typeface="Calibri"/>
                <a:ea typeface="Calibri"/>
                <a:cs typeface="Calibri"/>
              </a:defRPr>
            </a:lvl9pPr>
          </a:lstStyle>
          <a:p xmlns:a="http://schemas.openxmlformats.org/drawingml/2006/main">
            <a:pPr>
              <a:defRPr sz="900" b="0">
                <a:solidFill>
                  <a:srgbClr val="567371"/>
                </a:solidFill>
                <a:latin typeface="Calibri"/>
                <a:ea typeface="Calibri"/>
                <a:cs typeface="Calibri"/>
              </a:defRPr>
            </a:pPr>
            <a:r>
              <a:rPr sz="900" b="0">
                <a:solidFill>
                  <a:srgbClr val="567371"/>
                </a:solidFill>
                <a:latin typeface="Calibri"/>
                <a:ea typeface="Calibri"/>
                <a:cs typeface="Calibri"/>
              </a:rPr>
              <a:t>AURA PATCH  /  CONFIDENTIAL  /  OCTOBER 2026</a:t>
            </a:r>
          </a:p>
        </p:txBody>
      </p:sp>
      <p:sp>
        <p:nvSpPr>
          <p:cNvPr id="4" name="02">
            <a:extLst xmlns:a="http://schemas.openxmlformats.org/drawingml/2006/main">
              <a:ext uri="{FF2B5EF4-FFF2-40B4-BE49-F238E27FC236}">
                <a16:creationId xmlns:a16="http://schemas.microsoft.com/office/drawing/2014/main" id="{AFAD46E2-6C80-41EF-AB59-76697BC3C392}"/>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02</a:t>
            </a:r>
          </a:p>
        </p:txBody>
      </p:sp>
      <p:sp>
        <p:nvSpPr>
          <p:cNvPr id="5" name="Aura targets people who want a wellness routi">
            <a:extLst xmlns:a="http://schemas.openxmlformats.org/drawingml/2006/main">
              <a:ext uri="{FF2B5EF4-FFF2-40B4-BE49-F238E27FC236}">
                <a16:creationId xmlns:a16="http://schemas.microsoft.com/office/drawing/2014/main" id="{BA53A889-D4AC-48ED-A943-958977C0E8C6}"/>
              </a:ext>
            </a:extLst>
          </p:cNvPr>
          <p:cNvSpPr>
            <a:spLocks xmlns:a="http://schemas.openxmlformats.org/drawingml/2006/main" noGrp="1"/>
          </p:cNvSpPr>
          <p:nvPr/>
        </p:nvSpPr>
        <p:spPr>
          <a:xfrm xmlns:a="http://schemas.openxmlformats.org/drawingml/2006/main">
            <a:off x="609600" y="16573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567371"/>
                </a:solidFill>
                <a:latin typeface="Calibri"/>
                <a:ea typeface="Calibri"/>
                <a:cs typeface="Calibri"/>
              </a:defRPr>
            </a:defPPr>
            <a:lvl1pPr>
              <a:defRPr sz="2250" b="0">
                <a:solidFill>
                  <a:srgbClr val="567371"/>
                </a:solidFill>
                <a:latin typeface="Calibri"/>
                <a:ea typeface="Calibri"/>
                <a:cs typeface="Calibri"/>
              </a:defRPr>
            </a:lvl1pPr>
            <a:lvl2pPr>
              <a:defRPr sz="2250" b="0">
                <a:solidFill>
                  <a:srgbClr val="567371"/>
                </a:solidFill>
                <a:latin typeface="Calibri"/>
                <a:ea typeface="Calibri"/>
                <a:cs typeface="Calibri"/>
              </a:defRPr>
            </a:lvl2pPr>
            <a:lvl3pPr>
              <a:defRPr sz="2250" b="0">
                <a:solidFill>
                  <a:srgbClr val="567371"/>
                </a:solidFill>
                <a:latin typeface="Calibri"/>
                <a:ea typeface="Calibri"/>
                <a:cs typeface="Calibri"/>
              </a:defRPr>
            </a:lvl3pPr>
            <a:lvl4pPr>
              <a:defRPr sz="2250" b="0">
                <a:solidFill>
                  <a:srgbClr val="567371"/>
                </a:solidFill>
                <a:latin typeface="Calibri"/>
                <a:ea typeface="Calibri"/>
                <a:cs typeface="Calibri"/>
              </a:defRPr>
            </a:lvl4pPr>
            <a:lvl5pPr>
              <a:defRPr sz="2250" b="0">
                <a:solidFill>
                  <a:srgbClr val="567371"/>
                </a:solidFill>
                <a:latin typeface="Calibri"/>
                <a:ea typeface="Calibri"/>
                <a:cs typeface="Calibri"/>
              </a:defRPr>
            </a:lvl5pPr>
            <a:lvl6pPr>
              <a:defRPr sz="2250" b="0">
                <a:solidFill>
                  <a:srgbClr val="567371"/>
                </a:solidFill>
                <a:latin typeface="Calibri"/>
                <a:ea typeface="Calibri"/>
                <a:cs typeface="Calibri"/>
              </a:defRPr>
            </a:lvl6pPr>
            <a:lvl7pPr>
              <a:defRPr sz="2250" b="0">
                <a:solidFill>
                  <a:srgbClr val="567371"/>
                </a:solidFill>
                <a:latin typeface="Calibri"/>
                <a:ea typeface="Calibri"/>
                <a:cs typeface="Calibri"/>
              </a:defRPr>
            </a:lvl7pPr>
            <a:lvl8pPr>
              <a:defRPr sz="2250" b="0">
                <a:solidFill>
                  <a:srgbClr val="567371"/>
                </a:solidFill>
                <a:latin typeface="Calibri"/>
                <a:ea typeface="Calibri"/>
                <a:cs typeface="Calibri"/>
              </a:defRPr>
            </a:lvl8pPr>
            <a:lvl9pPr>
              <a:defRPr sz="2250" b="0">
                <a:solidFill>
                  <a:srgbClr val="567371"/>
                </a:solidFill>
                <a:latin typeface="Calibri"/>
                <a:ea typeface="Calibri"/>
                <a:cs typeface="Calibri"/>
              </a:defRPr>
            </a:lvl9pPr>
          </a:lstStyle>
          <a:p xmlns:a="http://schemas.openxmlformats.org/drawingml/2006/main">
            <a:pPr>
              <a:defRPr sz="2250" b="0">
                <a:solidFill>
                  <a:srgbClr val="567371"/>
                </a:solidFill>
                <a:latin typeface="Calibri"/>
                <a:ea typeface="Calibri"/>
                <a:cs typeface="Calibri"/>
              </a:defRPr>
            </a:pPr>
            <a:r>
              <a:rPr sz="2250" b="0">
                <a:solidFill>
                  <a:srgbClr val="567371"/>
                </a:solidFill>
                <a:latin typeface="Calibri"/>
                <a:ea typeface="Calibri"/>
                <a:cs typeface="Calibri"/>
              </a:rPr>
              <a:t>Aura targets people who want a wellness routine that fits everyday life.</a:t>
            </a:r>
          </a:p>
        </p:txBody>
      </p:sp>
      <p:sp>
        <p:nvSpPr>
          <p:cNvPr id="6" name="01">
            <a:extLst xmlns:a="http://schemas.openxmlformats.org/drawingml/2006/main">
              <a:ext uri="{FF2B5EF4-FFF2-40B4-BE49-F238E27FC236}">
                <a16:creationId xmlns:a16="http://schemas.microsoft.com/office/drawing/2014/main" id="{59607170-D315-478F-891A-B4764588C6E5}"/>
              </a:ext>
            </a:extLst>
          </p:cNvPr>
          <p:cNvSpPr>
            <a:spLocks xmlns:a="http://schemas.openxmlformats.org/drawingml/2006/main" noGrp="1"/>
          </p:cNvSpPr>
          <p:nvPr/>
        </p:nvSpPr>
        <p:spPr>
          <a:xfrm xmlns:a="http://schemas.openxmlformats.org/drawingml/2006/main">
            <a:off x="609600" y="28575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F9A50"/>
                </a:solidFill>
                <a:latin typeface="Calibri"/>
                <a:ea typeface="Calibri"/>
                <a:cs typeface="Calibri"/>
              </a:defRPr>
            </a:defPPr>
            <a:lvl1pPr>
              <a:defRPr sz="1950" b="0">
                <a:solidFill>
                  <a:srgbClr val="BF9A50"/>
                </a:solidFill>
                <a:latin typeface="Calibri"/>
                <a:ea typeface="Calibri"/>
                <a:cs typeface="Calibri"/>
              </a:defRPr>
            </a:lvl1pPr>
            <a:lvl2pPr>
              <a:defRPr sz="1950" b="0">
                <a:solidFill>
                  <a:srgbClr val="BF9A50"/>
                </a:solidFill>
                <a:latin typeface="Calibri"/>
                <a:ea typeface="Calibri"/>
                <a:cs typeface="Calibri"/>
              </a:defRPr>
            </a:lvl2pPr>
            <a:lvl3pPr>
              <a:defRPr sz="1950" b="0">
                <a:solidFill>
                  <a:srgbClr val="BF9A50"/>
                </a:solidFill>
                <a:latin typeface="Calibri"/>
                <a:ea typeface="Calibri"/>
                <a:cs typeface="Calibri"/>
              </a:defRPr>
            </a:lvl3pPr>
            <a:lvl4pPr>
              <a:defRPr sz="1950" b="0">
                <a:solidFill>
                  <a:srgbClr val="BF9A50"/>
                </a:solidFill>
                <a:latin typeface="Calibri"/>
                <a:ea typeface="Calibri"/>
                <a:cs typeface="Calibri"/>
              </a:defRPr>
            </a:lvl4pPr>
            <a:lvl5pPr>
              <a:defRPr sz="1950" b="0">
                <a:solidFill>
                  <a:srgbClr val="BF9A50"/>
                </a:solidFill>
                <a:latin typeface="Calibri"/>
                <a:ea typeface="Calibri"/>
                <a:cs typeface="Calibri"/>
              </a:defRPr>
            </a:lvl5pPr>
            <a:lvl6pPr>
              <a:defRPr sz="1950" b="0">
                <a:solidFill>
                  <a:srgbClr val="BF9A50"/>
                </a:solidFill>
                <a:latin typeface="Calibri"/>
                <a:ea typeface="Calibri"/>
                <a:cs typeface="Calibri"/>
              </a:defRPr>
            </a:lvl6pPr>
            <a:lvl7pPr>
              <a:defRPr sz="1950" b="0">
                <a:solidFill>
                  <a:srgbClr val="BF9A50"/>
                </a:solidFill>
                <a:latin typeface="Calibri"/>
                <a:ea typeface="Calibri"/>
                <a:cs typeface="Calibri"/>
              </a:defRPr>
            </a:lvl7pPr>
            <a:lvl8pPr>
              <a:defRPr sz="1950" b="0">
                <a:solidFill>
                  <a:srgbClr val="BF9A50"/>
                </a:solidFill>
                <a:latin typeface="Calibri"/>
                <a:ea typeface="Calibri"/>
                <a:cs typeface="Calibri"/>
              </a:defRPr>
            </a:lvl8pPr>
            <a:lvl9pPr>
              <a:defRPr sz="1950" b="0">
                <a:solidFill>
                  <a:srgbClr val="BF9A50"/>
                </a:solidFill>
                <a:latin typeface="Calibri"/>
                <a:ea typeface="Calibri"/>
                <a:cs typeface="Calibri"/>
              </a:defRPr>
            </a:lvl9pPr>
          </a:lstStyle>
          <a:p xmlns:a="http://schemas.openxmlformats.org/drawingml/2006/main">
            <a:pPr>
              <a:defRPr sz="1950" b="0">
                <a:solidFill>
                  <a:srgbClr val="BF9A50"/>
                </a:solidFill>
                <a:latin typeface="Calibri"/>
                <a:ea typeface="Calibri"/>
                <a:cs typeface="Calibri"/>
              </a:defRPr>
            </a:pPr>
            <a:r>
              <a:rPr sz="1950" b="0">
                <a:solidFill>
                  <a:srgbClr val="BF9A50"/>
                </a:solidFill>
                <a:latin typeface="Calibri"/>
                <a:ea typeface="Calibri"/>
                <a:cs typeface="Calibri"/>
              </a:rPr>
              <a:t>01</a:t>
            </a:r>
          </a:p>
        </p:txBody>
      </p:sp>
      <p:sp>
        <p:nvSpPr>
          <p:cNvPr id="7" name="Less preparation">
            <a:extLst xmlns:a="http://schemas.openxmlformats.org/drawingml/2006/main">
              <a:ext uri="{FF2B5EF4-FFF2-40B4-BE49-F238E27FC236}">
                <a16:creationId xmlns:a16="http://schemas.microsoft.com/office/drawing/2014/main" id="{946E54F7-0664-4B8D-89F5-C09B18328E67}"/>
              </a:ext>
            </a:extLst>
          </p:cNvPr>
          <p:cNvSpPr>
            <a:spLocks xmlns:a="http://schemas.openxmlformats.org/drawingml/2006/main" noGrp="1"/>
          </p:cNvSpPr>
          <p:nvPr/>
        </p:nvSpPr>
        <p:spPr>
          <a:xfrm xmlns:a="http://schemas.openxmlformats.org/drawingml/2006/main">
            <a:off x="609600" y="35147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73F48"/>
                </a:solidFill>
                <a:latin typeface="Calibri"/>
                <a:ea typeface="Calibri"/>
                <a:cs typeface="Calibri"/>
              </a:defRPr>
            </a:defPPr>
            <a:lvl1pPr>
              <a:defRPr sz="2250" b="1">
                <a:solidFill>
                  <a:srgbClr val="073F48"/>
                </a:solidFill>
                <a:latin typeface="Calibri"/>
                <a:ea typeface="Calibri"/>
                <a:cs typeface="Calibri"/>
              </a:defRPr>
            </a:lvl1pPr>
            <a:lvl2pPr>
              <a:defRPr sz="2250" b="1">
                <a:solidFill>
                  <a:srgbClr val="073F48"/>
                </a:solidFill>
                <a:latin typeface="Calibri"/>
                <a:ea typeface="Calibri"/>
                <a:cs typeface="Calibri"/>
              </a:defRPr>
            </a:lvl2pPr>
            <a:lvl3pPr>
              <a:defRPr sz="2250" b="1">
                <a:solidFill>
                  <a:srgbClr val="073F48"/>
                </a:solidFill>
                <a:latin typeface="Calibri"/>
                <a:ea typeface="Calibri"/>
                <a:cs typeface="Calibri"/>
              </a:defRPr>
            </a:lvl3pPr>
            <a:lvl4pPr>
              <a:defRPr sz="2250" b="1">
                <a:solidFill>
                  <a:srgbClr val="073F48"/>
                </a:solidFill>
                <a:latin typeface="Calibri"/>
                <a:ea typeface="Calibri"/>
                <a:cs typeface="Calibri"/>
              </a:defRPr>
            </a:lvl4pPr>
            <a:lvl5pPr>
              <a:defRPr sz="2250" b="1">
                <a:solidFill>
                  <a:srgbClr val="073F48"/>
                </a:solidFill>
                <a:latin typeface="Calibri"/>
                <a:ea typeface="Calibri"/>
                <a:cs typeface="Calibri"/>
              </a:defRPr>
            </a:lvl5pPr>
            <a:lvl6pPr>
              <a:defRPr sz="2250" b="1">
                <a:solidFill>
                  <a:srgbClr val="073F48"/>
                </a:solidFill>
                <a:latin typeface="Calibri"/>
                <a:ea typeface="Calibri"/>
                <a:cs typeface="Calibri"/>
              </a:defRPr>
            </a:lvl6pPr>
            <a:lvl7pPr>
              <a:defRPr sz="2250" b="1">
                <a:solidFill>
                  <a:srgbClr val="073F48"/>
                </a:solidFill>
                <a:latin typeface="Calibri"/>
                <a:ea typeface="Calibri"/>
                <a:cs typeface="Calibri"/>
              </a:defRPr>
            </a:lvl7pPr>
            <a:lvl8pPr>
              <a:defRPr sz="2250" b="1">
                <a:solidFill>
                  <a:srgbClr val="073F48"/>
                </a:solidFill>
                <a:latin typeface="Calibri"/>
                <a:ea typeface="Calibri"/>
                <a:cs typeface="Calibri"/>
              </a:defRPr>
            </a:lvl8pPr>
            <a:lvl9pPr>
              <a:defRPr sz="2250" b="1">
                <a:solidFill>
                  <a:srgbClr val="073F48"/>
                </a:solidFill>
                <a:latin typeface="Calibri"/>
                <a:ea typeface="Calibri"/>
                <a:cs typeface="Calibri"/>
              </a:defRPr>
            </a:lvl9pPr>
          </a:lstStyle>
          <a:p xmlns:a="http://schemas.openxmlformats.org/drawingml/2006/main">
            <a:pPr>
              <a:defRPr sz="2250" b="1">
                <a:solidFill>
                  <a:srgbClr val="073F48"/>
                </a:solidFill>
                <a:latin typeface="Calibri"/>
                <a:ea typeface="Calibri"/>
                <a:cs typeface="Calibri"/>
              </a:defRPr>
            </a:pPr>
            <a:r>
              <a:rPr sz="2250" b="1">
                <a:solidFill>
                  <a:srgbClr val="073F48"/>
                </a:solidFill>
                <a:latin typeface="Calibri"/>
                <a:ea typeface="Calibri"/>
                <a:cs typeface="Calibri"/>
              </a:rPr>
              <a:t>Less preparation</a:t>
            </a:r>
          </a:p>
        </p:txBody>
      </p:sp>
      <p:sp>
        <p:nvSpPr>
          <p:cNvPr id="8" name="A patch format avoids mixing powders or swall">
            <a:extLst xmlns:a="http://schemas.openxmlformats.org/drawingml/2006/main">
              <a:ext uri="{FF2B5EF4-FFF2-40B4-BE49-F238E27FC236}">
                <a16:creationId xmlns:a16="http://schemas.microsoft.com/office/drawing/2014/main" id="{31A656C3-D1D8-4267-BCD8-7FB2063FBEC8}"/>
              </a:ext>
            </a:extLst>
          </p:cNvPr>
          <p:cNvSpPr>
            <a:spLocks xmlns:a="http://schemas.openxmlformats.org/drawingml/2006/main" noGrp="1"/>
          </p:cNvSpPr>
          <p:nvPr/>
        </p:nvSpPr>
        <p:spPr>
          <a:xfrm xmlns:a="http://schemas.openxmlformats.org/drawingml/2006/main">
            <a:off x="609600" y="42386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67371"/>
                </a:solidFill>
                <a:latin typeface="Calibri"/>
                <a:ea typeface="Calibri"/>
                <a:cs typeface="Calibri"/>
              </a:defRPr>
            </a:defPPr>
            <a:lvl1pPr>
              <a:defRPr sz="1950" b="0">
                <a:solidFill>
                  <a:srgbClr val="567371"/>
                </a:solidFill>
                <a:latin typeface="Calibri"/>
                <a:ea typeface="Calibri"/>
                <a:cs typeface="Calibri"/>
              </a:defRPr>
            </a:lvl1pPr>
            <a:lvl2pPr>
              <a:defRPr sz="1950" b="0">
                <a:solidFill>
                  <a:srgbClr val="567371"/>
                </a:solidFill>
                <a:latin typeface="Calibri"/>
                <a:ea typeface="Calibri"/>
                <a:cs typeface="Calibri"/>
              </a:defRPr>
            </a:lvl2pPr>
            <a:lvl3pPr>
              <a:defRPr sz="1950" b="0">
                <a:solidFill>
                  <a:srgbClr val="567371"/>
                </a:solidFill>
                <a:latin typeface="Calibri"/>
                <a:ea typeface="Calibri"/>
                <a:cs typeface="Calibri"/>
              </a:defRPr>
            </a:lvl3pPr>
            <a:lvl4pPr>
              <a:defRPr sz="1950" b="0">
                <a:solidFill>
                  <a:srgbClr val="567371"/>
                </a:solidFill>
                <a:latin typeface="Calibri"/>
                <a:ea typeface="Calibri"/>
                <a:cs typeface="Calibri"/>
              </a:defRPr>
            </a:lvl4pPr>
            <a:lvl5pPr>
              <a:defRPr sz="1950" b="0">
                <a:solidFill>
                  <a:srgbClr val="567371"/>
                </a:solidFill>
                <a:latin typeface="Calibri"/>
                <a:ea typeface="Calibri"/>
                <a:cs typeface="Calibri"/>
              </a:defRPr>
            </a:lvl5pPr>
            <a:lvl6pPr>
              <a:defRPr sz="1950" b="0">
                <a:solidFill>
                  <a:srgbClr val="567371"/>
                </a:solidFill>
                <a:latin typeface="Calibri"/>
                <a:ea typeface="Calibri"/>
                <a:cs typeface="Calibri"/>
              </a:defRPr>
            </a:lvl6pPr>
            <a:lvl7pPr>
              <a:defRPr sz="1950" b="0">
                <a:solidFill>
                  <a:srgbClr val="567371"/>
                </a:solidFill>
                <a:latin typeface="Calibri"/>
                <a:ea typeface="Calibri"/>
                <a:cs typeface="Calibri"/>
              </a:defRPr>
            </a:lvl7pPr>
            <a:lvl8pPr>
              <a:defRPr sz="1950" b="0">
                <a:solidFill>
                  <a:srgbClr val="567371"/>
                </a:solidFill>
                <a:latin typeface="Calibri"/>
                <a:ea typeface="Calibri"/>
                <a:cs typeface="Calibri"/>
              </a:defRPr>
            </a:lvl8pPr>
            <a:lvl9pPr>
              <a:defRPr sz="1950" b="0">
                <a:solidFill>
                  <a:srgbClr val="567371"/>
                </a:solidFill>
                <a:latin typeface="Calibri"/>
                <a:ea typeface="Calibri"/>
                <a:cs typeface="Calibri"/>
              </a:defRPr>
            </a:lvl9pPr>
          </a:lstStyle>
          <a:p xmlns:a="http://schemas.openxmlformats.org/drawingml/2006/main">
            <a:pPr>
              <a:defRPr sz="1950" b="0">
                <a:solidFill>
                  <a:srgbClr val="567371"/>
                </a:solidFill>
                <a:latin typeface="Calibri"/>
                <a:ea typeface="Calibri"/>
                <a:cs typeface="Calibri"/>
              </a:defRPr>
            </a:pPr>
            <a:r>
              <a:rPr sz="1950" b="0">
                <a:solidFill>
                  <a:srgbClr val="567371"/>
                </a:solidFill>
                <a:latin typeface="Calibri"/>
                <a:ea typeface="Calibri"/>
                <a:cs typeface="Calibri"/>
              </a:rPr>
              <a:t>A patch format avoids mixing powders or swallowing pills.</a:t>
            </a:r>
          </a:p>
        </p:txBody>
      </p:sp>
      <p:sp>
        <p:nvSpPr>
          <p:cNvPr id="9" name="02">
            <a:extLst xmlns:a="http://schemas.openxmlformats.org/drawingml/2006/main">
              <a:ext uri="{FF2B5EF4-FFF2-40B4-BE49-F238E27FC236}">
                <a16:creationId xmlns:a16="http://schemas.microsoft.com/office/drawing/2014/main" id="{E3F2BA2D-B5E5-4989-832E-DB9B3B39E873}"/>
              </a:ext>
            </a:extLst>
          </p:cNvPr>
          <p:cNvSpPr>
            <a:spLocks xmlns:a="http://schemas.openxmlformats.org/drawingml/2006/main" noGrp="1"/>
          </p:cNvSpPr>
          <p:nvPr/>
        </p:nvSpPr>
        <p:spPr>
          <a:xfrm xmlns:a="http://schemas.openxmlformats.org/drawingml/2006/main">
            <a:off x="4324350" y="28575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F9A50"/>
                </a:solidFill>
                <a:latin typeface="Calibri"/>
                <a:ea typeface="Calibri"/>
                <a:cs typeface="Calibri"/>
              </a:defRPr>
            </a:defPPr>
            <a:lvl1pPr>
              <a:defRPr sz="1950" b="0">
                <a:solidFill>
                  <a:srgbClr val="BF9A50"/>
                </a:solidFill>
                <a:latin typeface="Calibri"/>
                <a:ea typeface="Calibri"/>
                <a:cs typeface="Calibri"/>
              </a:defRPr>
            </a:lvl1pPr>
            <a:lvl2pPr>
              <a:defRPr sz="1950" b="0">
                <a:solidFill>
                  <a:srgbClr val="BF9A50"/>
                </a:solidFill>
                <a:latin typeface="Calibri"/>
                <a:ea typeface="Calibri"/>
                <a:cs typeface="Calibri"/>
              </a:defRPr>
            </a:lvl2pPr>
            <a:lvl3pPr>
              <a:defRPr sz="1950" b="0">
                <a:solidFill>
                  <a:srgbClr val="BF9A50"/>
                </a:solidFill>
                <a:latin typeface="Calibri"/>
                <a:ea typeface="Calibri"/>
                <a:cs typeface="Calibri"/>
              </a:defRPr>
            </a:lvl3pPr>
            <a:lvl4pPr>
              <a:defRPr sz="1950" b="0">
                <a:solidFill>
                  <a:srgbClr val="BF9A50"/>
                </a:solidFill>
                <a:latin typeface="Calibri"/>
                <a:ea typeface="Calibri"/>
                <a:cs typeface="Calibri"/>
              </a:defRPr>
            </a:lvl4pPr>
            <a:lvl5pPr>
              <a:defRPr sz="1950" b="0">
                <a:solidFill>
                  <a:srgbClr val="BF9A50"/>
                </a:solidFill>
                <a:latin typeface="Calibri"/>
                <a:ea typeface="Calibri"/>
                <a:cs typeface="Calibri"/>
              </a:defRPr>
            </a:lvl5pPr>
            <a:lvl6pPr>
              <a:defRPr sz="1950" b="0">
                <a:solidFill>
                  <a:srgbClr val="BF9A50"/>
                </a:solidFill>
                <a:latin typeface="Calibri"/>
                <a:ea typeface="Calibri"/>
                <a:cs typeface="Calibri"/>
              </a:defRPr>
            </a:lvl6pPr>
            <a:lvl7pPr>
              <a:defRPr sz="1950" b="0">
                <a:solidFill>
                  <a:srgbClr val="BF9A50"/>
                </a:solidFill>
                <a:latin typeface="Calibri"/>
                <a:ea typeface="Calibri"/>
                <a:cs typeface="Calibri"/>
              </a:defRPr>
            </a:lvl7pPr>
            <a:lvl8pPr>
              <a:defRPr sz="1950" b="0">
                <a:solidFill>
                  <a:srgbClr val="BF9A50"/>
                </a:solidFill>
                <a:latin typeface="Calibri"/>
                <a:ea typeface="Calibri"/>
                <a:cs typeface="Calibri"/>
              </a:defRPr>
            </a:lvl8pPr>
            <a:lvl9pPr>
              <a:defRPr sz="1950" b="0">
                <a:solidFill>
                  <a:srgbClr val="BF9A50"/>
                </a:solidFill>
                <a:latin typeface="Calibri"/>
                <a:ea typeface="Calibri"/>
                <a:cs typeface="Calibri"/>
              </a:defRPr>
            </a:lvl9pPr>
          </a:lstStyle>
          <a:p xmlns:a="http://schemas.openxmlformats.org/drawingml/2006/main">
            <a:pPr>
              <a:defRPr sz="1950" b="0">
                <a:solidFill>
                  <a:srgbClr val="BF9A50"/>
                </a:solidFill>
                <a:latin typeface="Calibri"/>
                <a:ea typeface="Calibri"/>
                <a:cs typeface="Calibri"/>
              </a:defRPr>
            </a:pPr>
            <a:r>
              <a:rPr sz="1950" b="0">
                <a:solidFill>
                  <a:srgbClr val="BF9A50"/>
                </a:solidFill>
                <a:latin typeface="Calibri"/>
                <a:ea typeface="Calibri"/>
                <a:cs typeface="Calibri"/>
              </a:rPr>
              <a:t>02</a:t>
            </a:r>
          </a:p>
        </p:txBody>
      </p:sp>
      <p:sp>
        <p:nvSpPr>
          <p:cNvPr id="10" name="A repeatable routine">
            <a:extLst xmlns:a="http://schemas.openxmlformats.org/drawingml/2006/main">
              <a:ext uri="{FF2B5EF4-FFF2-40B4-BE49-F238E27FC236}">
                <a16:creationId xmlns:a16="http://schemas.microsoft.com/office/drawing/2014/main" id="{6C714584-271F-4963-B4A5-2C7D90023B9D}"/>
              </a:ext>
            </a:extLst>
          </p:cNvPr>
          <p:cNvSpPr>
            <a:spLocks xmlns:a="http://schemas.openxmlformats.org/drawingml/2006/main" noGrp="1"/>
          </p:cNvSpPr>
          <p:nvPr/>
        </p:nvSpPr>
        <p:spPr>
          <a:xfrm xmlns:a="http://schemas.openxmlformats.org/drawingml/2006/main">
            <a:off x="4324350" y="35147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73F48"/>
                </a:solidFill>
                <a:latin typeface="Calibri"/>
                <a:ea typeface="Calibri"/>
                <a:cs typeface="Calibri"/>
              </a:defRPr>
            </a:defPPr>
            <a:lvl1pPr>
              <a:defRPr sz="2250" b="1">
                <a:solidFill>
                  <a:srgbClr val="073F48"/>
                </a:solidFill>
                <a:latin typeface="Calibri"/>
                <a:ea typeface="Calibri"/>
                <a:cs typeface="Calibri"/>
              </a:defRPr>
            </a:lvl1pPr>
            <a:lvl2pPr>
              <a:defRPr sz="2250" b="1">
                <a:solidFill>
                  <a:srgbClr val="073F48"/>
                </a:solidFill>
                <a:latin typeface="Calibri"/>
                <a:ea typeface="Calibri"/>
                <a:cs typeface="Calibri"/>
              </a:defRPr>
            </a:lvl2pPr>
            <a:lvl3pPr>
              <a:defRPr sz="2250" b="1">
                <a:solidFill>
                  <a:srgbClr val="073F48"/>
                </a:solidFill>
                <a:latin typeface="Calibri"/>
                <a:ea typeface="Calibri"/>
                <a:cs typeface="Calibri"/>
              </a:defRPr>
            </a:lvl3pPr>
            <a:lvl4pPr>
              <a:defRPr sz="2250" b="1">
                <a:solidFill>
                  <a:srgbClr val="073F48"/>
                </a:solidFill>
                <a:latin typeface="Calibri"/>
                <a:ea typeface="Calibri"/>
                <a:cs typeface="Calibri"/>
              </a:defRPr>
            </a:lvl4pPr>
            <a:lvl5pPr>
              <a:defRPr sz="2250" b="1">
                <a:solidFill>
                  <a:srgbClr val="073F48"/>
                </a:solidFill>
                <a:latin typeface="Calibri"/>
                <a:ea typeface="Calibri"/>
                <a:cs typeface="Calibri"/>
              </a:defRPr>
            </a:lvl5pPr>
            <a:lvl6pPr>
              <a:defRPr sz="2250" b="1">
                <a:solidFill>
                  <a:srgbClr val="073F48"/>
                </a:solidFill>
                <a:latin typeface="Calibri"/>
                <a:ea typeface="Calibri"/>
                <a:cs typeface="Calibri"/>
              </a:defRPr>
            </a:lvl6pPr>
            <a:lvl7pPr>
              <a:defRPr sz="2250" b="1">
                <a:solidFill>
                  <a:srgbClr val="073F48"/>
                </a:solidFill>
                <a:latin typeface="Calibri"/>
                <a:ea typeface="Calibri"/>
                <a:cs typeface="Calibri"/>
              </a:defRPr>
            </a:lvl7pPr>
            <a:lvl8pPr>
              <a:defRPr sz="2250" b="1">
                <a:solidFill>
                  <a:srgbClr val="073F48"/>
                </a:solidFill>
                <a:latin typeface="Calibri"/>
                <a:ea typeface="Calibri"/>
                <a:cs typeface="Calibri"/>
              </a:defRPr>
            </a:lvl8pPr>
            <a:lvl9pPr>
              <a:defRPr sz="2250" b="1">
                <a:solidFill>
                  <a:srgbClr val="073F48"/>
                </a:solidFill>
                <a:latin typeface="Calibri"/>
                <a:ea typeface="Calibri"/>
                <a:cs typeface="Calibri"/>
              </a:defRPr>
            </a:lvl9pPr>
          </a:lstStyle>
          <a:p xmlns:a="http://schemas.openxmlformats.org/drawingml/2006/main">
            <a:pPr>
              <a:defRPr sz="2250" b="1">
                <a:solidFill>
                  <a:srgbClr val="073F48"/>
                </a:solidFill>
                <a:latin typeface="Calibri"/>
                <a:ea typeface="Calibri"/>
                <a:cs typeface="Calibri"/>
              </a:defRPr>
            </a:pPr>
            <a:r>
              <a:rPr sz="2250" b="1">
                <a:solidFill>
                  <a:srgbClr val="073F48"/>
                </a:solidFill>
                <a:latin typeface="Calibri"/>
                <a:ea typeface="Calibri"/>
                <a:cs typeface="Calibri"/>
              </a:rPr>
              <a:t>A repeatable routine</a:t>
            </a:r>
          </a:p>
        </p:txBody>
      </p:sp>
      <p:sp>
        <p:nvSpPr>
          <p:cNvPr id="11" name="Thirty individually portioned patches support">
            <a:extLst xmlns:a="http://schemas.openxmlformats.org/drawingml/2006/main">
              <a:ext uri="{FF2B5EF4-FFF2-40B4-BE49-F238E27FC236}">
                <a16:creationId xmlns:a16="http://schemas.microsoft.com/office/drawing/2014/main" id="{FC20C6D8-8091-4673-B0A7-079057259F84}"/>
              </a:ext>
            </a:extLst>
          </p:cNvPr>
          <p:cNvSpPr>
            <a:spLocks xmlns:a="http://schemas.openxmlformats.org/drawingml/2006/main" noGrp="1"/>
          </p:cNvSpPr>
          <p:nvPr/>
        </p:nvSpPr>
        <p:spPr>
          <a:xfrm xmlns:a="http://schemas.openxmlformats.org/drawingml/2006/main">
            <a:off x="4324350" y="42386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67371"/>
                </a:solidFill>
                <a:latin typeface="Calibri"/>
                <a:ea typeface="Calibri"/>
                <a:cs typeface="Calibri"/>
              </a:defRPr>
            </a:defPPr>
            <a:lvl1pPr>
              <a:defRPr sz="1950" b="0">
                <a:solidFill>
                  <a:srgbClr val="567371"/>
                </a:solidFill>
                <a:latin typeface="Calibri"/>
                <a:ea typeface="Calibri"/>
                <a:cs typeface="Calibri"/>
              </a:defRPr>
            </a:lvl1pPr>
            <a:lvl2pPr>
              <a:defRPr sz="1950" b="0">
                <a:solidFill>
                  <a:srgbClr val="567371"/>
                </a:solidFill>
                <a:latin typeface="Calibri"/>
                <a:ea typeface="Calibri"/>
                <a:cs typeface="Calibri"/>
              </a:defRPr>
            </a:lvl2pPr>
            <a:lvl3pPr>
              <a:defRPr sz="1950" b="0">
                <a:solidFill>
                  <a:srgbClr val="567371"/>
                </a:solidFill>
                <a:latin typeface="Calibri"/>
                <a:ea typeface="Calibri"/>
                <a:cs typeface="Calibri"/>
              </a:defRPr>
            </a:lvl3pPr>
            <a:lvl4pPr>
              <a:defRPr sz="1950" b="0">
                <a:solidFill>
                  <a:srgbClr val="567371"/>
                </a:solidFill>
                <a:latin typeface="Calibri"/>
                <a:ea typeface="Calibri"/>
                <a:cs typeface="Calibri"/>
              </a:defRPr>
            </a:lvl4pPr>
            <a:lvl5pPr>
              <a:defRPr sz="1950" b="0">
                <a:solidFill>
                  <a:srgbClr val="567371"/>
                </a:solidFill>
                <a:latin typeface="Calibri"/>
                <a:ea typeface="Calibri"/>
                <a:cs typeface="Calibri"/>
              </a:defRPr>
            </a:lvl5pPr>
            <a:lvl6pPr>
              <a:defRPr sz="1950" b="0">
                <a:solidFill>
                  <a:srgbClr val="567371"/>
                </a:solidFill>
                <a:latin typeface="Calibri"/>
                <a:ea typeface="Calibri"/>
                <a:cs typeface="Calibri"/>
              </a:defRPr>
            </a:lvl6pPr>
            <a:lvl7pPr>
              <a:defRPr sz="1950" b="0">
                <a:solidFill>
                  <a:srgbClr val="567371"/>
                </a:solidFill>
                <a:latin typeface="Calibri"/>
                <a:ea typeface="Calibri"/>
                <a:cs typeface="Calibri"/>
              </a:defRPr>
            </a:lvl7pPr>
            <a:lvl8pPr>
              <a:defRPr sz="1950" b="0">
                <a:solidFill>
                  <a:srgbClr val="567371"/>
                </a:solidFill>
                <a:latin typeface="Calibri"/>
                <a:ea typeface="Calibri"/>
                <a:cs typeface="Calibri"/>
              </a:defRPr>
            </a:lvl8pPr>
            <a:lvl9pPr>
              <a:defRPr sz="1950" b="0">
                <a:solidFill>
                  <a:srgbClr val="567371"/>
                </a:solidFill>
                <a:latin typeface="Calibri"/>
                <a:ea typeface="Calibri"/>
                <a:cs typeface="Calibri"/>
              </a:defRPr>
            </a:lvl9pPr>
          </a:lstStyle>
          <a:p xmlns:a="http://schemas.openxmlformats.org/drawingml/2006/main">
            <a:pPr>
              <a:defRPr sz="1950" b="0">
                <a:solidFill>
                  <a:srgbClr val="567371"/>
                </a:solidFill>
                <a:latin typeface="Calibri"/>
                <a:ea typeface="Calibri"/>
                <a:cs typeface="Calibri"/>
              </a:defRPr>
            </a:pPr>
            <a:r>
              <a:rPr sz="1950" b="0">
                <a:solidFill>
                  <a:srgbClr val="567371"/>
                </a:solidFill>
                <a:latin typeface="Calibri"/>
                <a:ea typeface="Calibri"/>
                <a:cs typeface="Calibri"/>
              </a:rPr>
              <a:t>Thirty individually portioned patches support a daily habit.</a:t>
            </a:r>
          </a:p>
        </p:txBody>
      </p:sp>
      <p:sp>
        <p:nvSpPr>
          <p:cNvPr id="12" name="03">
            <a:extLst xmlns:a="http://schemas.openxmlformats.org/drawingml/2006/main">
              <a:ext uri="{FF2B5EF4-FFF2-40B4-BE49-F238E27FC236}">
                <a16:creationId xmlns:a16="http://schemas.microsoft.com/office/drawing/2014/main" id="{10677007-F275-4B7E-A698-9C9FF0185B60}"/>
              </a:ext>
            </a:extLst>
          </p:cNvPr>
          <p:cNvSpPr>
            <a:spLocks xmlns:a="http://schemas.openxmlformats.org/drawingml/2006/main" noGrp="1"/>
          </p:cNvSpPr>
          <p:nvPr/>
        </p:nvSpPr>
        <p:spPr>
          <a:xfrm xmlns:a="http://schemas.openxmlformats.org/drawingml/2006/main">
            <a:off x="8039100" y="28575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F9A50"/>
                </a:solidFill>
                <a:latin typeface="Calibri"/>
                <a:ea typeface="Calibri"/>
                <a:cs typeface="Calibri"/>
              </a:defRPr>
            </a:defPPr>
            <a:lvl1pPr>
              <a:defRPr sz="1950" b="0">
                <a:solidFill>
                  <a:srgbClr val="BF9A50"/>
                </a:solidFill>
                <a:latin typeface="Calibri"/>
                <a:ea typeface="Calibri"/>
                <a:cs typeface="Calibri"/>
              </a:defRPr>
            </a:lvl1pPr>
            <a:lvl2pPr>
              <a:defRPr sz="1950" b="0">
                <a:solidFill>
                  <a:srgbClr val="BF9A50"/>
                </a:solidFill>
                <a:latin typeface="Calibri"/>
                <a:ea typeface="Calibri"/>
                <a:cs typeface="Calibri"/>
              </a:defRPr>
            </a:lvl2pPr>
            <a:lvl3pPr>
              <a:defRPr sz="1950" b="0">
                <a:solidFill>
                  <a:srgbClr val="BF9A50"/>
                </a:solidFill>
                <a:latin typeface="Calibri"/>
                <a:ea typeface="Calibri"/>
                <a:cs typeface="Calibri"/>
              </a:defRPr>
            </a:lvl3pPr>
            <a:lvl4pPr>
              <a:defRPr sz="1950" b="0">
                <a:solidFill>
                  <a:srgbClr val="BF9A50"/>
                </a:solidFill>
                <a:latin typeface="Calibri"/>
                <a:ea typeface="Calibri"/>
                <a:cs typeface="Calibri"/>
              </a:defRPr>
            </a:lvl4pPr>
            <a:lvl5pPr>
              <a:defRPr sz="1950" b="0">
                <a:solidFill>
                  <a:srgbClr val="BF9A50"/>
                </a:solidFill>
                <a:latin typeface="Calibri"/>
                <a:ea typeface="Calibri"/>
                <a:cs typeface="Calibri"/>
              </a:defRPr>
            </a:lvl5pPr>
            <a:lvl6pPr>
              <a:defRPr sz="1950" b="0">
                <a:solidFill>
                  <a:srgbClr val="BF9A50"/>
                </a:solidFill>
                <a:latin typeface="Calibri"/>
                <a:ea typeface="Calibri"/>
                <a:cs typeface="Calibri"/>
              </a:defRPr>
            </a:lvl6pPr>
            <a:lvl7pPr>
              <a:defRPr sz="1950" b="0">
                <a:solidFill>
                  <a:srgbClr val="BF9A50"/>
                </a:solidFill>
                <a:latin typeface="Calibri"/>
                <a:ea typeface="Calibri"/>
                <a:cs typeface="Calibri"/>
              </a:defRPr>
            </a:lvl7pPr>
            <a:lvl8pPr>
              <a:defRPr sz="1950" b="0">
                <a:solidFill>
                  <a:srgbClr val="BF9A50"/>
                </a:solidFill>
                <a:latin typeface="Calibri"/>
                <a:ea typeface="Calibri"/>
                <a:cs typeface="Calibri"/>
              </a:defRPr>
            </a:lvl8pPr>
            <a:lvl9pPr>
              <a:defRPr sz="1950" b="0">
                <a:solidFill>
                  <a:srgbClr val="BF9A50"/>
                </a:solidFill>
                <a:latin typeface="Calibri"/>
                <a:ea typeface="Calibri"/>
                <a:cs typeface="Calibri"/>
              </a:defRPr>
            </a:lvl9pPr>
          </a:lstStyle>
          <a:p xmlns:a="http://schemas.openxmlformats.org/drawingml/2006/main">
            <a:pPr>
              <a:defRPr sz="1950" b="0">
                <a:solidFill>
                  <a:srgbClr val="BF9A50"/>
                </a:solidFill>
                <a:latin typeface="Calibri"/>
                <a:ea typeface="Calibri"/>
                <a:cs typeface="Calibri"/>
              </a:defRPr>
            </a:pPr>
            <a:r>
              <a:rPr sz="1950" b="0">
                <a:solidFill>
                  <a:srgbClr val="BF9A50"/>
                </a:solidFill>
                <a:latin typeface="Calibri"/>
                <a:ea typeface="Calibri"/>
                <a:cs typeface="Calibri"/>
              </a:rPr>
              <a:t>03</a:t>
            </a:r>
          </a:p>
        </p:txBody>
      </p:sp>
      <p:sp>
        <p:nvSpPr>
          <p:cNvPr id="13" name="Room to expand">
            <a:extLst xmlns:a="http://schemas.openxmlformats.org/drawingml/2006/main">
              <a:ext uri="{FF2B5EF4-FFF2-40B4-BE49-F238E27FC236}">
                <a16:creationId xmlns:a16="http://schemas.microsoft.com/office/drawing/2014/main" id="{DCB40683-91CB-4AE1-862B-2CEC18DF3DFA}"/>
              </a:ext>
            </a:extLst>
          </p:cNvPr>
          <p:cNvSpPr>
            <a:spLocks xmlns:a="http://schemas.openxmlformats.org/drawingml/2006/main" noGrp="1"/>
          </p:cNvSpPr>
          <p:nvPr/>
        </p:nvSpPr>
        <p:spPr>
          <a:xfrm xmlns:a="http://schemas.openxmlformats.org/drawingml/2006/main">
            <a:off x="8039100" y="35147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073F48"/>
                </a:solidFill>
                <a:latin typeface="Calibri"/>
                <a:ea typeface="Calibri"/>
                <a:cs typeface="Calibri"/>
              </a:defRPr>
            </a:defPPr>
            <a:lvl1pPr>
              <a:defRPr sz="2250" b="1">
                <a:solidFill>
                  <a:srgbClr val="073F48"/>
                </a:solidFill>
                <a:latin typeface="Calibri"/>
                <a:ea typeface="Calibri"/>
                <a:cs typeface="Calibri"/>
              </a:defRPr>
            </a:lvl1pPr>
            <a:lvl2pPr>
              <a:defRPr sz="2250" b="1">
                <a:solidFill>
                  <a:srgbClr val="073F48"/>
                </a:solidFill>
                <a:latin typeface="Calibri"/>
                <a:ea typeface="Calibri"/>
                <a:cs typeface="Calibri"/>
              </a:defRPr>
            </a:lvl2pPr>
            <a:lvl3pPr>
              <a:defRPr sz="2250" b="1">
                <a:solidFill>
                  <a:srgbClr val="073F48"/>
                </a:solidFill>
                <a:latin typeface="Calibri"/>
                <a:ea typeface="Calibri"/>
                <a:cs typeface="Calibri"/>
              </a:defRPr>
            </a:lvl3pPr>
            <a:lvl4pPr>
              <a:defRPr sz="2250" b="1">
                <a:solidFill>
                  <a:srgbClr val="073F48"/>
                </a:solidFill>
                <a:latin typeface="Calibri"/>
                <a:ea typeface="Calibri"/>
                <a:cs typeface="Calibri"/>
              </a:defRPr>
            </a:lvl4pPr>
            <a:lvl5pPr>
              <a:defRPr sz="2250" b="1">
                <a:solidFill>
                  <a:srgbClr val="073F48"/>
                </a:solidFill>
                <a:latin typeface="Calibri"/>
                <a:ea typeface="Calibri"/>
                <a:cs typeface="Calibri"/>
              </a:defRPr>
            </a:lvl5pPr>
            <a:lvl6pPr>
              <a:defRPr sz="2250" b="1">
                <a:solidFill>
                  <a:srgbClr val="073F48"/>
                </a:solidFill>
                <a:latin typeface="Calibri"/>
                <a:ea typeface="Calibri"/>
                <a:cs typeface="Calibri"/>
              </a:defRPr>
            </a:lvl6pPr>
            <a:lvl7pPr>
              <a:defRPr sz="2250" b="1">
                <a:solidFill>
                  <a:srgbClr val="073F48"/>
                </a:solidFill>
                <a:latin typeface="Calibri"/>
                <a:ea typeface="Calibri"/>
                <a:cs typeface="Calibri"/>
              </a:defRPr>
            </a:lvl7pPr>
            <a:lvl8pPr>
              <a:defRPr sz="2250" b="1">
                <a:solidFill>
                  <a:srgbClr val="073F48"/>
                </a:solidFill>
                <a:latin typeface="Calibri"/>
                <a:ea typeface="Calibri"/>
                <a:cs typeface="Calibri"/>
              </a:defRPr>
            </a:lvl8pPr>
            <a:lvl9pPr>
              <a:defRPr sz="2250" b="1">
                <a:solidFill>
                  <a:srgbClr val="073F48"/>
                </a:solidFill>
                <a:latin typeface="Calibri"/>
                <a:ea typeface="Calibri"/>
                <a:cs typeface="Calibri"/>
              </a:defRPr>
            </a:lvl9pPr>
          </a:lstStyle>
          <a:p xmlns:a="http://schemas.openxmlformats.org/drawingml/2006/main">
            <a:pPr>
              <a:defRPr sz="2250" b="1">
                <a:solidFill>
                  <a:srgbClr val="073F48"/>
                </a:solidFill>
                <a:latin typeface="Calibri"/>
                <a:ea typeface="Calibri"/>
                <a:cs typeface="Calibri"/>
              </a:defRPr>
            </a:pPr>
            <a:r>
              <a:rPr sz="2250" b="1">
                <a:solidFill>
                  <a:srgbClr val="073F48"/>
                </a:solidFill>
                <a:latin typeface="Calibri"/>
                <a:ea typeface="Calibri"/>
                <a:cs typeface="Calibri"/>
              </a:rPr>
              <a:t>Room to expand</a:t>
            </a:r>
          </a:p>
        </p:txBody>
      </p:sp>
      <p:sp>
        <p:nvSpPr>
          <p:cNvPr id="14" name="A familiar format could support products for ">
            <a:extLst xmlns:a="http://schemas.openxmlformats.org/drawingml/2006/main">
              <a:ext uri="{FF2B5EF4-FFF2-40B4-BE49-F238E27FC236}">
                <a16:creationId xmlns:a16="http://schemas.microsoft.com/office/drawing/2014/main" id="{BB7DF706-03D9-43A5-9638-E47BEEA1385C}"/>
              </a:ext>
            </a:extLst>
          </p:cNvPr>
          <p:cNvSpPr>
            <a:spLocks xmlns:a="http://schemas.openxmlformats.org/drawingml/2006/main" noGrp="1"/>
          </p:cNvSpPr>
          <p:nvPr/>
        </p:nvSpPr>
        <p:spPr>
          <a:xfrm xmlns:a="http://schemas.openxmlformats.org/drawingml/2006/main">
            <a:off x="8039100" y="42386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67371"/>
                </a:solidFill>
                <a:latin typeface="Calibri"/>
                <a:ea typeface="Calibri"/>
                <a:cs typeface="Calibri"/>
              </a:defRPr>
            </a:defPPr>
            <a:lvl1pPr>
              <a:defRPr sz="1950" b="0">
                <a:solidFill>
                  <a:srgbClr val="567371"/>
                </a:solidFill>
                <a:latin typeface="Calibri"/>
                <a:ea typeface="Calibri"/>
                <a:cs typeface="Calibri"/>
              </a:defRPr>
            </a:lvl1pPr>
            <a:lvl2pPr>
              <a:defRPr sz="1950" b="0">
                <a:solidFill>
                  <a:srgbClr val="567371"/>
                </a:solidFill>
                <a:latin typeface="Calibri"/>
                <a:ea typeface="Calibri"/>
                <a:cs typeface="Calibri"/>
              </a:defRPr>
            </a:lvl2pPr>
            <a:lvl3pPr>
              <a:defRPr sz="1950" b="0">
                <a:solidFill>
                  <a:srgbClr val="567371"/>
                </a:solidFill>
                <a:latin typeface="Calibri"/>
                <a:ea typeface="Calibri"/>
                <a:cs typeface="Calibri"/>
              </a:defRPr>
            </a:lvl3pPr>
            <a:lvl4pPr>
              <a:defRPr sz="1950" b="0">
                <a:solidFill>
                  <a:srgbClr val="567371"/>
                </a:solidFill>
                <a:latin typeface="Calibri"/>
                <a:ea typeface="Calibri"/>
                <a:cs typeface="Calibri"/>
              </a:defRPr>
            </a:lvl4pPr>
            <a:lvl5pPr>
              <a:defRPr sz="1950" b="0">
                <a:solidFill>
                  <a:srgbClr val="567371"/>
                </a:solidFill>
                <a:latin typeface="Calibri"/>
                <a:ea typeface="Calibri"/>
                <a:cs typeface="Calibri"/>
              </a:defRPr>
            </a:lvl5pPr>
            <a:lvl6pPr>
              <a:defRPr sz="1950" b="0">
                <a:solidFill>
                  <a:srgbClr val="567371"/>
                </a:solidFill>
                <a:latin typeface="Calibri"/>
                <a:ea typeface="Calibri"/>
                <a:cs typeface="Calibri"/>
              </a:defRPr>
            </a:lvl6pPr>
            <a:lvl7pPr>
              <a:defRPr sz="1950" b="0">
                <a:solidFill>
                  <a:srgbClr val="567371"/>
                </a:solidFill>
                <a:latin typeface="Calibri"/>
                <a:ea typeface="Calibri"/>
                <a:cs typeface="Calibri"/>
              </a:defRPr>
            </a:lvl7pPr>
            <a:lvl8pPr>
              <a:defRPr sz="1950" b="0">
                <a:solidFill>
                  <a:srgbClr val="567371"/>
                </a:solidFill>
                <a:latin typeface="Calibri"/>
                <a:ea typeface="Calibri"/>
                <a:cs typeface="Calibri"/>
              </a:defRPr>
            </a:lvl8pPr>
            <a:lvl9pPr>
              <a:defRPr sz="1950" b="0">
                <a:solidFill>
                  <a:srgbClr val="567371"/>
                </a:solidFill>
                <a:latin typeface="Calibri"/>
                <a:ea typeface="Calibri"/>
                <a:cs typeface="Calibri"/>
              </a:defRPr>
            </a:lvl9pPr>
          </a:lstStyle>
          <a:p xmlns:a="http://schemas.openxmlformats.org/drawingml/2006/main">
            <a:pPr>
              <a:defRPr sz="1950" b="0">
                <a:solidFill>
                  <a:srgbClr val="567371"/>
                </a:solidFill>
                <a:latin typeface="Calibri"/>
                <a:ea typeface="Calibri"/>
                <a:cs typeface="Calibri"/>
              </a:defRPr>
            </a:pPr>
            <a:r>
              <a:rPr sz="1950" b="0">
                <a:solidFill>
                  <a:srgbClr val="567371"/>
                </a:solidFill>
                <a:latin typeface="Calibri"/>
                <a:ea typeface="Calibri"/>
                <a:cs typeface="Calibri"/>
              </a:rPr>
              <a:t>A familiar format could support products for other wellness needs.</a:t>
            </a:r>
          </a:p>
        </p:txBody>
      </p:sp>
      <p:sp>
        <p:nvSpPr>
          <p:cNvPr id="15" name="Commercial hypothesis: convenience and repeat">
            <a:extLst xmlns:a="http://schemas.openxmlformats.org/drawingml/2006/main">
              <a:ext uri="{FF2B5EF4-FFF2-40B4-BE49-F238E27FC236}">
                <a16:creationId xmlns:a16="http://schemas.microsoft.com/office/drawing/2014/main" id="{44924359-FD1C-4805-953A-28C6CF8C9423}"/>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7371"/>
                </a:solidFill>
                <a:latin typeface="Calibri"/>
                <a:ea typeface="Calibri"/>
                <a:cs typeface="Calibri"/>
              </a:defRPr>
            </a:defPPr>
            <a:lvl1pPr>
              <a:defRPr sz="1275" b="0">
                <a:solidFill>
                  <a:srgbClr val="567371"/>
                </a:solidFill>
                <a:latin typeface="Calibri"/>
                <a:ea typeface="Calibri"/>
                <a:cs typeface="Calibri"/>
              </a:defRPr>
            </a:lvl1pPr>
            <a:lvl2pPr>
              <a:defRPr sz="1275" b="0">
                <a:solidFill>
                  <a:srgbClr val="567371"/>
                </a:solidFill>
                <a:latin typeface="Calibri"/>
                <a:ea typeface="Calibri"/>
                <a:cs typeface="Calibri"/>
              </a:defRPr>
            </a:lvl2pPr>
            <a:lvl3pPr>
              <a:defRPr sz="1275" b="0">
                <a:solidFill>
                  <a:srgbClr val="567371"/>
                </a:solidFill>
                <a:latin typeface="Calibri"/>
                <a:ea typeface="Calibri"/>
                <a:cs typeface="Calibri"/>
              </a:defRPr>
            </a:lvl3pPr>
            <a:lvl4pPr>
              <a:defRPr sz="1275" b="0">
                <a:solidFill>
                  <a:srgbClr val="567371"/>
                </a:solidFill>
                <a:latin typeface="Calibri"/>
                <a:ea typeface="Calibri"/>
                <a:cs typeface="Calibri"/>
              </a:defRPr>
            </a:lvl4pPr>
            <a:lvl5pPr>
              <a:defRPr sz="1275" b="0">
                <a:solidFill>
                  <a:srgbClr val="567371"/>
                </a:solidFill>
                <a:latin typeface="Calibri"/>
                <a:ea typeface="Calibri"/>
                <a:cs typeface="Calibri"/>
              </a:defRPr>
            </a:lvl5pPr>
            <a:lvl6pPr>
              <a:defRPr sz="1275" b="0">
                <a:solidFill>
                  <a:srgbClr val="567371"/>
                </a:solidFill>
                <a:latin typeface="Calibri"/>
                <a:ea typeface="Calibri"/>
                <a:cs typeface="Calibri"/>
              </a:defRPr>
            </a:lvl6pPr>
            <a:lvl7pPr>
              <a:defRPr sz="1275" b="0">
                <a:solidFill>
                  <a:srgbClr val="567371"/>
                </a:solidFill>
                <a:latin typeface="Calibri"/>
                <a:ea typeface="Calibri"/>
                <a:cs typeface="Calibri"/>
              </a:defRPr>
            </a:lvl7pPr>
            <a:lvl8pPr>
              <a:defRPr sz="1275" b="0">
                <a:solidFill>
                  <a:srgbClr val="567371"/>
                </a:solidFill>
                <a:latin typeface="Calibri"/>
                <a:ea typeface="Calibri"/>
                <a:cs typeface="Calibri"/>
              </a:defRPr>
            </a:lvl8pPr>
            <a:lvl9pPr>
              <a:defRPr sz="1275" b="0">
                <a:solidFill>
                  <a:srgbClr val="567371"/>
                </a:solidFill>
                <a:latin typeface="Calibri"/>
                <a:ea typeface="Calibri"/>
                <a:cs typeface="Calibri"/>
              </a:defRPr>
            </a:lvl9pPr>
          </a:lstStyle>
          <a:p xmlns:a="http://schemas.openxmlformats.org/drawingml/2006/main">
            <a:pPr>
              <a:defRPr sz="1275" b="0">
                <a:solidFill>
                  <a:srgbClr val="567371"/>
                </a:solidFill>
                <a:latin typeface="Calibri"/>
                <a:ea typeface="Calibri"/>
                <a:cs typeface="Calibri"/>
              </a:defRPr>
            </a:pPr>
            <a:r>
              <a:rPr sz="1275" b="0">
                <a:solidFill>
                  <a:srgbClr val="567371"/>
                </a:solidFill>
                <a:latin typeface="Calibri"/>
                <a:ea typeface="Calibri"/>
                <a:cs typeface="Calibri"/>
              </a:rPr>
              <a:t>Commercial hypothesis: convenience and repeat use can support subscription adoption.</a:t>
            </a:r>
          </a:p>
        </p:txBody>
      </p:sp>
    </p:spTree>
    <p:extLst>
      <p:ext uri="{BB962C8B-B14F-4D97-AF65-F5344CB8AC3E}">
        <p14:creationId xmlns:p14="http://schemas.microsoft.com/office/powerpoint/2010/main" val="1079020822"/>
      </p:ext>
    </p:extLst>
  </p:cSld>
</p:sld>
</file>

<file path=ppt/slides/slide3.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 name="The product: Daily Wellness Patch">
            <a:extLst xmlns:a="http://schemas.openxmlformats.org/drawingml/2006/main">
              <a:ext uri="{FF2B5EF4-FFF2-40B4-BE49-F238E27FC236}">
                <a16:creationId xmlns:a16="http://schemas.microsoft.com/office/drawing/2014/main" id="{568B577D-C835-4681-A2E2-9FB4FD953714}"/>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73F48"/>
                </a:solidFill>
                <a:latin typeface="Calibri"/>
                <a:ea typeface="Calibri"/>
                <a:cs typeface="Calibri"/>
              </a:defRPr>
            </a:defPPr>
            <a:lvl1pPr>
              <a:defRPr sz="3300" b="0">
                <a:solidFill>
                  <a:srgbClr val="073F48"/>
                </a:solidFill>
                <a:latin typeface="Calibri"/>
                <a:ea typeface="Calibri"/>
                <a:cs typeface="Calibri"/>
              </a:defRPr>
            </a:lvl1pPr>
            <a:lvl2pPr>
              <a:defRPr sz="3300" b="0">
                <a:solidFill>
                  <a:srgbClr val="073F48"/>
                </a:solidFill>
                <a:latin typeface="Calibri"/>
                <a:ea typeface="Calibri"/>
                <a:cs typeface="Calibri"/>
              </a:defRPr>
            </a:lvl2pPr>
            <a:lvl3pPr>
              <a:defRPr sz="3300" b="0">
                <a:solidFill>
                  <a:srgbClr val="073F48"/>
                </a:solidFill>
                <a:latin typeface="Calibri"/>
                <a:ea typeface="Calibri"/>
                <a:cs typeface="Calibri"/>
              </a:defRPr>
            </a:lvl3pPr>
            <a:lvl4pPr>
              <a:defRPr sz="3300" b="0">
                <a:solidFill>
                  <a:srgbClr val="073F48"/>
                </a:solidFill>
                <a:latin typeface="Calibri"/>
                <a:ea typeface="Calibri"/>
                <a:cs typeface="Calibri"/>
              </a:defRPr>
            </a:lvl4pPr>
            <a:lvl5pPr>
              <a:defRPr sz="3300" b="0">
                <a:solidFill>
                  <a:srgbClr val="073F48"/>
                </a:solidFill>
                <a:latin typeface="Calibri"/>
                <a:ea typeface="Calibri"/>
                <a:cs typeface="Calibri"/>
              </a:defRPr>
            </a:lvl5pPr>
            <a:lvl6pPr>
              <a:defRPr sz="3300" b="0">
                <a:solidFill>
                  <a:srgbClr val="073F48"/>
                </a:solidFill>
                <a:latin typeface="Calibri"/>
                <a:ea typeface="Calibri"/>
                <a:cs typeface="Calibri"/>
              </a:defRPr>
            </a:lvl6pPr>
            <a:lvl7pPr>
              <a:defRPr sz="3300" b="0">
                <a:solidFill>
                  <a:srgbClr val="073F48"/>
                </a:solidFill>
                <a:latin typeface="Calibri"/>
                <a:ea typeface="Calibri"/>
                <a:cs typeface="Calibri"/>
              </a:defRPr>
            </a:lvl7pPr>
            <a:lvl8pPr>
              <a:defRPr sz="3300" b="0">
                <a:solidFill>
                  <a:srgbClr val="073F48"/>
                </a:solidFill>
                <a:latin typeface="Calibri"/>
                <a:ea typeface="Calibri"/>
                <a:cs typeface="Calibri"/>
              </a:defRPr>
            </a:lvl8pPr>
            <a:lvl9pPr>
              <a:defRPr sz="3300" b="0">
                <a:solidFill>
                  <a:srgbClr val="073F48"/>
                </a:solidFill>
                <a:latin typeface="Calibri"/>
                <a:ea typeface="Calibri"/>
                <a:cs typeface="Calibri"/>
              </a:defRPr>
            </a:lvl9pPr>
          </a:lstStyle>
          <a:p xmlns:a="http://schemas.openxmlformats.org/drawingml/2006/main">
            <a:pPr>
              <a:defRPr sz="3300" b="0">
                <a:solidFill>
                  <a:srgbClr val="073F48"/>
                </a:solidFill>
                <a:latin typeface="Calibri"/>
                <a:ea typeface="Calibri"/>
                <a:cs typeface="Calibri"/>
              </a:defRPr>
            </a:pPr>
            <a:r>
              <a:rPr sz="3300" b="0">
                <a:solidFill>
                  <a:srgbClr val="073F48"/>
                </a:solidFill>
                <a:latin typeface="Calibri"/>
                <a:ea typeface="Calibri"/>
                <a:cs typeface="Calibri"/>
              </a:rPr>
              <a:t>The product: Daily Wellness Patch</a:t>
            </a:r>
          </a:p>
        </p:txBody>
      </p:sp>
      <p:sp>
        <p:nvSpPr>
          <p:cNvPr id="3" name="AURA PATCH  /  CONFIDENTIAL  /  OCTOBER 2026">
            <a:extLst xmlns:a="http://schemas.openxmlformats.org/drawingml/2006/main">
              <a:ext uri="{FF2B5EF4-FFF2-40B4-BE49-F238E27FC236}">
                <a16:creationId xmlns:a16="http://schemas.microsoft.com/office/drawing/2014/main" id="{4DA7D11F-341F-43D7-BB2B-F0FFCA616ADF}"/>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567371"/>
                </a:solidFill>
                <a:latin typeface="Calibri"/>
                <a:ea typeface="Calibri"/>
                <a:cs typeface="Calibri"/>
              </a:defRPr>
            </a:defPPr>
            <a:lvl1pPr>
              <a:defRPr sz="900" b="0">
                <a:solidFill>
                  <a:srgbClr val="567371"/>
                </a:solidFill>
                <a:latin typeface="Calibri"/>
                <a:ea typeface="Calibri"/>
                <a:cs typeface="Calibri"/>
              </a:defRPr>
            </a:lvl1pPr>
            <a:lvl2pPr>
              <a:defRPr sz="900" b="0">
                <a:solidFill>
                  <a:srgbClr val="567371"/>
                </a:solidFill>
                <a:latin typeface="Calibri"/>
                <a:ea typeface="Calibri"/>
                <a:cs typeface="Calibri"/>
              </a:defRPr>
            </a:lvl2pPr>
            <a:lvl3pPr>
              <a:defRPr sz="900" b="0">
                <a:solidFill>
                  <a:srgbClr val="567371"/>
                </a:solidFill>
                <a:latin typeface="Calibri"/>
                <a:ea typeface="Calibri"/>
                <a:cs typeface="Calibri"/>
              </a:defRPr>
            </a:lvl3pPr>
            <a:lvl4pPr>
              <a:defRPr sz="900" b="0">
                <a:solidFill>
                  <a:srgbClr val="567371"/>
                </a:solidFill>
                <a:latin typeface="Calibri"/>
                <a:ea typeface="Calibri"/>
                <a:cs typeface="Calibri"/>
              </a:defRPr>
            </a:lvl4pPr>
            <a:lvl5pPr>
              <a:defRPr sz="900" b="0">
                <a:solidFill>
                  <a:srgbClr val="567371"/>
                </a:solidFill>
                <a:latin typeface="Calibri"/>
                <a:ea typeface="Calibri"/>
                <a:cs typeface="Calibri"/>
              </a:defRPr>
            </a:lvl5pPr>
            <a:lvl6pPr>
              <a:defRPr sz="900" b="0">
                <a:solidFill>
                  <a:srgbClr val="567371"/>
                </a:solidFill>
                <a:latin typeface="Calibri"/>
                <a:ea typeface="Calibri"/>
                <a:cs typeface="Calibri"/>
              </a:defRPr>
            </a:lvl6pPr>
            <a:lvl7pPr>
              <a:defRPr sz="900" b="0">
                <a:solidFill>
                  <a:srgbClr val="567371"/>
                </a:solidFill>
                <a:latin typeface="Calibri"/>
                <a:ea typeface="Calibri"/>
                <a:cs typeface="Calibri"/>
              </a:defRPr>
            </a:lvl7pPr>
            <a:lvl8pPr>
              <a:defRPr sz="900" b="0">
                <a:solidFill>
                  <a:srgbClr val="567371"/>
                </a:solidFill>
                <a:latin typeface="Calibri"/>
                <a:ea typeface="Calibri"/>
                <a:cs typeface="Calibri"/>
              </a:defRPr>
            </a:lvl8pPr>
            <a:lvl9pPr>
              <a:defRPr sz="900" b="0">
                <a:solidFill>
                  <a:srgbClr val="567371"/>
                </a:solidFill>
                <a:latin typeface="Calibri"/>
                <a:ea typeface="Calibri"/>
                <a:cs typeface="Calibri"/>
              </a:defRPr>
            </a:lvl9pPr>
          </a:lstStyle>
          <a:p xmlns:a="http://schemas.openxmlformats.org/drawingml/2006/main">
            <a:pPr>
              <a:defRPr sz="900" b="0">
                <a:solidFill>
                  <a:srgbClr val="567371"/>
                </a:solidFill>
                <a:latin typeface="Calibri"/>
                <a:ea typeface="Calibri"/>
                <a:cs typeface="Calibri"/>
              </a:defRPr>
            </a:pPr>
            <a:r>
              <a:rPr sz="900" b="0">
                <a:solidFill>
                  <a:srgbClr val="567371"/>
                </a:solidFill>
                <a:latin typeface="Calibri"/>
                <a:ea typeface="Calibri"/>
                <a:cs typeface="Calibri"/>
              </a:rPr>
              <a:t>AURA PATCH  /  CONFIDENTIAL  /  OCTOBER 2026</a:t>
            </a:r>
          </a:p>
        </p:txBody>
      </p:sp>
      <p:sp>
        <p:nvSpPr>
          <p:cNvPr id="4" name="03">
            <a:extLst xmlns:a="http://schemas.openxmlformats.org/drawingml/2006/main">
              <a:ext uri="{FF2B5EF4-FFF2-40B4-BE49-F238E27FC236}">
                <a16:creationId xmlns:a16="http://schemas.microsoft.com/office/drawing/2014/main" id="{8681C882-DFA6-4FF3-A621-3C3307E20E3B}"/>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03</a:t>
            </a:r>
          </a:p>
        </p:txBody>
      </p:sp>
      <p:sp>
        <p:nvSpPr>
          <p:cNvPr id="5" name="30">
            <a:extLst xmlns:a="http://schemas.openxmlformats.org/drawingml/2006/main">
              <a:ext uri="{FF2B5EF4-FFF2-40B4-BE49-F238E27FC236}">
                <a16:creationId xmlns:a16="http://schemas.microsoft.com/office/drawing/2014/main" id="{85BCD6C7-9C50-4C6F-8CDD-7C3245C5BFDC}"/>
              </a:ext>
            </a:extLst>
          </p:cNvPr>
          <p:cNvSpPr>
            <a:spLocks xmlns:a="http://schemas.openxmlformats.org/drawingml/2006/main" noGrp="1"/>
          </p:cNvSpPr>
          <p:nvPr/>
        </p:nvSpPr>
        <p:spPr>
          <a:xfrm xmlns:a="http://schemas.openxmlformats.org/drawingml/2006/main">
            <a:off x="609600" y="1943100"/>
            <a:ext cx="3619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0" b="0">
                <a:solidFill>
                  <a:srgbClr val="073F48"/>
                </a:solidFill>
                <a:latin typeface="Calibri"/>
                <a:ea typeface="Calibri"/>
                <a:cs typeface="Calibri"/>
              </a:defRPr>
            </a:defPPr>
            <a:lvl1pPr>
              <a:defRPr sz="10500" b="0">
                <a:solidFill>
                  <a:srgbClr val="073F48"/>
                </a:solidFill>
                <a:latin typeface="Calibri"/>
                <a:ea typeface="Calibri"/>
                <a:cs typeface="Calibri"/>
              </a:defRPr>
            </a:lvl1pPr>
            <a:lvl2pPr>
              <a:defRPr sz="10500" b="0">
                <a:solidFill>
                  <a:srgbClr val="073F48"/>
                </a:solidFill>
                <a:latin typeface="Calibri"/>
                <a:ea typeface="Calibri"/>
                <a:cs typeface="Calibri"/>
              </a:defRPr>
            </a:lvl2pPr>
            <a:lvl3pPr>
              <a:defRPr sz="10500" b="0">
                <a:solidFill>
                  <a:srgbClr val="073F48"/>
                </a:solidFill>
                <a:latin typeface="Calibri"/>
                <a:ea typeface="Calibri"/>
                <a:cs typeface="Calibri"/>
              </a:defRPr>
            </a:lvl3pPr>
            <a:lvl4pPr>
              <a:defRPr sz="10500" b="0">
                <a:solidFill>
                  <a:srgbClr val="073F48"/>
                </a:solidFill>
                <a:latin typeface="Calibri"/>
                <a:ea typeface="Calibri"/>
                <a:cs typeface="Calibri"/>
              </a:defRPr>
            </a:lvl4pPr>
            <a:lvl5pPr>
              <a:defRPr sz="10500" b="0">
                <a:solidFill>
                  <a:srgbClr val="073F48"/>
                </a:solidFill>
                <a:latin typeface="Calibri"/>
                <a:ea typeface="Calibri"/>
                <a:cs typeface="Calibri"/>
              </a:defRPr>
            </a:lvl5pPr>
            <a:lvl6pPr>
              <a:defRPr sz="10500" b="0">
                <a:solidFill>
                  <a:srgbClr val="073F48"/>
                </a:solidFill>
                <a:latin typeface="Calibri"/>
                <a:ea typeface="Calibri"/>
                <a:cs typeface="Calibri"/>
              </a:defRPr>
            </a:lvl6pPr>
            <a:lvl7pPr>
              <a:defRPr sz="10500" b="0">
                <a:solidFill>
                  <a:srgbClr val="073F48"/>
                </a:solidFill>
                <a:latin typeface="Calibri"/>
                <a:ea typeface="Calibri"/>
                <a:cs typeface="Calibri"/>
              </a:defRPr>
            </a:lvl7pPr>
            <a:lvl8pPr>
              <a:defRPr sz="10500" b="0">
                <a:solidFill>
                  <a:srgbClr val="073F48"/>
                </a:solidFill>
                <a:latin typeface="Calibri"/>
                <a:ea typeface="Calibri"/>
                <a:cs typeface="Calibri"/>
              </a:defRPr>
            </a:lvl8pPr>
            <a:lvl9pPr>
              <a:defRPr sz="10500" b="0">
                <a:solidFill>
                  <a:srgbClr val="073F48"/>
                </a:solidFill>
                <a:latin typeface="Calibri"/>
                <a:ea typeface="Calibri"/>
                <a:cs typeface="Calibri"/>
              </a:defRPr>
            </a:lvl9pPr>
          </a:lstStyle>
          <a:p xmlns:a="http://schemas.openxmlformats.org/drawingml/2006/main">
            <a:pPr>
              <a:defRPr sz="10500" b="0">
                <a:solidFill>
                  <a:srgbClr val="073F48"/>
                </a:solidFill>
                <a:latin typeface="Calibri"/>
                <a:ea typeface="Calibri"/>
                <a:cs typeface="Calibri"/>
              </a:defRPr>
            </a:pPr>
            <a:r>
              <a:rPr sz="10500" b="0">
                <a:solidFill>
                  <a:srgbClr val="073F48"/>
                </a:solidFill>
                <a:latin typeface="Calibri"/>
                <a:ea typeface="Calibri"/>
                <a:cs typeface="Calibri"/>
              </a:rPr>
              <a:t>30</a:t>
            </a:r>
          </a:p>
        </p:txBody>
      </p:sp>
      <p:sp>
        <p:nvSpPr>
          <p:cNvPr id="6" name="PATCHES PER POUCH">
            <a:extLst xmlns:a="http://schemas.openxmlformats.org/drawingml/2006/main">
              <a:ext uri="{FF2B5EF4-FFF2-40B4-BE49-F238E27FC236}">
                <a16:creationId xmlns:a16="http://schemas.microsoft.com/office/drawing/2014/main" id="{E18927D6-5538-4E4D-A3B8-148C9BDEA55A}"/>
              </a:ext>
            </a:extLst>
          </p:cNvPr>
          <p:cNvSpPr>
            <a:spLocks xmlns:a="http://schemas.openxmlformats.org/drawingml/2006/main" noGrp="1"/>
          </p:cNvSpPr>
          <p:nvPr/>
        </p:nvSpPr>
        <p:spPr>
          <a:xfrm xmlns:a="http://schemas.openxmlformats.org/drawingml/2006/main">
            <a:off x="647700" y="3590925"/>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BF9A50"/>
                </a:solidFill>
                <a:latin typeface="Calibri"/>
                <a:ea typeface="Calibri"/>
                <a:cs typeface="Calibri"/>
              </a:defRPr>
            </a:defPPr>
            <a:lvl1pPr>
              <a:defRPr sz="1800" b="1">
                <a:solidFill>
                  <a:srgbClr val="BF9A50"/>
                </a:solidFill>
                <a:latin typeface="Calibri"/>
                <a:ea typeface="Calibri"/>
                <a:cs typeface="Calibri"/>
              </a:defRPr>
            </a:lvl1pPr>
            <a:lvl2pPr>
              <a:defRPr sz="1800" b="1">
                <a:solidFill>
                  <a:srgbClr val="BF9A50"/>
                </a:solidFill>
                <a:latin typeface="Calibri"/>
                <a:ea typeface="Calibri"/>
                <a:cs typeface="Calibri"/>
              </a:defRPr>
            </a:lvl2pPr>
            <a:lvl3pPr>
              <a:defRPr sz="1800" b="1">
                <a:solidFill>
                  <a:srgbClr val="BF9A50"/>
                </a:solidFill>
                <a:latin typeface="Calibri"/>
                <a:ea typeface="Calibri"/>
                <a:cs typeface="Calibri"/>
              </a:defRPr>
            </a:lvl3pPr>
            <a:lvl4pPr>
              <a:defRPr sz="1800" b="1">
                <a:solidFill>
                  <a:srgbClr val="BF9A50"/>
                </a:solidFill>
                <a:latin typeface="Calibri"/>
                <a:ea typeface="Calibri"/>
                <a:cs typeface="Calibri"/>
              </a:defRPr>
            </a:lvl4pPr>
            <a:lvl5pPr>
              <a:defRPr sz="1800" b="1">
                <a:solidFill>
                  <a:srgbClr val="BF9A50"/>
                </a:solidFill>
                <a:latin typeface="Calibri"/>
                <a:ea typeface="Calibri"/>
                <a:cs typeface="Calibri"/>
              </a:defRPr>
            </a:lvl5pPr>
            <a:lvl6pPr>
              <a:defRPr sz="1800" b="1">
                <a:solidFill>
                  <a:srgbClr val="BF9A50"/>
                </a:solidFill>
                <a:latin typeface="Calibri"/>
                <a:ea typeface="Calibri"/>
                <a:cs typeface="Calibri"/>
              </a:defRPr>
            </a:lvl6pPr>
            <a:lvl7pPr>
              <a:defRPr sz="1800" b="1">
                <a:solidFill>
                  <a:srgbClr val="BF9A50"/>
                </a:solidFill>
                <a:latin typeface="Calibri"/>
                <a:ea typeface="Calibri"/>
                <a:cs typeface="Calibri"/>
              </a:defRPr>
            </a:lvl7pPr>
            <a:lvl8pPr>
              <a:defRPr sz="1800" b="1">
                <a:solidFill>
                  <a:srgbClr val="BF9A50"/>
                </a:solidFill>
                <a:latin typeface="Calibri"/>
                <a:ea typeface="Calibri"/>
                <a:cs typeface="Calibri"/>
              </a:defRPr>
            </a:lvl8pPr>
            <a:lvl9pPr>
              <a:defRPr sz="1800" b="1">
                <a:solidFill>
                  <a:srgbClr val="BF9A50"/>
                </a:solidFill>
                <a:latin typeface="Calibri"/>
                <a:ea typeface="Calibri"/>
                <a:cs typeface="Calibri"/>
              </a:defRPr>
            </a:lvl9pPr>
          </a:lstStyle>
          <a:p xmlns:a="http://schemas.openxmlformats.org/drawingml/2006/main">
            <a:pPr>
              <a:defRPr sz="1800" b="1">
                <a:solidFill>
                  <a:srgbClr val="BF9A50"/>
                </a:solidFill>
                <a:latin typeface="Calibri"/>
                <a:ea typeface="Calibri"/>
                <a:cs typeface="Calibri"/>
              </a:defRPr>
            </a:pPr>
            <a:r>
              <a:rPr sz="1800" b="1">
                <a:solidFill>
                  <a:srgbClr val="BF9A50"/>
                </a:solidFill>
                <a:latin typeface="Calibri"/>
                <a:ea typeface="Calibri"/>
                <a:cs typeface="Calibri"/>
              </a:rPr>
              <a:t>PATCHES PER POUCH</a:t>
            </a:r>
          </a:p>
        </p:txBody>
      </p:sp>
      <p:sp>
        <p:nvSpPr>
          <p:cNvPr id="7" name="One flagship for launch">
            <a:extLst xmlns:a="http://schemas.openxmlformats.org/drawingml/2006/main">
              <a:ext uri="{FF2B5EF4-FFF2-40B4-BE49-F238E27FC236}">
                <a16:creationId xmlns:a16="http://schemas.microsoft.com/office/drawing/2014/main" id="{AB18C4E0-3672-4D44-A091-39C1E46507FF}"/>
              </a:ext>
            </a:extLst>
          </p:cNvPr>
          <p:cNvSpPr>
            <a:spLocks xmlns:a="http://schemas.openxmlformats.org/drawingml/2006/main" noGrp="1"/>
          </p:cNvSpPr>
          <p:nvPr/>
        </p:nvSpPr>
        <p:spPr>
          <a:xfrm xmlns:a="http://schemas.openxmlformats.org/drawingml/2006/main">
            <a:off x="5000625" y="200025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73F48"/>
                </a:solidFill>
                <a:latin typeface="Calibri"/>
                <a:ea typeface="Calibri"/>
                <a:cs typeface="Calibri"/>
              </a:defRPr>
            </a:defPPr>
            <a:lvl1pPr>
              <a:defRPr sz="2550" b="1">
                <a:solidFill>
                  <a:srgbClr val="073F48"/>
                </a:solidFill>
                <a:latin typeface="Calibri"/>
                <a:ea typeface="Calibri"/>
                <a:cs typeface="Calibri"/>
              </a:defRPr>
            </a:lvl1pPr>
            <a:lvl2pPr>
              <a:defRPr sz="2550" b="1">
                <a:solidFill>
                  <a:srgbClr val="073F48"/>
                </a:solidFill>
                <a:latin typeface="Calibri"/>
                <a:ea typeface="Calibri"/>
                <a:cs typeface="Calibri"/>
              </a:defRPr>
            </a:lvl2pPr>
            <a:lvl3pPr>
              <a:defRPr sz="2550" b="1">
                <a:solidFill>
                  <a:srgbClr val="073F48"/>
                </a:solidFill>
                <a:latin typeface="Calibri"/>
                <a:ea typeface="Calibri"/>
                <a:cs typeface="Calibri"/>
              </a:defRPr>
            </a:lvl3pPr>
            <a:lvl4pPr>
              <a:defRPr sz="2550" b="1">
                <a:solidFill>
                  <a:srgbClr val="073F48"/>
                </a:solidFill>
                <a:latin typeface="Calibri"/>
                <a:ea typeface="Calibri"/>
                <a:cs typeface="Calibri"/>
              </a:defRPr>
            </a:lvl4pPr>
            <a:lvl5pPr>
              <a:defRPr sz="2550" b="1">
                <a:solidFill>
                  <a:srgbClr val="073F48"/>
                </a:solidFill>
                <a:latin typeface="Calibri"/>
                <a:ea typeface="Calibri"/>
                <a:cs typeface="Calibri"/>
              </a:defRPr>
            </a:lvl5pPr>
            <a:lvl6pPr>
              <a:defRPr sz="2550" b="1">
                <a:solidFill>
                  <a:srgbClr val="073F48"/>
                </a:solidFill>
                <a:latin typeface="Calibri"/>
                <a:ea typeface="Calibri"/>
                <a:cs typeface="Calibri"/>
              </a:defRPr>
            </a:lvl6pPr>
            <a:lvl7pPr>
              <a:defRPr sz="2550" b="1">
                <a:solidFill>
                  <a:srgbClr val="073F48"/>
                </a:solidFill>
                <a:latin typeface="Calibri"/>
                <a:ea typeface="Calibri"/>
                <a:cs typeface="Calibri"/>
              </a:defRPr>
            </a:lvl7pPr>
            <a:lvl8pPr>
              <a:defRPr sz="2550" b="1">
                <a:solidFill>
                  <a:srgbClr val="073F48"/>
                </a:solidFill>
                <a:latin typeface="Calibri"/>
                <a:ea typeface="Calibri"/>
                <a:cs typeface="Calibri"/>
              </a:defRPr>
            </a:lvl8pPr>
            <a:lvl9pPr>
              <a:defRPr sz="2550" b="1">
                <a:solidFill>
                  <a:srgbClr val="073F48"/>
                </a:solidFill>
                <a:latin typeface="Calibri"/>
                <a:ea typeface="Calibri"/>
                <a:cs typeface="Calibri"/>
              </a:defRPr>
            </a:lvl9pPr>
          </a:lstStyle>
          <a:p xmlns:a="http://schemas.openxmlformats.org/drawingml/2006/main">
            <a:pPr>
              <a:defRPr sz="2550" b="1">
                <a:solidFill>
                  <a:srgbClr val="073F48"/>
                </a:solidFill>
                <a:latin typeface="Calibri"/>
                <a:ea typeface="Calibri"/>
                <a:cs typeface="Calibri"/>
              </a:defRPr>
            </a:pPr>
            <a:r>
              <a:rPr sz="2550" b="1">
                <a:solidFill>
                  <a:srgbClr val="073F48"/>
                </a:solidFill>
                <a:latin typeface="Calibri"/>
                <a:ea typeface="Calibri"/>
                <a:cs typeface="Calibri"/>
              </a:rPr>
              <a:t>One flagship for launch</a:t>
            </a:r>
          </a:p>
        </p:txBody>
      </p:sp>
      <p:sp>
        <p:nvSpPr>
          <p:cNvPr id="8" name="Individually portioned patches designed for c">
            <a:extLst xmlns:a="http://schemas.openxmlformats.org/drawingml/2006/main">
              <a:ext uri="{FF2B5EF4-FFF2-40B4-BE49-F238E27FC236}">
                <a16:creationId xmlns:a16="http://schemas.microsoft.com/office/drawing/2014/main" id="{53824DC4-AB86-473B-A681-FB8A6960E782}"/>
              </a:ext>
            </a:extLst>
          </p:cNvPr>
          <p:cNvSpPr>
            <a:spLocks xmlns:a="http://schemas.openxmlformats.org/drawingml/2006/main" noGrp="1"/>
          </p:cNvSpPr>
          <p:nvPr/>
        </p:nvSpPr>
        <p:spPr>
          <a:xfrm xmlns:a="http://schemas.openxmlformats.org/drawingml/2006/main">
            <a:off x="5000625" y="265747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567371"/>
                </a:solidFill>
                <a:latin typeface="Calibri"/>
                <a:ea typeface="Calibri"/>
                <a:cs typeface="Calibri"/>
              </a:defRPr>
            </a:defPPr>
            <a:lvl1pPr>
              <a:defRPr sz="2250" b="0">
                <a:solidFill>
                  <a:srgbClr val="567371"/>
                </a:solidFill>
                <a:latin typeface="Calibri"/>
                <a:ea typeface="Calibri"/>
                <a:cs typeface="Calibri"/>
              </a:defRPr>
            </a:lvl1pPr>
            <a:lvl2pPr>
              <a:defRPr sz="2250" b="0">
                <a:solidFill>
                  <a:srgbClr val="567371"/>
                </a:solidFill>
                <a:latin typeface="Calibri"/>
                <a:ea typeface="Calibri"/>
                <a:cs typeface="Calibri"/>
              </a:defRPr>
            </a:lvl2pPr>
            <a:lvl3pPr>
              <a:defRPr sz="2250" b="0">
                <a:solidFill>
                  <a:srgbClr val="567371"/>
                </a:solidFill>
                <a:latin typeface="Calibri"/>
                <a:ea typeface="Calibri"/>
                <a:cs typeface="Calibri"/>
              </a:defRPr>
            </a:lvl3pPr>
            <a:lvl4pPr>
              <a:defRPr sz="2250" b="0">
                <a:solidFill>
                  <a:srgbClr val="567371"/>
                </a:solidFill>
                <a:latin typeface="Calibri"/>
                <a:ea typeface="Calibri"/>
                <a:cs typeface="Calibri"/>
              </a:defRPr>
            </a:lvl4pPr>
            <a:lvl5pPr>
              <a:defRPr sz="2250" b="0">
                <a:solidFill>
                  <a:srgbClr val="567371"/>
                </a:solidFill>
                <a:latin typeface="Calibri"/>
                <a:ea typeface="Calibri"/>
                <a:cs typeface="Calibri"/>
              </a:defRPr>
            </a:lvl5pPr>
            <a:lvl6pPr>
              <a:defRPr sz="2250" b="0">
                <a:solidFill>
                  <a:srgbClr val="567371"/>
                </a:solidFill>
                <a:latin typeface="Calibri"/>
                <a:ea typeface="Calibri"/>
                <a:cs typeface="Calibri"/>
              </a:defRPr>
            </a:lvl6pPr>
            <a:lvl7pPr>
              <a:defRPr sz="2250" b="0">
                <a:solidFill>
                  <a:srgbClr val="567371"/>
                </a:solidFill>
                <a:latin typeface="Calibri"/>
                <a:ea typeface="Calibri"/>
                <a:cs typeface="Calibri"/>
              </a:defRPr>
            </a:lvl7pPr>
            <a:lvl8pPr>
              <a:defRPr sz="2250" b="0">
                <a:solidFill>
                  <a:srgbClr val="567371"/>
                </a:solidFill>
                <a:latin typeface="Calibri"/>
                <a:ea typeface="Calibri"/>
                <a:cs typeface="Calibri"/>
              </a:defRPr>
            </a:lvl8pPr>
            <a:lvl9pPr>
              <a:defRPr sz="2250" b="0">
                <a:solidFill>
                  <a:srgbClr val="567371"/>
                </a:solidFill>
                <a:latin typeface="Calibri"/>
                <a:ea typeface="Calibri"/>
                <a:cs typeface="Calibri"/>
              </a:defRPr>
            </a:lvl9pPr>
          </a:lstStyle>
          <a:p xmlns:a="http://schemas.openxmlformats.org/drawingml/2006/main">
            <a:pPr>
              <a:defRPr sz="2250" b="0">
                <a:solidFill>
                  <a:srgbClr val="567371"/>
                </a:solidFill>
                <a:latin typeface="Calibri"/>
                <a:ea typeface="Calibri"/>
                <a:cs typeface="Calibri"/>
              </a:defRPr>
            </a:pPr>
            <a:r>
              <a:rPr sz="2250" b="0">
                <a:solidFill>
                  <a:srgbClr val="567371"/>
                </a:solidFill>
                <a:latin typeface="Calibri"/>
                <a:ea typeface="Calibri"/>
                <a:cs typeface="Calibri"/>
              </a:rPr>
              <a:t>Individually portioned patches designed for consistent daily use.</a:t>
            </a:r>
          </a:p>
        </p:txBody>
      </p:sp>
      <p:sp>
        <p:nvSpPr>
          <p:cNvPr id="9" name="Formulation described by management">
            <a:extLst xmlns:a="http://schemas.openxmlformats.org/drawingml/2006/main">
              <a:ext uri="{FF2B5EF4-FFF2-40B4-BE49-F238E27FC236}">
                <a16:creationId xmlns:a16="http://schemas.microsoft.com/office/drawing/2014/main" id="{AD8452FE-3777-4D7B-BFA6-67597BF65B23}"/>
              </a:ext>
            </a:extLst>
          </p:cNvPr>
          <p:cNvSpPr>
            <a:spLocks xmlns:a="http://schemas.openxmlformats.org/drawingml/2006/main" noGrp="1"/>
          </p:cNvSpPr>
          <p:nvPr/>
        </p:nvSpPr>
        <p:spPr>
          <a:xfrm xmlns:a="http://schemas.openxmlformats.org/drawingml/2006/main">
            <a:off x="5000625"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1">
                <a:solidFill>
                  <a:srgbClr val="073F48"/>
                </a:solidFill>
                <a:latin typeface="Calibri"/>
                <a:ea typeface="Calibri"/>
                <a:cs typeface="Calibri"/>
              </a:defRPr>
            </a:defPPr>
            <a:lvl1pPr>
              <a:defRPr sz="1875" b="1">
                <a:solidFill>
                  <a:srgbClr val="073F48"/>
                </a:solidFill>
                <a:latin typeface="Calibri"/>
                <a:ea typeface="Calibri"/>
                <a:cs typeface="Calibri"/>
              </a:defRPr>
            </a:lvl1pPr>
            <a:lvl2pPr>
              <a:defRPr sz="1875" b="1">
                <a:solidFill>
                  <a:srgbClr val="073F48"/>
                </a:solidFill>
                <a:latin typeface="Calibri"/>
                <a:ea typeface="Calibri"/>
                <a:cs typeface="Calibri"/>
              </a:defRPr>
            </a:lvl2pPr>
            <a:lvl3pPr>
              <a:defRPr sz="1875" b="1">
                <a:solidFill>
                  <a:srgbClr val="073F48"/>
                </a:solidFill>
                <a:latin typeface="Calibri"/>
                <a:ea typeface="Calibri"/>
                <a:cs typeface="Calibri"/>
              </a:defRPr>
            </a:lvl3pPr>
            <a:lvl4pPr>
              <a:defRPr sz="1875" b="1">
                <a:solidFill>
                  <a:srgbClr val="073F48"/>
                </a:solidFill>
                <a:latin typeface="Calibri"/>
                <a:ea typeface="Calibri"/>
                <a:cs typeface="Calibri"/>
              </a:defRPr>
            </a:lvl4pPr>
            <a:lvl5pPr>
              <a:defRPr sz="1875" b="1">
                <a:solidFill>
                  <a:srgbClr val="073F48"/>
                </a:solidFill>
                <a:latin typeface="Calibri"/>
                <a:ea typeface="Calibri"/>
                <a:cs typeface="Calibri"/>
              </a:defRPr>
            </a:lvl5pPr>
            <a:lvl6pPr>
              <a:defRPr sz="1875" b="1">
                <a:solidFill>
                  <a:srgbClr val="073F48"/>
                </a:solidFill>
                <a:latin typeface="Calibri"/>
                <a:ea typeface="Calibri"/>
                <a:cs typeface="Calibri"/>
              </a:defRPr>
            </a:lvl6pPr>
            <a:lvl7pPr>
              <a:defRPr sz="1875" b="1">
                <a:solidFill>
                  <a:srgbClr val="073F48"/>
                </a:solidFill>
                <a:latin typeface="Calibri"/>
                <a:ea typeface="Calibri"/>
                <a:cs typeface="Calibri"/>
              </a:defRPr>
            </a:lvl7pPr>
            <a:lvl8pPr>
              <a:defRPr sz="1875" b="1">
                <a:solidFill>
                  <a:srgbClr val="073F48"/>
                </a:solidFill>
                <a:latin typeface="Calibri"/>
                <a:ea typeface="Calibri"/>
                <a:cs typeface="Calibri"/>
              </a:defRPr>
            </a:lvl8pPr>
            <a:lvl9pPr>
              <a:defRPr sz="1875" b="1">
                <a:solidFill>
                  <a:srgbClr val="073F48"/>
                </a:solidFill>
                <a:latin typeface="Calibri"/>
                <a:ea typeface="Calibri"/>
                <a:cs typeface="Calibri"/>
              </a:defRPr>
            </a:lvl9pPr>
          </a:lstStyle>
          <a:p xmlns:a="http://schemas.openxmlformats.org/drawingml/2006/main">
            <a:pPr>
              <a:defRPr sz="1875" b="1">
                <a:solidFill>
                  <a:srgbClr val="073F48"/>
                </a:solidFill>
                <a:latin typeface="Calibri"/>
                <a:ea typeface="Calibri"/>
                <a:cs typeface="Calibri"/>
              </a:defRPr>
            </a:pPr>
            <a:r>
              <a:rPr sz="1875" b="1">
                <a:solidFill>
                  <a:srgbClr val="073F48"/>
                </a:solidFill>
                <a:latin typeface="Calibri"/>
                <a:ea typeface="Calibri"/>
                <a:cs typeface="Calibri"/>
              </a:rPr>
              <a:t>Formulation described by management</a:t>
            </a:r>
          </a:p>
        </p:txBody>
      </p:sp>
      <p:sp>
        <p:nvSpPr>
          <p:cNvPr id="10" name="Stabilized allicin, nutrients, botanicals, ad">
            <a:extLst xmlns:a="http://schemas.openxmlformats.org/drawingml/2006/main">
              <a:ext uri="{FF2B5EF4-FFF2-40B4-BE49-F238E27FC236}">
                <a16:creationId xmlns:a16="http://schemas.microsoft.com/office/drawing/2014/main" id="{CE741564-6C65-42E9-A208-9F85521B9616}"/>
              </a:ext>
            </a:extLst>
          </p:cNvPr>
          <p:cNvSpPr>
            <a:spLocks xmlns:a="http://schemas.openxmlformats.org/drawingml/2006/main" noGrp="1"/>
          </p:cNvSpPr>
          <p:nvPr/>
        </p:nvSpPr>
        <p:spPr>
          <a:xfrm xmlns:a="http://schemas.openxmlformats.org/drawingml/2006/main">
            <a:off x="5000625" y="4467225"/>
            <a:ext cx="6191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67371"/>
                </a:solidFill>
                <a:latin typeface="Calibri"/>
                <a:ea typeface="Calibri"/>
                <a:cs typeface="Calibri"/>
              </a:defRPr>
            </a:defPPr>
            <a:lvl1pPr>
              <a:defRPr sz="1950" b="0">
                <a:solidFill>
                  <a:srgbClr val="567371"/>
                </a:solidFill>
                <a:latin typeface="Calibri"/>
                <a:ea typeface="Calibri"/>
                <a:cs typeface="Calibri"/>
              </a:defRPr>
            </a:lvl1pPr>
            <a:lvl2pPr>
              <a:defRPr sz="1950" b="0">
                <a:solidFill>
                  <a:srgbClr val="567371"/>
                </a:solidFill>
                <a:latin typeface="Calibri"/>
                <a:ea typeface="Calibri"/>
                <a:cs typeface="Calibri"/>
              </a:defRPr>
            </a:lvl2pPr>
            <a:lvl3pPr>
              <a:defRPr sz="1950" b="0">
                <a:solidFill>
                  <a:srgbClr val="567371"/>
                </a:solidFill>
                <a:latin typeface="Calibri"/>
                <a:ea typeface="Calibri"/>
                <a:cs typeface="Calibri"/>
              </a:defRPr>
            </a:lvl3pPr>
            <a:lvl4pPr>
              <a:defRPr sz="1950" b="0">
                <a:solidFill>
                  <a:srgbClr val="567371"/>
                </a:solidFill>
                <a:latin typeface="Calibri"/>
                <a:ea typeface="Calibri"/>
                <a:cs typeface="Calibri"/>
              </a:defRPr>
            </a:lvl4pPr>
            <a:lvl5pPr>
              <a:defRPr sz="1950" b="0">
                <a:solidFill>
                  <a:srgbClr val="567371"/>
                </a:solidFill>
                <a:latin typeface="Calibri"/>
                <a:ea typeface="Calibri"/>
                <a:cs typeface="Calibri"/>
              </a:defRPr>
            </a:lvl5pPr>
            <a:lvl6pPr>
              <a:defRPr sz="1950" b="0">
                <a:solidFill>
                  <a:srgbClr val="567371"/>
                </a:solidFill>
                <a:latin typeface="Calibri"/>
                <a:ea typeface="Calibri"/>
                <a:cs typeface="Calibri"/>
              </a:defRPr>
            </a:lvl6pPr>
            <a:lvl7pPr>
              <a:defRPr sz="1950" b="0">
                <a:solidFill>
                  <a:srgbClr val="567371"/>
                </a:solidFill>
                <a:latin typeface="Calibri"/>
                <a:ea typeface="Calibri"/>
                <a:cs typeface="Calibri"/>
              </a:defRPr>
            </a:lvl7pPr>
            <a:lvl8pPr>
              <a:defRPr sz="1950" b="0">
                <a:solidFill>
                  <a:srgbClr val="567371"/>
                </a:solidFill>
                <a:latin typeface="Calibri"/>
                <a:ea typeface="Calibri"/>
                <a:cs typeface="Calibri"/>
              </a:defRPr>
            </a:lvl8pPr>
            <a:lvl9pPr>
              <a:defRPr sz="1950" b="0">
                <a:solidFill>
                  <a:srgbClr val="567371"/>
                </a:solidFill>
                <a:latin typeface="Calibri"/>
                <a:ea typeface="Calibri"/>
                <a:cs typeface="Calibri"/>
              </a:defRPr>
            </a:lvl9pPr>
          </a:lstStyle>
          <a:p xmlns:a="http://schemas.openxmlformats.org/drawingml/2006/main">
            <a:pPr>
              <a:defRPr sz="1950" b="0">
                <a:solidFill>
                  <a:srgbClr val="567371"/>
                </a:solidFill>
                <a:latin typeface="Calibri"/>
                <a:ea typeface="Calibri"/>
                <a:cs typeface="Calibri"/>
              </a:defRPr>
            </a:pPr>
            <a:r>
              <a:rPr sz="1950" b="0">
                <a:solidFill>
                  <a:srgbClr val="567371"/>
                </a:solidFill>
                <a:latin typeface="Calibri"/>
                <a:ea typeface="Calibri"/>
                <a:cs typeface="Calibri"/>
              </a:rPr>
              <a:t>Stabilized allicin, nutrients, botanicals, adaptogens and probiotics.</a:t>
            </a:r>
          </a:p>
        </p:txBody>
      </p:sp>
      <p:sp>
        <p:nvSpPr>
          <p:cNvPr id="11" name="Product concept and formulation are distinct ">
            <a:extLst xmlns:a="http://schemas.openxmlformats.org/drawingml/2006/main">
              <a:ext uri="{FF2B5EF4-FFF2-40B4-BE49-F238E27FC236}">
                <a16:creationId xmlns:a16="http://schemas.microsoft.com/office/drawing/2014/main" id="{4EB1BF76-CFD6-48E1-AF57-E1C7CE58064E}"/>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7371"/>
                </a:solidFill>
                <a:latin typeface="Calibri"/>
                <a:ea typeface="Calibri"/>
                <a:cs typeface="Calibri"/>
              </a:defRPr>
            </a:defPPr>
            <a:lvl1pPr>
              <a:defRPr sz="1275" b="0">
                <a:solidFill>
                  <a:srgbClr val="567371"/>
                </a:solidFill>
                <a:latin typeface="Calibri"/>
                <a:ea typeface="Calibri"/>
                <a:cs typeface="Calibri"/>
              </a:defRPr>
            </a:lvl1pPr>
            <a:lvl2pPr>
              <a:defRPr sz="1275" b="0">
                <a:solidFill>
                  <a:srgbClr val="567371"/>
                </a:solidFill>
                <a:latin typeface="Calibri"/>
                <a:ea typeface="Calibri"/>
                <a:cs typeface="Calibri"/>
              </a:defRPr>
            </a:lvl2pPr>
            <a:lvl3pPr>
              <a:defRPr sz="1275" b="0">
                <a:solidFill>
                  <a:srgbClr val="567371"/>
                </a:solidFill>
                <a:latin typeface="Calibri"/>
                <a:ea typeface="Calibri"/>
                <a:cs typeface="Calibri"/>
              </a:defRPr>
            </a:lvl3pPr>
            <a:lvl4pPr>
              <a:defRPr sz="1275" b="0">
                <a:solidFill>
                  <a:srgbClr val="567371"/>
                </a:solidFill>
                <a:latin typeface="Calibri"/>
                <a:ea typeface="Calibri"/>
                <a:cs typeface="Calibri"/>
              </a:defRPr>
            </a:lvl4pPr>
            <a:lvl5pPr>
              <a:defRPr sz="1275" b="0">
                <a:solidFill>
                  <a:srgbClr val="567371"/>
                </a:solidFill>
                <a:latin typeface="Calibri"/>
                <a:ea typeface="Calibri"/>
                <a:cs typeface="Calibri"/>
              </a:defRPr>
            </a:lvl5pPr>
            <a:lvl6pPr>
              <a:defRPr sz="1275" b="0">
                <a:solidFill>
                  <a:srgbClr val="567371"/>
                </a:solidFill>
                <a:latin typeface="Calibri"/>
                <a:ea typeface="Calibri"/>
                <a:cs typeface="Calibri"/>
              </a:defRPr>
            </a:lvl6pPr>
            <a:lvl7pPr>
              <a:defRPr sz="1275" b="0">
                <a:solidFill>
                  <a:srgbClr val="567371"/>
                </a:solidFill>
                <a:latin typeface="Calibri"/>
                <a:ea typeface="Calibri"/>
                <a:cs typeface="Calibri"/>
              </a:defRPr>
            </a:lvl7pPr>
            <a:lvl8pPr>
              <a:defRPr sz="1275" b="0">
                <a:solidFill>
                  <a:srgbClr val="567371"/>
                </a:solidFill>
                <a:latin typeface="Calibri"/>
                <a:ea typeface="Calibri"/>
                <a:cs typeface="Calibri"/>
              </a:defRPr>
            </a:lvl8pPr>
            <a:lvl9pPr>
              <a:defRPr sz="1275" b="0">
                <a:solidFill>
                  <a:srgbClr val="567371"/>
                </a:solidFill>
                <a:latin typeface="Calibri"/>
                <a:ea typeface="Calibri"/>
                <a:cs typeface="Calibri"/>
              </a:defRPr>
            </a:lvl9pPr>
          </a:lstStyle>
          <a:p xmlns:a="http://schemas.openxmlformats.org/drawingml/2006/main">
            <a:pPr>
              <a:defRPr sz="1275" b="0">
                <a:solidFill>
                  <a:srgbClr val="567371"/>
                </a:solidFill>
                <a:latin typeface="Calibri"/>
                <a:ea typeface="Calibri"/>
                <a:cs typeface="Calibri"/>
              </a:defRPr>
            </a:pPr>
            <a:r>
              <a:rPr sz="1275" b="0">
                <a:solidFill>
                  <a:srgbClr val="567371"/>
                </a:solidFill>
                <a:latin typeface="Calibri"/>
                <a:ea typeface="Calibri"/>
                <a:cs typeface="Calibri"/>
              </a:rPr>
              <a:t>Product concept and formulation are distinct from evidence of absorption or efficacy.</a:t>
            </a:r>
          </a:p>
        </p:txBody>
      </p:sp>
    </p:spTree>
    <p:extLst>
      <p:ext uri="{BB962C8B-B14F-4D97-AF65-F5344CB8AC3E}">
        <p14:creationId xmlns:p14="http://schemas.microsoft.com/office/powerpoint/2010/main" val="1159768777"/>
      </p:ext>
    </p:extLst>
  </p:cSld>
</p:sld>
</file>

<file path=ppt/slides/slide4.xml><?xml version="1.0" encoding="utf-8"?>
<p:sld xmlns:p="http://schemas.openxmlformats.org/presentationml/2006/main">
  <p:cSld>
    <p:bg>
      <p:bgPr>
        <a:solidFill xmlns:a="http://schemas.openxmlformats.org/drawingml/2006/main">
          <a:srgbClr val="073F48"/>
        </a:solidFill>
      </p:bgPr>
    </p:bg>
    <p:spTree>
      <p:nvGrpSpPr>
        <p:cNvPr id="1" name=""/>
        <p:cNvGrpSpPr/>
        <p:nvPr/>
      </p:nvGrpSpPr>
      <p:grpSpPr>
        <a:xfrm xmlns:a="http://schemas.openxmlformats.org/drawingml/2006/main"/>
      </p:grpSpPr>
      <p:sp>
        <p:nvSpPr>
          <p:cNvPr id="2" name="Differentiation built around the routine">
            <a:extLst xmlns:a="http://schemas.openxmlformats.org/drawingml/2006/main">
              <a:ext uri="{FF2B5EF4-FFF2-40B4-BE49-F238E27FC236}">
                <a16:creationId xmlns:a16="http://schemas.microsoft.com/office/drawing/2014/main" id="{37DCA8E9-130A-4A96-8EDC-EDE3C83FEC42}"/>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F5F0E7"/>
                </a:solidFill>
                <a:latin typeface="Calibri"/>
                <a:ea typeface="Calibri"/>
                <a:cs typeface="Calibri"/>
              </a:defRPr>
            </a:defPPr>
            <a:lvl1pPr>
              <a:defRPr sz="3300" b="0">
                <a:solidFill>
                  <a:srgbClr val="F5F0E7"/>
                </a:solidFill>
                <a:latin typeface="Calibri"/>
                <a:ea typeface="Calibri"/>
                <a:cs typeface="Calibri"/>
              </a:defRPr>
            </a:lvl1pPr>
            <a:lvl2pPr>
              <a:defRPr sz="3300" b="0">
                <a:solidFill>
                  <a:srgbClr val="F5F0E7"/>
                </a:solidFill>
                <a:latin typeface="Calibri"/>
                <a:ea typeface="Calibri"/>
                <a:cs typeface="Calibri"/>
              </a:defRPr>
            </a:lvl2pPr>
            <a:lvl3pPr>
              <a:defRPr sz="3300" b="0">
                <a:solidFill>
                  <a:srgbClr val="F5F0E7"/>
                </a:solidFill>
                <a:latin typeface="Calibri"/>
                <a:ea typeface="Calibri"/>
                <a:cs typeface="Calibri"/>
              </a:defRPr>
            </a:lvl3pPr>
            <a:lvl4pPr>
              <a:defRPr sz="3300" b="0">
                <a:solidFill>
                  <a:srgbClr val="F5F0E7"/>
                </a:solidFill>
                <a:latin typeface="Calibri"/>
                <a:ea typeface="Calibri"/>
                <a:cs typeface="Calibri"/>
              </a:defRPr>
            </a:lvl4pPr>
            <a:lvl5pPr>
              <a:defRPr sz="3300" b="0">
                <a:solidFill>
                  <a:srgbClr val="F5F0E7"/>
                </a:solidFill>
                <a:latin typeface="Calibri"/>
                <a:ea typeface="Calibri"/>
                <a:cs typeface="Calibri"/>
              </a:defRPr>
            </a:lvl5pPr>
            <a:lvl6pPr>
              <a:defRPr sz="3300" b="0">
                <a:solidFill>
                  <a:srgbClr val="F5F0E7"/>
                </a:solidFill>
                <a:latin typeface="Calibri"/>
                <a:ea typeface="Calibri"/>
                <a:cs typeface="Calibri"/>
              </a:defRPr>
            </a:lvl6pPr>
            <a:lvl7pPr>
              <a:defRPr sz="3300" b="0">
                <a:solidFill>
                  <a:srgbClr val="F5F0E7"/>
                </a:solidFill>
                <a:latin typeface="Calibri"/>
                <a:ea typeface="Calibri"/>
                <a:cs typeface="Calibri"/>
              </a:defRPr>
            </a:lvl7pPr>
            <a:lvl8pPr>
              <a:defRPr sz="3300" b="0">
                <a:solidFill>
                  <a:srgbClr val="F5F0E7"/>
                </a:solidFill>
                <a:latin typeface="Calibri"/>
                <a:ea typeface="Calibri"/>
                <a:cs typeface="Calibri"/>
              </a:defRPr>
            </a:lvl8pPr>
            <a:lvl9pPr>
              <a:defRPr sz="3300" b="0">
                <a:solidFill>
                  <a:srgbClr val="F5F0E7"/>
                </a:solidFill>
                <a:latin typeface="Calibri"/>
                <a:ea typeface="Calibri"/>
                <a:cs typeface="Calibri"/>
              </a:defRPr>
            </a:lvl9pPr>
          </a:lstStyle>
          <a:p xmlns:a="http://schemas.openxmlformats.org/drawingml/2006/main">
            <a:pPr>
              <a:defRPr sz="3300" b="0">
                <a:solidFill>
                  <a:srgbClr val="F5F0E7"/>
                </a:solidFill>
                <a:latin typeface="Calibri"/>
                <a:ea typeface="Calibri"/>
                <a:cs typeface="Calibri"/>
              </a:defRPr>
            </a:pPr>
            <a:r>
              <a:rPr sz="3300" b="0">
                <a:solidFill>
                  <a:srgbClr val="F5F0E7"/>
                </a:solidFill>
                <a:latin typeface="Calibri"/>
                <a:ea typeface="Calibri"/>
                <a:cs typeface="Calibri"/>
              </a:rPr>
              <a:t>Differentiation built around the routine</a:t>
            </a:r>
          </a:p>
        </p:txBody>
      </p:sp>
      <p:sp>
        <p:nvSpPr>
          <p:cNvPr id="3" name="AURA PATCH  /  CONFIDENTIAL  /  OCTOBER 2026">
            <a:extLst xmlns:a="http://schemas.openxmlformats.org/drawingml/2006/main">
              <a:ext uri="{FF2B5EF4-FFF2-40B4-BE49-F238E27FC236}">
                <a16:creationId xmlns:a16="http://schemas.microsoft.com/office/drawing/2014/main" id="{72063F59-AB94-49B2-BC8F-A75E5F0A9033}"/>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B9CEC7"/>
                </a:solidFill>
                <a:latin typeface="Calibri"/>
                <a:ea typeface="Calibri"/>
                <a:cs typeface="Calibri"/>
              </a:defRPr>
            </a:defPPr>
            <a:lvl1pPr>
              <a:defRPr sz="900" b="0">
                <a:solidFill>
                  <a:srgbClr val="B9CEC7"/>
                </a:solidFill>
                <a:latin typeface="Calibri"/>
                <a:ea typeface="Calibri"/>
                <a:cs typeface="Calibri"/>
              </a:defRPr>
            </a:lvl1pPr>
            <a:lvl2pPr>
              <a:defRPr sz="900" b="0">
                <a:solidFill>
                  <a:srgbClr val="B9CEC7"/>
                </a:solidFill>
                <a:latin typeface="Calibri"/>
                <a:ea typeface="Calibri"/>
                <a:cs typeface="Calibri"/>
              </a:defRPr>
            </a:lvl2pPr>
            <a:lvl3pPr>
              <a:defRPr sz="900" b="0">
                <a:solidFill>
                  <a:srgbClr val="B9CEC7"/>
                </a:solidFill>
                <a:latin typeface="Calibri"/>
                <a:ea typeface="Calibri"/>
                <a:cs typeface="Calibri"/>
              </a:defRPr>
            </a:lvl3pPr>
            <a:lvl4pPr>
              <a:defRPr sz="900" b="0">
                <a:solidFill>
                  <a:srgbClr val="B9CEC7"/>
                </a:solidFill>
                <a:latin typeface="Calibri"/>
                <a:ea typeface="Calibri"/>
                <a:cs typeface="Calibri"/>
              </a:defRPr>
            </a:lvl4pPr>
            <a:lvl5pPr>
              <a:defRPr sz="900" b="0">
                <a:solidFill>
                  <a:srgbClr val="B9CEC7"/>
                </a:solidFill>
                <a:latin typeface="Calibri"/>
                <a:ea typeface="Calibri"/>
                <a:cs typeface="Calibri"/>
              </a:defRPr>
            </a:lvl5pPr>
            <a:lvl6pPr>
              <a:defRPr sz="900" b="0">
                <a:solidFill>
                  <a:srgbClr val="B9CEC7"/>
                </a:solidFill>
                <a:latin typeface="Calibri"/>
                <a:ea typeface="Calibri"/>
                <a:cs typeface="Calibri"/>
              </a:defRPr>
            </a:lvl6pPr>
            <a:lvl7pPr>
              <a:defRPr sz="900" b="0">
                <a:solidFill>
                  <a:srgbClr val="B9CEC7"/>
                </a:solidFill>
                <a:latin typeface="Calibri"/>
                <a:ea typeface="Calibri"/>
                <a:cs typeface="Calibri"/>
              </a:defRPr>
            </a:lvl7pPr>
            <a:lvl8pPr>
              <a:defRPr sz="900" b="0">
                <a:solidFill>
                  <a:srgbClr val="B9CEC7"/>
                </a:solidFill>
                <a:latin typeface="Calibri"/>
                <a:ea typeface="Calibri"/>
                <a:cs typeface="Calibri"/>
              </a:defRPr>
            </a:lvl8pPr>
            <a:lvl9pPr>
              <a:defRPr sz="900" b="0">
                <a:solidFill>
                  <a:srgbClr val="B9CEC7"/>
                </a:solidFill>
                <a:latin typeface="Calibri"/>
                <a:ea typeface="Calibri"/>
                <a:cs typeface="Calibri"/>
              </a:defRPr>
            </a:lvl9pPr>
          </a:lstStyle>
          <a:p xmlns:a="http://schemas.openxmlformats.org/drawingml/2006/main">
            <a:pPr>
              <a:defRPr sz="900" b="0">
                <a:solidFill>
                  <a:srgbClr val="B9CEC7"/>
                </a:solidFill>
                <a:latin typeface="Calibri"/>
                <a:ea typeface="Calibri"/>
                <a:cs typeface="Calibri"/>
              </a:defRPr>
            </a:pPr>
            <a:r>
              <a:rPr sz="900" b="0">
                <a:solidFill>
                  <a:srgbClr val="B9CEC7"/>
                </a:solidFill>
                <a:latin typeface="Calibri"/>
                <a:ea typeface="Calibri"/>
                <a:cs typeface="Calibri"/>
              </a:rPr>
              <a:t>AURA PATCH  /  CONFIDENTIAL  /  OCTOBER 2026</a:t>
            </a:r>
          </a:p>
        </p:txBody>
      </p:sp>
      <p:sp>
        <p:nvSpPr>
          <p:cNvPr id="4" name="04">
            <a:extLst xmlns:a="http://schemas.openxmlformats.org/drawingml/2006/main">
              <a:ext uri="{FF2B5EF4-FFF2-40B4-BE49-F238E27FC236}">
                <a16:creationId xmlns:a16="http://schemas.microsoft.com/office/drawing/2014/main" id="{9101EB18-8CB5-4E44-A641-A587A48F2F2F}"/>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04</a:t>
            </a:r>
          </a:p>
        </p:txBody>
      </p:sp>
      <p:sp>
        <p:nvSpPr>
          <p:cNvPr id="5" name="01">
            <a:extLst xmlns:a="http://schemas.openxmlformats.org/drawingml/2006/main">
              <a:ext uri="{FF2B5EF4-FFF2-40B4-BE49-F238E27FC236}">
                <a16:creationId xmlns:a16="http://schemas.microsoft.com/office/drawing/2014/main" id="{FC1FBEA4-3434-4CBD-8A6E-9C155099566E}"/>
              </a:ext>
            </a:extLst>
          </p:cNvPr>
          <p:cNvSpPr>
            <a:spLocks xmlns:a="http://schemas.openxmlformats.org/drawingml/2006/main" noGrp="1"/>
          </p:cNvSpPr>
          <p:nvPr/>
        </p:nvSpPr>
        <p:spPr>
          <a:xfrm xmlns:a="http://schemas.openxmlformats.org/drawingml/2006/main">
            <a:off x="609600" y="20002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F9A50"/>
                </a:solidFill>
                <a:latin typeface="Calibri"/>
                <a:ea typeface="Calibri"/>
                <a:cs typeface="Calibri"/>
              </a:defRPr>
            </a:defPPr>
            <a:lvl1pPr>
              <a:defRPr sz="1650" b="0">
                <a:solidFill>
                  <a:srgbClr val="BF9A50"/>
                </a:solidFill>
                <a:latin typeface="Calibri"/>
                <a:ea typeface="Calibri"/>
                <a:cs typeface="Calibri"/>
              </a:defRPr>
            </a:lvl1pPr>
            <a:lvl2pPr>
              <a:defRPr sz="1650" b="0">
                <a:solidFill>
                  <a:srgbClr val="BF9A50"/>
                </a:solidFill>
                <a:latin typeface="Calibri"/>
                <a:ea typeface="Calibri"/>
                <a:cs typeface="Calibri"/>
              </a:defRPr>
            </a:lvl2pPr>
            <a:lvl3pPr>
              <a:defRPr sz="1650" b="0">
                <a:solidFill>
                  <a:srgbClr val="BF9A50"/>
                </a:solidFill>
                <a:latin typeface="Calibri"/>
                <a:ea typeface="Calibri"/>
                <a:cs typeface="Calibri"/>
              </a:defRPr>
            </a:lvl3pPr>
            <a:lvl4pPr>
              <a:defRPr sz="1650" b="0">
                <a:solidFill>
                  <a:srgbClr val="BF9A50"/>
                </a:solidFill>
                <a:latin typeface="Calibri"/>
                <a:ea typeface="Calibri"/>
                <a:cs typeface="Calibri"/>
              </a:defRPr>
            </a:lvl4pPr>
            <a:lvl5pPr>
              <a:defRPr sz="1650" b="0">
                <a:solidFill>
                  <a:srgbClr val="BF9A50"/>
                </a:solidFill>
                <a:latin typeface="Calibri"/>
                <a:ea typeface="Calibri"/>
                <a:cs typeface="Calibri"/>
              </a:defRPr>
            </a:lvl5pPr>
            <a:lvl6pPr>
              <a:defRPr sz="1650" b="0">
                <a:solidFill>
                  <a:srgbClr val="BF9A50"/>
                </a:solidFill>
                <a:latin typeface="Calibri"/>
                <a:ea typeface="Calibri"/>
                <a:cs typeface="Calibri"/>
              </a:defRPr>
            </a:lvl6pPr>
            <a:lvl7pPr>
              <a:defRPr sz="1650" b="0">
                <a:solidFill>
                  <a:srgbClr val="BF9A50"/>
                </a:solidFill>
                <a:latin typeface="Calibri"/>
                <a:ea typeface="Calibri"/>
                <a:cs typeface="Calibri"/>
              </a:defRPr>
            </a:lvl7pPr>
            <a:lvl8pPr>
              <a:defRPr sz="1650" b="0">
                <a:solidFill>
                  <a:srgbClr val="BF9A50"/>
                </a:solidFill>
                <a:latin typeface="Calibri"/>
                <a:ea typeface="Calibri"/>
                <a:cs typeface="Calibri"/>
              </a:defRPr>
            </a:lvl8pPr>
            <a:lvl9pPr>
              <a:defRPr sz="1650" b="0">
                <a:solidFill>
                  <a:srgbClr val="BF9A50"/>
                </a:solidFill>
                <a:latin typeface="Calibri"/>
                <a:ea typeface="Calibri"/>
                <a:cs typeface="Calibri"/>
              </a:defRPr>
            </a:lvl9pPr>
          </a:lstStyle>
          <a:p xmlns:a="http://schemas.openxmlformats.org/drawingml/2006/main">
            <a:pPr>
              <a:defRPr sz="1650" b="0">
                <a:solidFill>
                  <a:srgbClr val="BF9A50"/>
                </a:solidFill>
                <a:latin typeface="Calibri"/>
                <a:ea typeface="Calibri"/>
                <a:cs typeface="Calibri"/>
              </a:defRPr>
            </a:pPr>
            <a:r>
              <a:rPr sz="1650" b="0">
                <a:solidFill>
                  <a:srgbClr val="BF9A50"/>
                </a:solidFill>
                <a:latin typeface="Calibri"/>
                <a:ea typeface="Calibri"/>
                <a:cs typeface="Calibri"/>
              </a:rPr>
              <a:t>01</a:t>
            </a:r>
          </a:p>
        </p:txBody>
      </p:sp>
      <p:sp>
        <p:nvSpPr>
          <p:cNvPr id="6" name="Format">
            <a:extLst xmlns:a="http://schemas.openxmlformats.org/drawingml/2006/main">
              <a:ext uri="{FF2B5EF4-FFF2-40B4-BE49-F238E27FC236}">
                <a16:creationId xmlns:a16="http://schemas.microsoft.com/office/drawing/2014/main" id="{BE0C5B8D-579E-482B-AB96-02BC47591D80}"/>
              </a:ext>
            </a:extLst>
          </p:cNvPr>
          <p:cNvSpPr>
            <a:spLocks xmlns:a="http://schemas.openxmlformats.org/drawingml/2006/main" noGrp="1"/>
          </p:cNvSpPr>
          <p:nvPr/>
        </p:nvSpPr>
        <p:spPr>
          <a:xfrm xmlns:a="http://schemas.openxmlformats.org/drawingml/2006/main">
            <a:off x="1419225" y="200025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5F0E7"/>
                </a:solidFill>
                <a:latin typeface="Calibri"/>
                <a:ea typeface="Calibri"/>
                <a:cs typeface="Calibri"/>
              </a:defRPr>
            </a:defPPr>
            <a:lvl1pPr>
              <a:defRPr sz="2325" b="1">
                <a:solidFill>
                  <a:srgbClr val="F5F0E7"/>
                </a:solidFill>
                <a:latin typeface="Calibri"/>
                <a:ea typeface="Calibri"/>
                <a:cs typeface="Calibri"/>
              </a:defRPr>
            </a:lvl1pPr>
            <a:lvl2pPr>
              <a:defRPr sz="2325" b="1">
                <a:solidFill>
                  <a:srgbClr val="F5F0E7"/>
                </a:solidFill>
                <a:latin typeface="Calibri"/>
                <a:ea typeface="Calibri"/>
                <a:cs typeface="Calibri"/>
              </a:defRPr>
            </a:lvl2pPr>
            <a:lvl3pPr>
              <a:defRPr sz="2325" b="1">
                <a:solidFill>
                  <a:srgbClr val="F5F0E7"/>
                </a:solidFill>
                <a:latin typeface="Calibri"/>
                <a:ea typeface="Calibri"/>
                <a:cs typeface="Calibri"/>
              </a:defRPr>
            </a:lvl3pPr>
            <a:lvl4pPr>
              <a:defRPr sz="2325" b="1">
                <a:solidFill>
                  <a:srgbClr val="F5F0E7"/>
                </a:solidFill>
                <a:latin typeface="Calibri"/>
                <a:ea typeface="Calibri"/>
                <a:cs typeface="Calibri"/>
              </a:defRPr>
            </a:lvl4pPr>
            <a:lvl5pPr>
              <a:defRPr sz="2325" b="1">
                <a:solidFill>
                  <a:srgbClr val="F5F0E7"/>
                </a:solidFill>
                <a:latin typeface="Calibri"/>
                <a:ea typeface="Calibri"/>
                <a:cs typeface="Calibri"/>
              </a:defRPr>
            </a:lvl5pPr>
            <a:lvl6pPr>
              <a:defRPr sz="2325" b="1">
                <a:solidFill>
                  <a:srgbClr val="F5F0E7"/>
                </a:solidFill>
                <a:latin typeface="Calibri"/>
                <a:ea typeface="Calibri"/>
                <a:cs typeface="Calibri"/>
              </a:defRPr>
            </a:lvl6pPr>
            <a:lvl7pPr>
              <a:defRPr sz="2325" b="1">
                <a:solidFill>
                  <a:srgbClr val="F5F0E7"/>
                </a:solidFill>
                <a:latin typeface="Calibri"/>
                <a:ea typeface="Calibri"/>
                <a:cs typeface="Calibri"/>
              </a:defRPr>
            </a:lvl7pPr>
            <a:lvl8pPr>
              <a:defRPr sz="2325" b="1">
                <a:solidFill>
                  <a:srgbClr val="F5F0E7"/>
                </a:solidFill>
                <a:latin typeface="Calibri"/>
                <a:ea typeface="Calibri"/>
                <a:cs typeface="Calibri"/>
              </a:defRPr>
            </a:lvl8pPr>
            <a:lvl9pPr>
              <a:defRPr sz="2325" b="1">
                <a:solidFill>
                  <a:srgbClr val="F5F0E7"/>
                </a:solidFill>
                <a:latin typeface="Calibri"/>
                <a:ea typeface="Calibri"/>
                <a:cs typeface="Calibri"/>
              </a:defRPr>
            </a:lvl9pPr>
          </a:lstStyle>
          <a:p xmlns:a="http://schemas.openxmlformats.org/drawingml/2006/main">
            <a:pPr>
              <a:defRPr sz="2325" b="1">
                <a:solidFill>
                  <a:srgbClr val="F5F0E7"/>
                </a:solidFill>
                <a:latin typeface="Calibri"/>
                <a:ea typeface="Calibri"/>
                <a:cs typeface="Calibri"/>
              </a:defRPr>
            </a:pPr>
            <a:r>
              <a:rPr sz="2325" b="1">
                <a:solidFill>
                  <a:srgbClr val="F5F0E7"/>
                </a:solidFill>
                <a:latin typeface="Calibri"/>
                <a:ea typeface="Calibri"/>
                <a:cs typeface="Calibri"/>
              </a:rPr>
              <a:t>Format</a:t>
            </a:r>
          </a:p>
        </p:txBody>
      </p:sp>
      <p:sp>
        <p:nvSpPr>
          <p:cNvPr id="7" name="A simple patch routine with no preparation.">
            <a:extLst xmlns:a="http://schemas.openxmlformats.org/drawingml/2006/main">
              <a:ext uri="{FF2B5EF4-FFF2-40B4-BE49-F238E27FC236}">
                <a16:creationId xmlns:a16="http://schemas.microsoft.com/office/drawing/2014/main" id="{BEFA259C-10E7-4C7D-9D52-265B09683B0C}"/>
              </a:ext>
            </a:extLst>
          </p:cNvPr>
          <p:cNvSpPr>
            <a:spLocks xmlns:a="http://schemas.openxmlformats.org/drawingml/2006/main" noGrp="1"/>
          </p:cNvSpPr>
          <p:nvPr/>
        </p:nvSpPr>
        <p:spPr>
          <a:xfrm xmlns:a="http://schemas.openxmlformats.org/drawingml/2006/main">
            <a:off x="1419225" y="2552700"/>
            <a:ext cx="4143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EC7"/>
                </a:solidFill>
                <a:latin typeface="Calibri"/>
                <a:ea typeface="Calibri"/>
                <a:cs typeface="Calibri"/>
              </a:defRPr>
            </a:defPPr>
            <a:lvl1pPr>
              <a:defRPr sz="1950" b="0">
                <a:solidFill>
                  <a:srgbClr val="B9CEC7"/>
                </a:solidFill>
                <a:latin typeface="Calibri"/>
                <a:ea typeface="Calibri"/>
                <a:cs typeface="Calibri"/>
              </a:defRPr>
            </a:lvl1pPr>
            <a:lvl2pPr>
              <a:defRPr sz="1950" b="0">
                <a:solidFill>
                  <a:srgbClr val="B9CEC7"/>
                </a:solidFill>
                <a:latin typeface="Calibri"/>
                <a:ea typeface="Calibri"/>
                <a:cs typeface="Calibri"/>
              </a:defRPr>
            </a:lvl2pPr>
            <a:lvl3pPr>
              <a:defRPr sz="1950" b="0">
                <a:solidFill>
                  <a:srgbClr val="B9CEC7"/>
                </a:solidFill>
                <a:latin typeface="Calibri"/>
                <a:ea typeface="Calibri"/>
                <a:cs typeface="Calibri"/>
              </a:defRPr>
            </a:lvl3pPr>
            <a:lvl4pPr>
              <a:defRPr sz="1950" b="0">
                <a:solidFill>
                  <a:srgbClr val="B9CEC7"/>
                </a:solidFill>
                <a:latin typeface="Calibri"/>
                <a:ea typeface="Calibri"/>
                <a:cs typeface="Calibri"/>
              </a:defRPr>
            </a:lvl4pPr>
            <a:lvl5pPr>
              <a:defRPr sz="1950" b="0">
                <a:solidFill>
                  <a:srgbClr val="B9CEC7"/>
                </a:solidFill>
                <a:latin typeface="Calibri"/>
                <a:ea typeface="Calibri"/>
                <a:cs typeface="Calibri"/>
              </a:defRPr>
            </a:lvl5pPr>
            <a:lvl6pPr>
              <a:defRPr sz="1950" b="0">
                <a:solidFill>
                  <a:srgbClr val="B9CEC7"/>
                </a:solidFill>
                <a:latin typeface="Calibri"/>
                <a:ea typeface="Calibri"/>
                <a:cs typeface="Calibri"/>
              </a:defRPr>
            </a:lvl6pPr>
            <a:lvl7pPr>
              <a:defRPr sz="1950" b="0">
                <a:solidFill>
                  <a:srgbClr val="B9CEC7"/>
                </a:solidFill>
                <a:latin typeface="Calibri"/>
                <a:ea typeface="Calibri"/>
                <a:cs typeface="Calibri"/>
              </a:defRPr>
            </a:lvl7pPr>
            <a:lvl8pPr>
              <a:defRPr sz="1950" b="0">
                <a:solidFill>
                  <a:srgbClr val="B9CEC7"/>
                </a:solidFill>
                <a:latin typeface="Calibri"/>
                <a:ea typeface="Calibri"/>
                <a:cs typeface="Calibri"/>
              </a:defRPr>
            </a:lvl8pPr>
            <a:lvl9pPr>
              <a:defRPr sz="1950" b="0">
                <a:solidFill>
                  <a:srgbClr val="B9CEC7"/>
                </a:solidFill>
                <a:latin typeface="Calibri"/>
                <a:ea typeface="Calibri"/>
                <a:cs typeface="Calibri"/>
              </a:defRPr>
            </a:lvl9pPr>
          </a:lstStyle>
          <a:p xmlns:a="http://schemas.openxmlformats.org/drawingml/2006/main">
            <a:pPr>
              <a:defRPr sz="1950" b="0">
                <a:solidFill>
                  <a:srgbClr val="B9CEC7"/>
                </a:solidFill>
                <a:latin typeface="Calibri"/>
                <a:ea typeface="Calibri"/>
                <a:cs typeface="Calibri"/>
              </a:defRPr>
            </a:pPr>
            <a:r>
              <a:rPr sz="1950" b="0">
                <a:solidFill>
                  <a:srgbClr val="B9CEC7"/>
                </a:solidFill>
                <a:latin typeface="Calibri"/>
                <a:ea typeface="Calibri"/>
                <a:cs typeface="Calibri"/>
              </a:rPr>
              <a:t>A simple patch routine with no preparation.</a:t>
            </a:r>
          </a:p>
        </p:txBody>
      </p:sp>
      <p:sp>
        <p:nvSpPr>
          <p:cNvPr id="8" name="02">
            <a:extLst xmlns:a="http://schemas.openxmlformats.org/drawingml/2006/main">
              <a:ext uri="{FF2B5EF4-FFF2-40B4-BE49-F238E27FC236}">
                <a16:creationId xmlns:a16="http://schemas.microsoft.com/office/drawing/2014/main" id="{0E2F537B-8EE4-496B-9DD7-A38D3CCF4D86}"/>
              </a:ext>
            </a:extLst>
          </p:cNvPr>
          <p:cNvSpPr>
            <a:spLocks xmlns:a="http://schemas.openxmlformats.org/drawingml/2006/main" noGrp="1"/>
          </p:cNvSpPr>
          <p:nvPr/>
        </p:nvSpPr>
        <p:spPr>
          <a:xfrm xmlns:a="http://schemas.openxmlformats.org/drawingml/2006/main">
            <a:off x="6324600" y="20002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F9A50"/>
                </a:solidFill>
                <a:latin typeface="Calibri"/>
                <a:ea typeface="Calibri"/>
                <a:cs typeface="Calibri"/>
              </a:defRPr>
            </a:defPPr>
            <a:lvl1pPr>
              <a:defRPr sz="1650" b="0">
                <a:solidFill>
                  <a:srgbClr val="BF9A50"/>
                </a:solidFill>
                <a:latin typeface="Calibri"/>
                <a:ea typeface="Calibri"/>
                <a:cs typeface="Calibri"/>
              </a:defRPr>
            </a:lvl1pPr>
            <a:lvl2pPr>
              <a:defRPr sz="1650" b="0">
                <a:solidFill>
                  <a:srgbClr val="BF9A50"/>
                </a:solidFill>
                <a:latin typeface="Calibri"/>
                <a:ea typeface="Calibri"/>
                <a:cs typeface="Calibri"/>
              </a:defRPr>
            </a:lvl2pPr>
            <a:lvl3pPr>
              <a:defRPr sz="1650" b="0">
                <a:solidFill>
                  <a:srgbClr val="BF9A50"/>
                </a:solidFill>
                <a:latin typeface="Calibri"/>
                <a:ea typeface="Calibri"/>
                <a:cs typeface="Calibri"/>
              </a:defRPr>
            </a:lvl3pPr>
            <a:lvl4pPr>
              <a:defRPr sz="1650" b="0">
                <a:solidFill>
                  <a:srgbClr val="BF9A50"/>
                </a:solidFill>
                <a:latin typeface="Calibri"/>
                <a:ea typeface="Calibri"/>
                <a:cs typeface="Calibri"/>
              </a:defRPr>
            </a:lvl4pPr>
            <a:lvl5pPr>
              <a:defRPr sz="1650" b="0">
                <a:solidFill>
                  <a:srgbClr val="BF9A50"/>
                </a:solidFill>
                <a:latin typeface="Calibri"/>
                <a:ea typeface="Calibri"/>
                <a:cs typeface="Calibri"/>
              </a:defRPr>
            </a:lvl5pPr>
            <a:lvl6pPr>
              <a:defRPr sz="1650" b="0">
                <a:solidFill>
                  <a:srgbClr val="BF9A50"/>
                </a:solidFill>
                <a:latin typeface="Calibri"/>
                <a:ea typeface="Calibri"/>
                <a:cs typeface="Calibri"/>
              </a:defRPr>
            </a:lvl6pPr>
            <a:lvl7pPr>
              <a:defRPr sz="1650" b="0">
                <a:solidFill>
                  <a:srgbClr val="BF9A50"/>
                </a:solidFill>
                <a:latin typeface="Calibri"/>
                <a:ea typeface="Calibri"/>
                <a:cs typeface="Calibri"/>
              </a:defRPr>
            </a:lvl7pPr>
            <a:lvl8pPr>
              <a:defRPr sz="1650" b="0">
                <a:solidFill>
                  <a:srgbClr val="BF9A50"/>
                </a:solidFill>
                <a:latin typeface="Calibri"/>
                <a:ea typeface="Calibri"/>
                <a:cs typeface="Calibri"/>
              </a:defRPr>
            </a:lvl8pPr>
            <a:lvl9pPr>
              <a:defRPr sz="1650" b="0">
                <a:solidFill>
                  <a:srgbClr val="BF9A50"/>
                </a:solidFill>
                <a:latin typeface="Calibri"/>
                <a:ea typeface="Calibri"/>
                <a:cs typeface="Calibri"/>
              </a:defRPr>
            </a:lvl9pPr>
          </a:lstStyle>
          <a:p xmlns:a="http://schemas.openxmlformats.org/drawingml/2006/main">
            <a:pPr>
              <a:defRPr sz="1650" b="0">
                <a:solidFill>
                  <a:srgbClr val="BF9A50"/>
                </a:solidFill>
                <a:latin typeface="Calibri"/>
                <a:ea typeface="Calibri"/>
                <a:cs typeface="Calibri"/>
              </a:defRPr>
            </a:pPr>
            <a:r>
              <a:rPr sz="1650" b="0">
                <a:solidFill>
                  <a:srgbClr val="BF9A50"/>
                </a:solidFill>
                <a:latin typeface="Calibri"/>
                <a:ea typeface="Calibri"/>
                <a:cs typeface="Calibri"/>
              </a:rPr>
              <a:t>02</a:t>
            </a:r>
          </a:p>
        </p:txBody>
      </p:sp>
      <p:sp>
        <p:nvSpPr>
          <p:cNvPr id="9" name="Brand">
            <a:extLst xmlns:a="http://schemas.openxmlformats.org/drawingml/2006/main">
              <a:ext uri="{FF2B5EF4-FFF2-40B4-BE49-F238E27FC236}">
                <a16:creationId xmlns:a16="http://schemas.microsoft.com/office/drawing/2014/main" id="{32A2A2EE-04E9-4A72-B562-9C7E1B926D26}"/>
              </a:ext>
            </a:extLst>
          </p:cNvPr>
          <p:cNvSpPr>
            <a:spLocks xmlns:a="http://schemas.openxmlformats.org/drawingml/2006/main" noGrp="1"/>
          </p:cNvSpPr>
          <p:nvPr/>
        </p:nvSpPr>
        <p:spPr>
          <a:xfrm xmlns:a="http://schemas.openxmlformats.org/drawingml/2006/main">
            <a:off x="7134225" y="200025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5F0E7"/>
                </a:solidFill>
                <a:latin typeface="Calibri"/>
                <a:ea typeface="Calibri"/>
                <a:cs typeface="Calibri"/>
              </a:defRPr>
            </a:defPPr>
            <a:lvl1pPr>
              <a:defRPr sz="2325" b="1">
                <a:solidFill>
                  <a:srgbClr val="F5F0E7"/>
                </a:solidFill>
                <a:latin typeface="Calibri"/>
                <a:ea typeface="Calibri"/>
                <a:cs typeface="Calibri"/>
              </a:defRPr>
            </a:lvl1pPr>
            <a:lvl2pPr>
              <a:defRPr sz="2325" b="1">
                <a:solidFill>
                  <a:srgbClr val="F5F0E7"/>
                </a:solidFill>
                <a:latin typeface="Calibri"/>
                <a:ea typeface="Calibri"/>
                <a:cs typeface="Calibri"/>
              </a:defRPr>
            </a:lvl2pPr>
            <a:lvl3pPr>
              <a:defRPr sz="2325" b="1">
                <a:solidFill>
                  <a:srgbClr val="F5F0E7"/>
                </a:solidFill>
                <a:latin typeface="Calibri"/>
                <a:ea typeface="Calibri"/>
                <a:cs typeface="Calibri"/>
              </a:defRPr>
            </a:lvl3pPr>
            <a:lvl4pPr>
              <a:defRPr sz="2325" b="1">
                <a:solidFill>
                  <a:srgbClr val="F5F0E7"/>
                </a:solidFill>
                <a:latin typeface="Calibri"/>
                <a:ea typeface="Calibri"/>
                <a:cs typeface="Calibri"/>
              </a:defRPr>
            </a:lvl4pPr>
            <a:lvl5pPr>
              <a:defRPr sz="2325" b="1">
                <a:solidFill>
                  <a:srgbClr val="F5F0E7"/>
                </a:solidFill>
                <a:latin typeface="Calibri"/>
                <a:ea typeface="Calibri"/>
                <a:cs typeface="Calibri"/>
              </a:defRPr>
            </a:lvl5pPr>
            <a:lvl6pPr>
              <a:defRPr sz="2325" b="1">
                <a:solidFill>
                  <a:srgbClr val="F5F0E7"/>
                </a:solidFill>
                <a:latin typeface="Calibri"/>
                <a:ea typeface="Calibri"/>
                <a:cs typeface="Calibri"/>
              </a:defRPr>
            </a:lvl6pPr>
            <a:lvl7pPr>
              <a:defRPr sz="2325" b="1">
                <a:solidFill>
                  <a:srgbClr val="F5F0E7"/>
                </a:solidFill>
                <a:latin typeface="Calibri"/>
                <a:ea typeface="Calibri"/>
                <a:cs typeface="Calibri"/>
              </a:defRPr>
            </a:lvl7pPr>
            <a:lvl8pPr>
              <a:defRPr sz="2325" b="1">
                <a:solidFill>
                  <a:srgbClr val="F5F0E7"/>
                </a:solidFill>
                <a:latin typeface="Calibri"/>
                <a:ea typeface="Calibri"/>
                <a:cs typeface="Calibri"/>
              </a:defRPr>
            </a:lvl8pPr>
            <a:lvl9pPr>
              <a:defRPr sz="2325" b="1">
                <a:solidFill>
                  <a:srgbClr val="F5F0E7"/>
                </a:solidFill>
                <a:latin typeface="Calibri"/>
                <a:ea typeface="Calibri"/>
                <a:cs typeface="Calibri"/>
              </a:defRPr>
            </a:lvl9pPr>
          </a:lstStyle>
          <a:p xmlns:a="http://schemas.openxmlformats.org/drawingml/2006/main">
            <a:pPr>
              <a:defRPr sz="2325" b="1">
                <a:solidFill>
                  <a:srgbClr val="F5F0E7"/>
                </a:solidFill>
                <a:latin typeface="Calibri"/>
                <a:ea typeface="Calibri"/>
                <a:cs typeface="Calibri"/>
              </a:defRPr>
            </a:pPr>
            <a:r>
              <a:rPr sz="2325" b="1">
                <a:solidFill>
                  <a:srgbClr val="F5F0E7"/>
                </a:solidFill>
                <a:latin typeface="Calibri"/>
                <a:ea typeface="Calibri"/>
                <a:cs typeface="Calibri"/>
              </a:rPr>
              <a:t>Brand</a:t>
            </a:r>
          </a:p>
        </p:txBody>
      </p:sp>
      <p:sp>
        <p:nvSpPr>
          <p:cNvPr id="10" name="Premium packaging gives one flagship a consis">
            <a:extLst xmlns:a="http://schemas.openxmlformats.org/drawingml/2006/main">
              <a:ext uri="{FF2B5EF4-FFF2-40B4-BE49-F238E27FC236}">
                <a16:creationId xmlns:a16="http://schemas.microsoft.com/office/drawing/2014/main" id="{4CAB45E6-4F8B-44BB-94C5-96882F18DA4F}"/>
              </a:ext>
            </a:extLst>
          </p:cNvPr>
          <p:cNvSpPr>
            <a:spLocks xmlns:a="http://schemas.openxmlformats.org/drawingml/2006/main" noGrp="1"/>
          </p:cNvSpPr>
          <p:nvPr/>
        </p:nvSpPr>
        <p:spPr>
          <a:xfrm xmlns:a="http://schemas.openxmlformats.org/drawingml/2006/main">
            <a:off x="7134225" y="2552700"/>
            <a:ext cx="4143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EC7"/>
                </a:solidFill>
                <a:latin typeface="Calibri"/>
                <a:ea typeface="Calibri"/>
                <a:cs typeface="Calibri"/>
              </a:defRPr>
            </a:defPPr>
            <a:lvl1pPr>
              <a:defRPr sz="1950" b="0">
                <a:solidFill>
                  <a:srgbClr val="B9CEC7"/>
                </a:solidFill>
                <a:latin typeface="Calibri"/>
                <a:ea typeface="Calibri"/>
                <a:cs typeface="Calibri"/>
              </a:defRPr>
            </a:lvl1pPr>
            <a:lvl2pPr>
              <a:defRPr sz="1950" b="0">
                <a:solidFill>
                  <a:srgbClr val="B9CEC7"/>
                </a:solidFill>
                <a:latin typeface="Calibri"/>
                <a:ea typeface="Calibri"/>
                <a:cs typeface="Calibri"/>
              </a:defRPr>
            </a:lvl2pPr>
            <a:lvl3pPr>
              <a:defRPr sz="1950" b="0">
                <a:solidFill>
                  <a:srgbClr val="B9CEC7"/>
                </a:solidFill>
                <a:latin typeface="Calibri"/>
                <a:ea typeface="Calibri"/>
                <a:cs typeface="Calibri"/>
              </a:defRPr>
            </a:lvl3pPr>
            <a:lvl4pPr>
              <a:defRPr sz="1950" b="0">
                <a:solidFill>
                  <a:srgbClr val="B9CEC7"/>
                </a:solidFill>
                <a:latin typeface="Calibri"/>
                <a:ea typeface="Calibri"/>
                <a:cs typeface="Calibri"/>
              </a:defRPr>
            </a:lvl4pPr>
            <a:lvl5pPr>
              <a:defRPr sz="1950" b="0">
                <a:solidFill>
                  <a:srgbClr val="B9CEC7"/>
                </a:solidFill>
                <a:latin typeface="Calibri"/>
                <a:ea typeface="Calibri"/>
                <a:cs typeface="Calibri"/>
              </a:defRPr>
            </a:lvl5pPr>
            <a:lvl6pPr>
              <a:defRPr sz="1950" b="0">
                <a:solidFill>
                  <a:srgbClr val="B9CEC7"/>
                </a:solidFill>
                <a:latin typeface="Calibri"/>
                <a:ea typeface="Calibri"/>
                <a:cs typeface="Calibri"/>
              </a:defRPr>
            </a:lvl6pPr>
            <a:lvl7pPr>
              <a:defRPr sz="1950" b="0">
                <a:solidFill>
                  <a:srgbClr val="B9CEC7"/>
                </a:solidFill>
                <a:latin typeface="Calibri"/>
                <a:ea typeface="Calibri"/>
                <a:cs typeface="Calibri"/>
              </a:defRPr>
            </a:lvl7pPr>
            <a:lvl8pPr>
              <a:defRPr sz="1950" b="0">
                <a:solidFill>
                  <a:srgbClr val="B9CEC7"/>
                </a:solidFill>
                <a:latin typeface="Calibri"/>
                <a:ea typeface="Calibri"/>
                <a:cs typeface="Calibri"/>
              </a:defRPr>
            </a:lvl8pPr>
            <a:lvl9pPr>
              <a:defRPr sz="1950" b="0">
                <a:solidFill>
                  <a:srgbClr val="B9CEC7"/>
                </a:solidFill>
                <a:latin typeface="Calibri"/>
                <a:ea typeface="Calibri"/>
                <a:cs typeface="Calibri"/>
              </a:defRPr>
            </a:lvl9pPr>
          </a:lstStyle>
          <a:p xmlns:a="http://schemas.openxmlformats.org/drawingml/2006/main">
            <a:pPr>
              <a:defRPr sz="1950" b="0">
                <a:solidFill>
                  <a:srgbClr val="B9CEC7"/>
                </a:solidFill>
                <a:latin typeface="Calibri"/>
                <a:ea typeface="Calibri"/>
                <a:cs typeface="Calibri"/>
              </a:defRPr>
            </a:pPr>
            <a:r>
              <a:rPr sz="1950" b="0">
                <a:solidFill>
                  <a:srgbClr val="B9CEC7"/>
                </a:solidFill>
                <a:latin typeface="Calibri"/>
                <a:ea typeface="Calibri"/>
                <a:cs typeface="Calibri"/>
              </a:rPr>
              <a:t>Premium packaging gives one flagship a consistent identity.</a:t>
            </a:r>
          </a:p>
        </p:txBody>
      </p:sp>
      <p:sp>
        <p:nvSpPr>
          <p:cNvPr id="11" name="03">
            <a:extLst xmlns:a="http://schemas.openxmlformats.org/drawingml/2006/main">
              <a:ext uri="{FF2B5EF4-FFF2-40B4-BE49-F238E27FC236}">
                <a16:creationId xmlns:a16="http://schemas.microsoft.com/office/drawing/2014/main" id="{E43B1DC2-CCAB-42FD-BA16-FAAB3320137C}"/>
              </a:ext>
            </a:extLst>
          </p:cNvPr>
          <p:cNvSpPr>
            <a:spLocks xmlns:a="http://schemas.openxmlformats.org/drawingml/2006/main" noGrp="1"/>
          </p:cNvSpPr>
          <p:nvPr/>
        </p:nvSpPr>
        <p:spPr>
          <a:xfrm xmlns:a="http://schemas.openxmlformats.org/drawingml/2006/main">
            <a:off x="609600" y="3714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F9A50"/>
                </a:solidFill>
                <a:latin typeface="Calibri"/>
                <a:ea typeface="Calibri"/>
                <a:cs typeface="Calibri"/>
              </a:defRPr>
            </a:defPPr>
            <a:lvl1pPr>
              <a:defRPr sz="1650" b="0">
                <a:solidFill>
                  <a:srgbClr val="BF9A50"/>
                </a:solidFill>
                <a:latin typeface="Calibri"/>
                <a:ea typeface="Calibri"/>
                <a:cs typeface="Calibri"/>
              </a:defRPr>
            </a:lvl1pPr>
            <a:lvl2pPr>
              <a:defRPr sz="1650" b="0">
                <a:solidFill>
                  <a:srgbClr val="BF9A50"/>
                </a:solidFill>
                <a:latin typeface="Calibri"/>
                <a:ea typeface="Calibri"/>
                <a:cs typeface="Calibri"/>
              </a:defRPr>
            </a:lvl2pPr>
            <a:lvl3pPr>
              <a:defRPr sz="1650" b="0">
                <a:solidFill>
                  <a:srgbClr val="BF9A50"/>
                </a:solidFill>
                <a:latin typeface="Calibri"/>
                <a:ea typeface="Calibri"/>
                <a:cs typeface="Calibri"/>
              </a:defRPr>
            </a:lvl3pPr>
            <a:lvl4pPr>
              <a:defRPr sz="1650" b="0">
                <a:solidFill>
                  <a:srgbClr val="BF9A50"/>
                </a:solidFill>
                <a:latin typeface="Calibri"/>
                <a:ea typeface="Calibri"/>
                <a:cs typeface="Calibri"/>
              </a:defRPr>
            </a:lvl4pPr>
            <a:lvl5pPr>
              <a:defRPr sz="1650" b="0">
                <a:solidFill>
                  <a:srgbClr val="BF9A50"/>
                </a:solidFill>
                <a:latin typeface="Calibri"/>
                <a:ea typeface="Calibri"/>
                <a:cs typeface="Calibri"/>
              </a:defRPr>
            </a:lvl5pPr>
            <a:lvl6pPr>
              <a:defRPr sz="1650" b="0">
                <a:solidFill>
                  <a:srgbClr val="BF9A50"/>
                </a:solidFill>
                <a:latin typeface="Calibri"/>
                <a:ea typeface="Calibri"/>
                <a:cs typeface="Calibri"/>
              </a:defRPr>
            </a:lvl6pPr>
            <a:lvl7pPr>
              <a:defRPr sz="1650" b="0">
                <a:solidFill>
                  <a:srgbClr val="BF9A50"/>
                </a:solidFill>
                <a:latin typeface="Calibri"/>
                <a:ea typeface="Calibri"/>
                <a:cs typeface="Calibri"/>
              </a:defRPr>
            </a:lvl7pPr>
            <a:lvl8pPr>
              <a:defRPr sz="1650" b="0">
                <a:solidFill>
                  <a:srgbClr val="BF9A50"/>
                </a:solidFill>
                <a:latin typeface="Calibri"/>
                <a:ea typeface="Calibri"/>
                <a:cs typeface="Calibri"/>
              </a:defRPr>
            </a:lvl8pPr>
            <a:lvl9pPr>
              <a:defRPr sz="1650" b="0">
                <a:solidFill>
                  <a:srgbClr val="BF9A50"/>
                </a:solidFill>
                <a:latin typeface="Calibri"/>
                <a:ea typeface="Calibri"/>
                <a:cs typeface="Calibri"/>
              </a:defRPr>
            </a:lvl9pPr>
          </a:lstStyle>
          <a:p xmlns:a="http://schemas.openxmlformats.org/drawingml/2006/main">
            <a:pPr>
              <a:defRPr sz="1650" b="0">
                <a:solidFill>
                  <a:srgbClr val="BF9A50"/>
                </a:solidFill>
                <a:latin typeface="Calibri"/>
                <a:ea typeface="Calibri"/>
                <a:cs typeface="Calibri"/>
              </a:defRPr>
            </a:pPr>
            <a:r>
              <a:rPr sz="1650" b="0">
                <a:solidFill>
                  <a:srgbClr val="BF9A50"/>
                </a:solidFill>
                <a:latin typeface="Calibri"/>
                <a:ea typeface="Calibri"/>
                <a:cs typeface="Calibri"/>
              </a:rPr>
              <a:t>03</a:t>
            </a:r>
          </a:p>
        </p:txBody>
      </p:sp>
      <p:sp>
        <p:nvSpPr>
          <p:cNvPr id="12" name="Continuity">
            <a:extLst xmlns:a="http://schemas.openxmlformats.org/drawingml/2006/main">
              <a:ext uri="{FF2B5EF4-FFF2-40B4-BE49-F238E27FC236}">
                <a16:creationId xmlns:a16="http://schemas.microsoft.com/office/drawing/2014/main" id="{9639C9B6-3E14-460E-BA59-9567DF02C57A}"/>
              </a:ext>
            </a:extLst>
          </p:cNvPr>
          <p:cNvSpPr>
            <a:spLocks xmlns:a="http://schemas.openxmlformats.org/drawingml/2006/main" noGrp="1"/>
          </p:cNvSpPr>
          <p:nvPr/>
        </p:nvSpPr>
        <p:spPr>
          <a:xfrm xmlns:a="http://schemas.openxmlformats.org/drawingml/2006/main">
            <a:off x="1419225" y="371475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5F0E7"/>
                </a:solidFill>
                <a:latin typeface="Calibri"/>
                <a:ea typeface="Calibri"/>
                <a:cs typeface="Calibri"/>
              </a:defRPr>
            </a:defPPr>
            <a:lvl1pPr>
              <a:defRPr sz="2325" b="1">
                <a:solidFill>
                  <a:srgbClr val="F5F0E7"/>
                </a:solidFill>
                <a:latin typeface="Calibri"/>
                <a:ea typeface="Calibri"/>
                <a:cs typeface="Calibri"/>
              </a:defRPr>
            </a:lvl1pPr>
            <a:lvl2pPr>
              <a:defRPr sz="2325" b="1">
                <a:solidFill>
                  <a:srgbClr val="F5F0E7"/>
                </a:solidFill>
                <a:latin typeface="Calibri"/>
                <a:ea typeface="Calibri"/>
                <a:cs typeface="Calibri"/>
              </a:defRPr>
            </a:lvl2pPr>
            <a:lvl3pPr>
              <a:defRPr sz="2325" b="1">
                <a:solidFill>
                  <a:srgbClr val="F5F0E7"/>
                </a:solidFill>
                <a:latin typeface="Calibri"/>
                <a:ea typeface="Calibri"/>
                <a:cs typeface="Calibri"/>
              </a:defRPr>
            </a:lvl3pPr>
            <a:lvl4pPr>
              <a:defRPr sz="2325" b="1">
                <a:solidFill>
                  <a:srgbClr val="F5F0E7"/>
                </a:solidFill>
                <a:latin typeface="Calibri"/>
                <a:ea typeface="Calibri"/>
                <a:cs typeface="Calibri"/>
              </a:defRPr>
            </a:lvl4pPr>
            <a:lvl5pPr>
              <a:defRPr sz="2325" b="1">
                <a:solidFill>
                  <a:srgbClr val="F5F0E7"/>
                </a:solidFill>
                <a:latin typeface="Calibri"/>
                <a:ea typeface="Calibri"/>
                <a:cs typeface="Calibri"/>
              </a:defRPr>
            </a:lvl5pPr>
            <a:lvl6pPr>
              <a:defRPr sz="2325" b="1">
                <a:solidFill>
                  <a:srgbClr val="F5F0E7"/>
                </a:solidFill>
                <a:latin typeface="Calibri"/>
                <a:ea typeface="Calibri"/>
                <a:cs typeface="Calibri"/>
              </a:defRPr>
            </a:lvl6pPr>
            <a:lvl7pPr>
              <a:defRPr sz="2325" b="1">
                <a:solidFill>
                  <a:srgbClr val="F5F0E7"/>
                </a:solidFill>
                <a:latin typeface="Calibri"/>
                <a:ea typeface="Calibri"/>
                <a:cs typeface="Calibri"/>
              </a:defRPr>
            </a:lvl7pPr>
            <a:lvl8pPr>
              <a:defRPr sz="2325" b="1">
                <a:solidFill>
                  <a:srgbClr val="F5F0E7"/>
                </a:solidFill>
                <a:latin typeface="Calibri"/>
                <a:ea typeface="Calibri"/>
                <a:cs typeface="Calibri"/>
              </a:defRPr>
            </a:lvl8pPr>
            <a:lvl9pPr>
              <a:defRPr sz="2325" b="1">
                <a:solidFill>
                  <a:srgbClr val="F5F0E7"/>
                </a:solidFill>
                <a:latin typeface="Calibri"/>
                <a:ea typeface="Calibri"/>
                <a:cs typeface="Calibri"/>
              </a:defRPr>
            </a:lvl9pPr>
          </a:lstStyle>
          <a:p xmlns:a="http://schemas.openxmlformats.org/drawingml/2006/main">
            <a:pPr>
              <a:defRPr sz="2325" b="1">
                <a:solidFill>
                  <a:srgbClr val="F5F0E7"/>
                </a:solidFill>
                <a:latin typeface="Calibri"/>
                <a:ea typeface="Calibri"/>
                <a:cs typeface="Calibri"/>
              </a:defRPr>
            </a:pPr>
            <a:r>
              <a:rPr sz="2325" b="1">
                <a:solidFill>
                  <a:srgbClr val="F5F0E7"/>
                </a:solidFill>
                <a:latin typeface="Calibri"/>
                <a:ea typeface="Calibri"/>
                <a:cs typeface="Calibri"/>
              </a:rPr>
              <a:t>Continuity</a:t>
            </a:r>
          </a:p>
        </p:txBody>
      </p:sp>
      <p:sp>
        <p:nvSpPr>
          <p:cNvPr id="13" name="Monthly replenishment aligns the offer with d">
            <a:extLst xmlns:a="http://schemas.openxmlformats.org/drawingml/2006/main">
              <a:ext uri="{FF2B5EF4-FFF2-40B4-BE49-F238E27FC236}">
                <a16:creationId xmlns:a16="http://schemas.microsoft.com/office/drawing/2014/main" id="{0F3005E4-FEE6-494A-B9CC-10D5F9829275}"/>
              </a:ext>
            </a:extLst>
          </p:cNvPr>
          <p:cNvSpPr>
            <a:spLocks xmlns:a="http://schemas.openxmlformats.org/drawingml/2006/main" noGrp="1"/>
          </p:cNvSpPr>
          <p:nvPr/>
        </p:nvSpPr>
        <p:spPr>
          <a:xfrm xmlns:a="http://schemas.openxmlformats.org/drawingml/2006/main">
            <a:off x="1419225" y="4267200"/>
            <a:ext cx="4143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EC7"/>
                </a:solidFill>
                <a:latin typeface="Calibri"/>
                <a:ea typeface="Calibri"/>
                <a:cs typeface="Calibri"/>
              </a:defRPr>
            </a:defPPr>
            <a:lvl1pPr>
              <a:defRPr sz="1950" b="0">
                <a:solidFill>
                  <a:srgbClr val="B9CEC7"/>
                </a:solidFill>
                <a:latin typeface="Calibri"/>
                <a:ea typeface="Calibri"/>
                <a:cs typeface="Calibri"/>
              </a:defRPr>
            </a:lvl1pPr>
            <a:lvl2pPr>
              <a:defRPr sz="1950" b="0">
                <a:solidFill>
                  <a:srgbClr val="B9CEC7"/>
                </a:solidFill>
                <a:latin typeface="Calibri"/>
                <a:ea typeface="Calibri"/>
                <a:cs typeface="Calibri"/>
              </a:defRPr>
            </a:lvl2pPr>
            <a:lvl3pPr>
              <a:defRPr sz="1950" b="0">
                <a:solidFill>
                  <a:srgbClr val="B9CEC7"/>
                </a:solidFill>
                <a:latin typeface="Calibri"/>
                <a:ea typeface="Calibri"/>
                <a:cs typeface="Calibri"/>
              </a:defRPr>
            </a:lvl3pPr>
            <a:lvl4pPr>
              <a:defRPr sz="1950" b="0">
                <a:solidFill>
                  <a:srgbClr val="B9CEC7"/>
                </a:solidFill>
                <a:latin typeface="Calibri"/>
                <a:ea typeface="Calibri"/>
                <a:cs typeface="Calibri"/>
              </a:defRPr>
            </a:lvl4pPr>
            <a:lvl5pPr>
              <a:defRPr sz="1950" b="0">
                <a:solidFill>
                  <a:srgbClr val="B9CEC7"/>
                </a:solidFill>
                <a:latin typeface="Calibri"/>
                <a:ea typeface="Calibri"/>
                <a:cs typeface="Calibri"/>
              </a:defRPr>
            </a:lvl5pPr>
            <a:lvl6pPr>
              <a:defRPr sz="1950" b="0">
                <a:solidFill>
                  <a:srgbClr val="B9CEC7"/>
                </a:solidFill>
                <a:latin typeface="Calibri"/>
                <a:ea typeface="Calibri"/>
                <a:cs typeface="Calibri"/>
              </a:defRPr>
            </a:lvl6pPr>
            <a:lvl7pPr>
              <a:defRPr sz="1950" b="0">
                <a:solidFill>
                  <a:srgbClr val="B9CEC7"/>
                </a:solidFill>
                <a:latin typeface="Calibri"/>
                <a:ea typeface="Calibri"/>
                <a:cs typeface="Calibri"/>
              </a:defRPr>
            </a:lvl7pPr>
            <a:lvl8pPr>
              <a:defRPr sz="1950" b="0">
                <a:solidFill>
                  <a:srgbClr val="B9CEC7"/>
                </a:solidFill>
                <a:latin typeface="Calibri"/>
                <a:ea typeface="Calibri"/>
                <a:cs typeface="Calibri"/>
              </a:defRPr>
            </a:lvl8pPr>
            <a:lvl9pPr>
              <a:defRPr sz="1950" b="0">
                <a:solidFill>
                  <a:srgbClr val="B9CEC7"/>
                </a:solidFill>
                <a:latin typeface="Calibri"/>
                <a:ea typeface="Calibri"/>
                <a:cs typeface="Calibri"/>
              </a:defRPr>
            </a:lvl9pPr>
          </a:lstStyle>
          <a:p xmlns:a="http://schemas.openxmlformats.org/drawingml/2006/main">
            <a:pPr>
              <a:defRPr sz="1950" b="0">
                <a:solidFill>
                  <a:srgbClr val="B9CEC7"/>
                </a:solidFill>
                <a:latin typeface="Calibri"/>
                <a:ea typeface="Calibri"/>
                <a:cs typeface="Calibri"/>
              </a:defRPr>
            </a:pPr>
            <a:r>
              <a:rPr sz="1950" b="0">
                <a:solidFill>
                  <a:srgbClr val="B9CEC7"/>
                </a:solidFill>
                <a:latin typeface="Calibri"/>
                <a:ea typeface="Calibri"/>
                <a:cs typeface="Calibri"/>
              </a:rPr>
              <a:t>Monthly replenishment aligns the offer with daily use.</a:t>
            </a:r>
          </a:p>
        </p:txBody>
      </p:sp>
      <p:sp>
        <p:nvSpPr>
          <p:cNvPr id="14" name="04">
            <a:extLst xmlns:a="http://schemas.openxmlformats.org/drawingml/2006/main">
              <a:ext uri="{FF2B5EF4-FFF2-40B4-BE49-F238E27FC236}">
                <a16:creationId xmlns:a16="http://schemas.microsoft.com/office/drawing/2014/main" id="{7FFC24B0-DA3B-431B-97C0-4DE1C63EF7FC}"/>
              </a:ext>
            </a:extLst>
          </p:cNvPr>
          <p:cNvSpPr>
            <a:spLocks xmlns:a="http://schemas.openxmlformats.org/drawingml/2006/main" noGrp="1"/>
          </p:cNvSpPr>
          <p:nvPr/>
        </p:nvSpPr>
        <p:spPr>
          <a:xfrm xmlns:a="http://schemas.openxmlformats.org/drawingml/2006/main">
            <a:off x="6324600" y="3714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50" b="0">
                <a:solidFill>
                  <a:srgbClr val="BF9A50"/>
                </a:solidFill>
                <a:latin typeface="Calibri"/>
                <a:ea typeface="Calibri"/>
                <a:cs typeface="Calibri"/>
              </a:defRPr>
            </a:defPPr>
            <a:lvl1pPr>
              <a:defRPr sz="1650" b="0">
                <a:solidFill>
                  <a:srgbClr val="BF9A50"/>
                </a:solidFill>
                <a:latin typeface="Calibri"/>
                <a:ea typeface="Calibri"/>
                <a:cs typeface="Calibri"/>
              </a:defRPr>
            </a:lvl1pPr>
            <a:lvl2pPr>
              <a:defRPr sz="1650" b="0">
                <a:solidFill>
                  <a:srgbClr val="BF9A50"/>
                </a:solidFill>
                <a:latin typeface="Calibri"/>
                <a:ea typeface="Calibri"/>
                <a:cs typeface="Calibri"/>
              </a:defRPr>
            </a:lvl2pPr>
            <a:lvl3pPr>
              <a:defRPr sz="1650" b="0">
                <a:solidFill>
                  <a:srgbClr val="BF9A50"/>
                </a:solidFill>
                <a:latin typeface="Calibri"/>
                <a:ea typeface="Calibri"/>
                <a:cs typeface="Calibri"/>
              </a:defRPr>
            </a:lvl3pPr>
            <a:lvl4pPr>
              <a:defRPr sz="1650" b="0">
                <a:solidFill>
                  <a:srgbClr val="BF9A50"/>
                </a:solidFill>
                <a:latin typeface="Calibri"/>
                <a:ea typeface="Calibri"/>
                <a:cs typeface="Calibri"/>
              </a:defRPr>
            </a:lvl4pPr>
            <a:lvl5pPr>
              <a:defRPr sz="1650" b="0">
                <a:solidFill>
                  <a:srgbClr val="BF9A50"/>
                </a:solidFill>
                <a:latin typeface="Calibri"/>
                <a:ea typeface="Calibri"/>
                <a:cs typeface="Calibri"/>
              </a:defRPr>
            </a:lvl5pPr>
            <a:lvl6pPr>
              <a:defRPr sz="1650" b="0">
                <a:solidFill>
                  <a:srgbClr val="BF9A50"/>
                </a:solidFill>
                <a:latin typeface="Calibri"/>
                <a:ea typeface="Calibri"/>
                <a:cs typeface="Calibri"/>
              </a:defRPr>
            </a:lvl6pPr>
            <a:lvl7pPr>
              <a:defRPr sz="1650" b="0">
                <a:solidFill>
                  <a:srgbClr val="BF9A50"/>
                </a:solidFill>
                <a:latin typeface="Calibri"/>
                <a:ea typeface="Calibri"/>
                <a:cs typeface="Calibri"/>
              </a:defRPr>
            </a:lvl7pPr>
            <a:lvl8pPr>
              <a:defRPr sz="1650" b="0">
                <a:solidFill>
                  <a:srgbClr val="BF9A50"/>
                </a:solidFill>
                <a:latin typeface="Calibri"/>
                <a:ea typeface="Calibri"/>
                <a:cs typeface="Calibri"/>
              </a:defRPr>
            </a:lvl8pPr>
            <a:lvl9pPr>
              <a:defRPr sz="1650" b="0">
                <a:solidFill>
                  <a:srgbClr val="BF9A50"/>
                </a:solidFill>
                <a:latin typeface="Calibri"/>
                <a:ea typeface="Calibri"/>
                <a:cs typeface="Calibri"/>
              </a:defRPr>
            </a:lvl9pPr>
          </a:lstStyle>
          <a:p xmlns:a="http://schemas.openxmlformats.org/drawingml/2006/main">
            <a:pPr>
              <a:defRPr sz="1650" b="0">
                <a:solidFill>
                  <a:srgbClr val="BF9A50"/>
                </a:solidFill>
                <a:latin typeface="Calibri"/>
                <a:ea typeface="Calibri"/>
                <a:cs typeface="Calibri"/>
              </a:defRPr>
            </a:pPr>
            <a:r>
              <a:rPr sz="1650" b="0">
                <a:solidFill>
                  <a:srgbClr val="BF9A50"/>
                </a:solidFill>
                <a:latin typeface="Calibri"/>
                <a:ea typeface="Calibri"/>
                <a:cs typeface="Calibri"/>
              </a:rPr>
              <a:t>04</a:t>
            </a:r>
          </a:p>
        </p:txBody>
      </p:sp>
      <p:sp>
        <p:nvSpPr>
          <p:cNvPr id="15" name="Portfolio">
            <a:extLst xmlns:a="http://schemas.openxmlformats.org/drawingml/2006/main">
              <a:ext uri="{FF2B5EF4-FFF2-40B4-BE49-F238E27FC236}">
                <a16:creationId xmlns:a16="http://schemas.microsoft.com/office/drawing/2014/main" id="{0619952C-9190-4D38-8497-185E3294B50D}"/>
              </a:ext>
            </a:extLst>
          </p:cNvPr>
          <p:cNvSpPr>
            <a:spLocks xmlns:a="http://schemas.openxmlformats.org/drawingml/2006/main" noGrp="1"/>
          </p:cNvSpPr>
          <p:nvPr/>
        </p:nvSpPr>
        <p:spPr>
          <a:xfrm xmlns:a="http://schemas.openxmlformats.org/drawingml/2006/main">
            <a:off x="7134225" y="3714750"/>
            <a:ext cx="428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5F0E7"/>
                </a:solidFill>
                <a:latin typeface="Calibri"/>
                <a:ea typeface="Calibri"/>
                <a:cs typeface="Calibri"/>
              </a:defRPr>
            </a:defPPr>
            <a:lvl1pPr>
              <a:defRPr sz="2325" b="1">
                <a:solidFill>
                  <a:srgbClr val="F5F0E7"/>
                </a:solidFill>
                <a:latin typeface="Calibri"/>
                <a:ea typeface="Calibri"/>
                <a:cs typeface="Calibri"/>
              </a:defRPr>
            </a:lvl1pPr>
            <a:lvl2pPr>
              <a:defRPr sz="2325" b="1">
                <a:solidFill>
                  <a:srgbClr val="F5F0E7"/>
                </a:solidFill>
                <a:latin typeface="Calibri"/>
                <a:ea typeface="Calibri"/>
                <a:cs typeface="Calibri"/>
              </a:defRPr>
            </a:lvl2pPr>
            <a:lvl3pPr>
              <a:defRPr sz="2325" b="1">
                <a:solidFill>
                  <a:srgbClr val="F5F0E7"/>
                </a:solidFill>
                <a:latin typeface="Calibri"/>
                <a:ea typeface="Calibri"/>
                <a:cs typeface="Calibri"/>
              </a:defRPr>
            </a:lvl3pPr>
            <a:lvl4pPr>
              <a:defRPr sz="2325" b="1">
                <a:solidFill>
                  <a:srgbClr val="F5F0E7"/>
                </a:solidFill>
                <a:latin typeface="Calibri"/>
                <a:ea typeface="Calibri"/>
                <a:cs typeface="Calibri"/>
              </a:defRPr>
            </a:lvl4pPr>
            <a:lvl5pPr>
              <a:defRPr sz="2325" b="1">
                <a:solidFill>
                  <a:srgbClr val="F5F0E7"/>
                </a:solidFill>
                <a:latin typeface="Calibri"/>
                <a:ea typeface="Calibri"/>
                <a:cs typeface="Calibri"/>
              </a:defRPr>
            </a:lvl5pPr>
            <a:lvl6pPr>
              <a:defRPr sz="2325" b="1">
                <a:solidFill>
                  <a:srgbClr val="F5F0E7"/>
                </a:solidFill>
                <a:latin typeface="Calibri"/>
                <a:ea typeface="Calibri"/>
                <a:cs typeface="Calibri"/>
              </a:defRPr>
            </a:lvl6pPr>
            <a:lvl7pPr>
              <a:defRPr sz="2325" b="1">
                <a:solidFill>
                  <a:srgbClr val="F5F0E7"/>
                </a:solidFill>
                <a:latin typeface="Calibri"/>
                <a:ea typeface="Calibri"/>
                <a:cs typeface="Calibri"/>
              </a:defRPr>
            </a:lvl7pPr>
            <a:lvl8pPr>
              <a:defRPr sz="2325" b="1">
                <a:solidFill>
                  <a:srgbClr val="F5F0E7"/>
                </a:solidFill>
                <a:latin typeface="Calibri"/>
                <a:ea typeface="Calibri"/>
                <a:cs typeface="Calibri"/>
              </a:defRPr>
            </a:lvl8pPr>
            <a:lvl9pPr>
              <a:defRPr sz="2325" b="1">
                <a:solidFill>
                  <a:srgbClr val="F5F0E7"/>
                </a:solidFill>
                <a:latin typeface="Calibri"/>
                <a:ea typeface="Calibri"/>
                <a:cs typeface="Calibri"/>
              </a:defRPr>
            </a:lvl9pPr>
          </a:lstStyle>
          <a:p xmlns:a="http://schemas.openxmlformats.org/drawingml/2006/main">
            <a:pPr>
              <a:defRPr sz="2325" b="1">
                <a:solidFill>
                  <a:srgbClr val="F5F0E7"/>
                </a:solidFill>
                <a:latin typeface="Calibri"/>
                <a:ea typeface="Calibri"/>
                <a:cs typeface="Calibri"/>
              </a:defRPr>
            </a:pPr>
            <a:r>
              <a:rPr sz="2325" b="1">
                <a:solidFill>
                  <a:srgbClr val="F5F0E7"/>
                </a:solidFill>
                <a:latin typeface="Calibri"/>
                <a:ea typeface="Calibri"/>
                <a:cs typeface="Calibri"/>
              </a:rPr>
              <a:t>Portfolio</a:t>
            </a:r>
          </a:p>
        </p:txBody>
      </p:sp>
      <p:sp>
        <p:nvSpPr>
          <p:cNvPr id="16" name="Energy and Recover concepts extend the same f">
            <a:extLst xmlns:a="http://schemas.openxmlformats.org/drawingml/2006/main">
              <a:ext uri="{FF2B5EF4-FFF2-40B4-BE49-F238E27FC236}">
                <a16:creationId xmlns:a16="http://schemas.microsoft.com/office/drawing/2014/main" id="{1B218EBB-F9ED-4021-96E9-4127AF38F791}"/>
              </a:ext>
            </a:extLst>
          </p:cNvPr>
          <p:cNvSpPr>
            <a:spLocks xmlns:a="http://schemas.openxmlformats.org/drawingml/2006/main" noGrp="1"/>
          </p:cNvSpPr>
          <p:nvPr/>
        </p:nvSpPr>
        <p:spPr>
          <a:xfrm xmlns:a="http://schemas.openxmlformats.org/drawingml/2006/main">
            <a:off x="7134225" y="4267200"/>
            <a:ext cx="4143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9CEC7"/>
                </a:solidFill>
                <a:latin typeface="Calibri"/>
                <a:ea typeface="Calibri"/>
                <a:cs typeface="Calibri"/>
              </a:defRPr>
            </a:defPPr>
            <a:lvl1pPr>
              <a:defRPr sz="1950" b="0">
                <a:solidFill>
                  <a:srgbClr val="B9CEC7"/>
                </a:solidFill>
                <a:latin typeface="Calibri"/>
                <a:ea typeface="Calibri"/>
                <a:cs typeface="Calibri"/>
              </a:defRPr>
            </a:lvl1pPr>
            <a:lvl2pPr>
              <a:defRPr sz="1950" b="0">
                <a:solidFill>
                  <a:srgbClr val="B9CEC7"/>
                </a:solidFill>
                <a:latin typeface="Calibri"/>
                <a:ea typeface="Calibri"/>
                <a:cs typeface="Calibri"/>
              </a:defRPr>
            </a:lvl2pPr>
            <a:lvl3pPr>
              <a:defRPr sz="1950" b="0">
                <a:solidFill>
                  <a:srgbClr val="B9CEC7"/>
                </a:solidFill>
                <a:latin typeface="Calibri"/>
                <a:ea typeface="Calibri"/>
                <a:cs typeface="Calibri"/>
              </a:defRPr>
            </a:lvl3pPr>
            <a:lvl4pPr>
              <a:defRPr sz="1950" b="0">
                <a:solidFill>
                  <a:srgbClr val="B9CEC7"/>
                </a:solidFill>
                <a:latin typeface="Calibri"/>
                <a:ea typeface="Calibri"/>
                <a:cs typeface="Calibri"/>
              </a:defRPr>
            </a:lvl4pPr>
            <a:lvl5pPr>
              <a:defRPr sz="1950" b="0">
                <a:solidFill>
                  <a:srgbClr val="B9CEC7"/>
                </a:solidFill>
                <a:latin typeface="Calibri"/>
                <a:ea typeface="Calibri"/>
                <a:cs typeface="Calibri"/>
              </a:defRPr>
            </a:lvl5pPr>
            <a:lvl6pPr>
              <a:defRPr sz="1950" b="0">
                <a:solidFill>
                  <a:srgbClr val="B9CEC7"/>
                </a:solidFill>
                <a:latin typeface="Calibri"/>
                <a:ea typeface="Calibri"/>
                <a:cs typeface="Calibri"/>
              </a:defRPr>
            </a:lvl6pPr>
            <a:lvl7pPr>
              <a:defRPr sz="1950" b="0">
                <a:solidFill>
                  <a:srgbClr val="B9CEC7"/>
                </a:solidFill>
                <a:latin typeface="Calibri"/>
                <a:ea typeface="Calibri"/>
                <a:cs typeface="Calibri"/>
              </a:defRPr>
            </a:lvl7pPr>
            <a:lvl8pPr>
              <a:defRPr sz="1950" b="0">
                <a:solidFill>
                  <a:srgbClr val="B9CEC7"/>
                </a:solidFill>
                <a:latin typeface="Calibri"/>
                <a:ea typeface="Calibri"/>
                <a:cs typeface="Calibri"/>
              </a:defRPr>
            </a:lvl8pPr>
            <a:lvl9pPr>
              <a:defRPr sz="1950" b="0">
                <a:solidFill>
                  <a:srgbClr val="B9CEC7"/>
                </a:solidFill>
                <a:latin typeface="Calibri"/>
                <a:ea typeface="Calibri"/>
                <a:cs typeface="Calibri"/>
              </a:defRPr>
            </a:lvl9pPr>
          </a:lstStyle>
          <a:p xmlns:a="http://schemas.openxmlformats.org/drawingml/2006/main">
            <a:pPr>
              <a:defRPr sz="1950" b="0">
                <a:solidFill>
                  <a:srgbClr val="B9CEC7"/>
                </a:solidFill>
                <a:latin typeface="Calibri"/>
                <a:ea typeface="Calibri"/>
                <a:cs typeface="Calibri"/>
              </a:defRPr>
            </a:pPr>
            <a:r>
              <a:rPr sz="1950" b="0">
                <a:solidFill>
                  <a:srgbClr val="B9CEC7"/>
                </a:solidFill>
                <a:latin typeface="Calibri"/>
                <a:ea typeface="Calibri"/>
                <a:cs typeface="Calibri"/>
              </a:rPr>
              <a:t>Energy and Recover concepts extend the same format.</a:t>
            </a:r>
          </a:p>
        </p:txBody>
      </p:sp>
      <p:sp>
        <p:nvSpPr>
          <p:cNvPr id="17" name="Positioning hypotheses. Customer preference, ">
            <a:extLst xmlns:a="http://schemas.openxmlformats.org/drawingml/2006/main">
              <a:ext uri="{FF2B5EF4-FFF2-40B4-BE49-F238E27FC236}">
                <a16:creationId xmlns:a16="http://schemas.microsoft.com/office/drawing/2014/main" id="{2A53A1C4-F8B3-400D-AE3D-39CB1197FA69}"/>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B9CEC7"/>
                </a:solidFill>
                <a:latin typeface="Calibri"/>
                <a:ea typeface="Calibri"/>
                <a:cs typeface="Calibri"/>
              </a:defRPr>
            </a:defPPr>
            <a:lvl1pPr>
              <a:defRPr sz="1275" b="0">
                <a:solidFill>
                  <a:srgbClr val="B9CEC7"/>
                </a:solidFill>
                <a:latin typeface="Calibri"/>
                <a:ea typeface="Calibri"/>
                <a:cs typeface="Calibri"/>
              </a:defRPr>
            </a:lvl1pPr>
            <a:lvl2pPr>
              <a:defRPr sz="1275" b="0">
                <a:solidFill>
                  <a:srgbClr val="B9CEC7"/>
                </a:solidFill>
                <a:latin typeface="Calibri"/>
                <a:ea typeface="Calibri"/>
                <a:cs typeface="Calibri"/>
              </a:defRPr>
            </a:lvl2pPr>
            <a:lvl3pPr>
              <a:defRPr sz="1275" b="0">
                <a:solidFill>
                  <a:srgbClr val="B9CEC7"/>
                </a:solidFill>
                <a:latin typeface="Calibri"/>
                <a:ea typeface="Calibri"/>
                <a:cs typeface="Calibri"/>
              </a:defRPr>
            </a:lvl3pPr>
            <a:lvl4pPr>
              <a:defRPr sz="1275" b="0">
                <a:solidFill>
                  <a:srgbClr val="B9CEC7"/>
                </a:solidFill>
                <a:latin typeface="Calibri"/>
                <a:ea typeface="Calibri"/>
                <a:cs typeface="Calibri"/>
              </a:defRPr>
            </a:lvl4pPr>
            <a:lvl5pPr>
              <a:defRPr sz="1275" b="0">
                <a:solidFill>
                  <a:srgbClr val="B9CEC7"/>
                </a:solidFill>
                <a:latin typeface="Calibri"/>
                <a:ea typeface="Calibri"/>
                <a:cs typeface="Calibri"/>
              </a:defRPr>
            </a:lvl5pPr>
            <a:lvl6pPr>
              <a:defRPr sz="1275" b="0">
                <a:solidFill>
                  <a:srgbClr val="B9CEC7"/>
                </a:solidFill>
                <a:latin typeface="Calibri"/>
                <a:ea typeface="Calibri"/>
                <a:cs typeface="Calibri"/>
              </a:defRPr>
            </a:lvl6pPr>
            <a:lvl7pPr>
              <a:defRPr sz="1275" b="0">
                <a:solidFill>
                  <a:srgbClr val="B9CEC7"/>
                </a:solidFill>
                <a:latin typeface="Calibri"/>
                <a:ea typeface="Calibri"/>
                <a:cs typeface="Calibri"/>
              </a:defRPr>
            </a:lvl7pPr>
            <a:lvl8pPr>
              <a:defRPr sz="1275" b="0">
                <a:solidFill>
                  <a:srgbClr val="B9CEC7"/>
                </a:solidFill>
                <a:latin typeface="Calibri"/>
                <a:ea typeface="Calibri"/>
                <a:cs typeface="Calibri"/>
              </a:defRPr>
            </a:lvl8pPr>
            <a:lvl9pPr>
              <a:defRPr sz="1275" b="0">
                <a:solidFill>
                  <a:srgbClr val="B9CEC7"/>
                </a:solidFill>
                <a:latin typeface="Calibri"/>
                <a:ea typeface="Calibri"/>
                <a:cs typeface="Calibri"/>
              </a:defRPr>
            </a:lvl9pPr>
          </a:lstStyle>
          <a:p xmlns:a="http://schemas.openxmlformats.org/drawingml/2006/main">
            <a:pPr>
              <a:defRPr sz="1275" b="0">
                <a:solidFill>
                  <a:srgbClr val="B9CEC7"/>
                </a:solidFill>
                <a:latin typeface="Calibri"/>
                <a:ea typeface="Calibri"/>
                <a:cs typeface="Calibri"/>
              </a:defRPr>
            </a:pPr>
            <a:r>
              <a:rPr sz="1275" b="0">
                <a:solidFill>
                  <a:srgbClr val="B9CEC7"/>
                </a:solidFill>
                <a:latin typeface="Calibri"/>
                <a:ea typeface="Calibri"/>
                <a:cs typeface="Calibri"/>
              </a:rPr>
              <a:t>Positioning hypotheses. Customer preference, retention and competitive advantage remain unproven.</a:t>
            </a:r>
          </a:p>
        </p:txBody>
      </p:sp>
    </p:spTree>
    <p:extLst>
      <p:ext uri="{BB962C8B-B14F-4D97-AF65-F5344CB8AC3E}">
        <p14:creationId xmlns:p14="http://schemas.microsoft.com/office/powerpoint/2010/main" val="142145562"/>
      </p:ext>
    </p:extLst>
  </p:cSld>
</p:sld>
</file>

<file path=ppt/slides/slide5.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 name="Development progress and evidence">
            <a:extLst xmlns:a="http://schemas.openxmlformats.org/drawingml/2006/main">
              <a:ext uri="{FF2B5EF4-FFF2-40B4-BE49-F238E27FC236}">
                <a16:creationId xmlns:a16="http://schemas.microsoft.com/office/drawing/2014/main" id="{6526A33C-E607-4244-AF22-EBF0E5022FCB}"/>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73F48"/>
                </a:solidFill>
                <a:latin typeface="Calibri"/>
                <a:ea typeface="Calibri"/>
                <a:cs typeface="Calibri"/>
              </a:defRPr>
            </a:defPPr>
            <a:lvl1pPr>
              <a:defRPr sz="3300" b="0">
                <a:solidFill>
                  <a:srgbClr val="073F48"/>
                </a:solidFill>
                <a:latin typeface="Calibri"/>
                <a:ea typeface="Calibri"/>
                <a:cs typeface="Calibri"/>
              </a:defRPr>
            </a:lvl1pPr>
            <a:lvl2pPr>
              <a:defRPr sz="3300" b="0">
                <a:solidFill>
                  <a:srgbClr val="073F48"/>
                </a:solidFill>
                <a:latin typeface="Calibri"/>
                <a:ea typeface="Calibri"/>
                <a:cs typeface="Calibri"/>
              </a:defRPr>
            </a:lvl2pPr>
            <a:lvl3pPr>
              <a:defRPr sz="3300" b="0">
                <a:solidFill>
                  <a:srgbClr val="073F48"/>
                </a:solidFill>
                <a:latin typeface="Calibri"/>
                <a:ea typeface="Calibri"/>
                <a:cs typeface="Calibri"/>
              </a:defRPr>
            </a:lvl3pPr>
            <a:lvl4pPr>
              <a:defRPr sz="3300" b="0">
                <a:solidFill>
                  <a:srgbClr val="073F48"/>
                </a:solidFill>
                <a:latin typeface="Calibri"/>
                <a:ea typeface="Calibri"/>
                <a:cs typeface="Calibri"/>
              </a:defRPr>
            </a:lvl4pPr>
            <a:lvl5pPr>
              <a:defRPr sz="3300" b="0">
                <a:solidFill>
                  <a:srgbClr val="073F48"/>
                </a:solidFill>
                <a:latin typeface="Calibri"/>
                <a:ea typeface="Calibri"/>
                <a:cs typeface="Calibri"/>
              </a:defRPr>
            </a:lvl5pPr>
            <a:lvl6pPr>
              <a:defRPr sz="3300" b="0">
                <a:solidFill>
                  <a:srgbClr val="073F48"/>
                </a:solidFill>
                <a:latin typeface="Calibri"/>
                <a:ea typeface="Calibri"/>
                <a:cs typeface="Calibri"/>
              </a:defRPr>
            </a:lvl6pPr>
            <a:lvl7pPr>
              <a:defRPr sz="3300" b="0">
                <a:solidFill>
                  <a:srgbClr val="073F48"/>
                </a:solidFill>
                <a:latin typeface="Calibri"/>
                <a:ea typeface="Calibri"/>
                <a:cs typeface="Calibri"/>
              </a:defRPr>
            </a:lvl7pPr>
            <a:lvl8pPr>
              <a:defRPr sz="3300" b="0">
                <a:solidFill>
                  <a:srgbClr val="073F48"/>
                </a:solidFill>
                <a:latin typeface="Calibri"/>
                <a:ea typeface="Calibri"/>
                <a:cs typeface="Calibri"/>
              </a:defRPr>
            </a:lvl8pPr>
            <a:lvl9pPr>
              <a:defRPr sz="3300" b="0">
                <a:solidFill>
                  <a:srgbClr val="073F48"/>
                </a:solidFill>
                <a:latin typeface="Calibri"/>
                <a:ea typeface="Calibri"/>
                <a:cs typeface="Calibri"/>
              </a:defRPr>
            </a:lvl9pPr>
          </a:lstStyle>
          <a:p xmlns:a="http://schemas.openxmlformats.org/drawingml/2006/main">
            <a:pPr>
              <a:defRPr sz="3300" b="0">
                <a:solidFill>
                  <a:srgbClr val="073F48"/>
                </a:solidFill>
                <a:latin typeface="Calibri"/>
                <a:ea typeface="Calibri"/>
                <a:cs typeface="Calibri"/>
              </a:defRPr>
            </a:pPr>
            <a:r>
              <a:rPr sz="3300" b="0">
                <a:solidFill>
                  <a:srgbClr val="073F48"/>
                </a:solidFill>
                <a:latin typeface="Calibri"/>
                <a:ea typeface="Calibri"/>
                <a:cs typeface="Calibri"/>
              </a:rPr>
              <a:t>Development progress and evidence</a:t>
            </a:r>
          </a:p>
        </p:txBody>
      </p:sp>
      <p:sp>
        <p:nvSpPr>
          <p:cNvPr id="3" name="AURA PATCH  /  CONFIDENTIAL  /  OCTOBER 2026">
            <a:extLst xmlns:a="http://schemas.openxmlformats.org/drawingml/2006/main">
              <a:ext uri="{FF2B5EF4-FFF2-40B4-BE49-F238E27FC236}">
                <a16:creationId xmlns:a16="http://schemas.microsoft.com/office/drawing/2014/main" id="{038C8D33-F9DC-4CCB-A6BF-51561B24CBB0}"/>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567371"/>
                </a:solidFill>
                <a:latin typeface="Calibri"/>
                <a:ea typeface="Calibri"/>
                <a:cs typeface="Calibri"/>
              </a:defRPr>
            </a:defPPr>
            <a:lvl1pPr>
              <a:defRPr sz="900" b="0">
                <a:solidFill>
                  <a:srgbClr val="567371"/>
                </a:solidFill>
                <a:latin typeface="Calibri"/>
                <a:ea typeface="Calibri"/>
                <a:cs typeface="Calibri"/>
              </a:defRPr>
            </a:lvl1pPr>
            <a:lvl2pPr>
              <a:defRPr sz="900" b="0">
                <a:solidFill>
                  <a:srgbClr val="567371"/>
                </a:solidFill>
                <a:latin typeface="Calibri"/>
                <a:ea typeface="Calibri"/>
                <a:cs typeface="Calibri"/>
              </a:defRPr>
            </a:lvl2pPr>
            <a:lvl3pPr>
              <a:defRPr sz="900" b="0">
                <a:solidFill>
                  <a:srgbClr val="567371"/>
                </a:solidFill>
                <a:latin typeface="Calibri"/>
                <a:ea typeface="Calibri"/>
                <a:cs typeface="Calibri"/>
              </a:defRPr>
            </a:lvl3pPr>
            <a:lvl4pPr>
              <a:defRPr sz="900" b="0">
                <a:solidFill>
                  <a:srgbClr val="567371"/>
                </a:solidFill>
                <a:latin typeface="Calibri"/>
                <a:ea typeface="Calibri"/>
                <a:cs typeface="Calibri"/>
              </a:defRPr>
            </a:lvl4pPr>
            <a:lvl5pPr>
              <a:defRPr sz="900" b="0">
                <a:solidFill>
                  <a:srgbClr val="567371"/>
                </a:solidFill>
                <a:latin typeface="Calibri"/>
                <a:ea typeface="Calibri"/>
                <a:cs typeface="Calibri"/>
              </a:defRPr>
            </a:lvl5pPr>
            <a:lvl6pPr>
              <a:defRPr sz="900" b="0">
                <a:solidFill>
                  <a:srgbClr val="567371"/>
                </a:solidFill>
                <a:latin typeface="Calibri"/>
                <a:ea typeface="Calibri"/>
                <a:cs typeface="Calibri"/>
              </a:defRPr>
            </a:lvl6pPr>
            <a:lvl7pPr>
              <a:defRPr sz="900" b="0">
                <a:solidFill>
                  <a:srgbClr val="567371"/>
                </a:solidFill>
                <a:latin typeface="Calibri"/>
                <a:ea typeface="Calibri"/>
                <a:cs typeface="Calibri"/>
              </a:defRPr>
            </a:lvl7pPr>
            <a:lvl8pPr>
              <a:defRPr sz="900" b="0">
                <a:solidFill>
                  <a:srgbClr val="567371"/>
                </a:solidFill>
                <a:latin typeface="Calibri"/>
                <a:ea typeface="Calibri"/>
                <a:cs typeface="Calibri"/>
              </a:defRPr>
            </a:lvl8pPr>
            <a:lvl9pPr>
              <a:defRPr sz="900" b="0">
                <a:solidFill>
                  <a:srgbClr val="567371"/>
                </a:solidFill>
                <a:latin typeface="Calibri"/>
                <a:ea typeface="Calibri"/>
                <a:cs typeface="Calibri"/>
              </a:defRPr>
            </a:lvl9pPr>
          </a:lstStyle>
          <a:p xmlns:a="http://schemas.openxmlformats.org/drawingml/2006/main">
            <a:pPr>
              <a:defRPr sz="900" b="0">
                <a:solidFill>
                  <a:srgbClr val="567371"/>
                </a:solidFill>
                <a:latin typeface="Calibri"/>
                <a:ea typeface="Calibri"/>
                <a:cs typeface="Calibri"/>
              </a:defRPr>
            </a:pPr>
            <a:r>
              <a:rPr sz="900" b="0">
                <a:solidFill>
                  <a:srgbClr val="567371"/>
                </a:solidFill>
                <a:latin typeface="Calibri"/>
                <a:ea typeface="Calibri"/>
                <a:cs typeface="Calibri"/>
              </a:rPr>
              <a:t>AURA PATCH  /  CONFIDENTIAL  /  OCTOBER 2026</a:t>
            </a:r>
          </a:p>
        </p:txBody>
      </p:sp>
      <p:sp>
        <p:nvSpPr>
          <p:cNvPr id="4" name="05">
            <a:extLst xmlns:a="http://schemas.openxmlformats.org/drawingml/2006/main">
              <a:ext uri="{FF2B5EF4-FFF2-40B4-BE49-F238E27FC236}">
                <a16:creationId xmlns:a16="http://schemas.microsoft.com/office/drawing/2014/main" id="{D6EE6E14-8DB1-486C-9F76-F5980D4C72A6}"/>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05</a:t>
            </a:r>
          </a:p>
        </p:txBody>
      </p:sp>
      <p:sp>
        <p:nvSpPr>
          <p:cNvPr id="5" name="5+ years">
            <a:extLst xmlns:a="http://schemas.openxmlformats.org/drawingml/2006/main">
              <a:ext uri="{FF2B5EF4-FFF2-40B4-BE49-F238E27FC236}">
                <a16:creationId xmlns:a16="http://schemas.microsoft.com/office/drawing/2014/main" id="{33621359-C34C-4EAD-A3EC-A51E80AD1904}"/>
              </a:ext>
            </a:extLst>
          </p:cNvPr>
          <p:cNvSpPr>
            <a:spLocks xmlns:a="http://schemas.openxmlformats.org/drawingml/2006/main" noGrp="1"/>
          </p:cNvSpPr>
          <p:nvPr/>
        </p:nvSpPr>
        <p:spPr>
          <a:xfrm xmlns:a="http://schemas.openxmlformats.org/drawingml/2006/main">
            <a:off x="609600" y="1924050"/>
            <a:ext cx="338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0">
                <a:solidFill>
                  <a:srgbClr val="073F48"/>
                </a:solidFill>
                <a:latin typeface="Calibri"/>
                <a:ea typeface="Calibri"/>
                <a:cs typeface="Calibri"/>
              </a:defRPr>
            </a:defPPr>
            <a:lvl1pPr>
              <a:defRPr sz="4800" b="0">
                <a:solidFill>
                  <a:srgbClr val="073F48"/>
                </a:solidFill>
                <a:latin typeface="Calibri"/>
                <a:ea typeface="Calibri"/>
                <a:cs typeface="Calibri"/>
              </a:defRPr>
            </a:lvl1pPr>
            <a:lvl2pPr>
              <a:defRPr sz="4800" b="0">
                <a:solidFill>
                  <a:srgbClr val="073F48"/>
                </a:solidFill>
                <a:latin typeface="Calibri"/>
                <a:ea typeface="Calibri"/>
                <a:cs typeface="Calibri"/>
              </a:defRPr>
            </a:lvl2pPr>
            <a:lvl3pPr>
              <a:defRPr sz="4800" b="0">
                <a:solidFill>
                  <a:srgbClr val="073F48"/>
                </a:solidFill>
                <a:latin typeface="Calibri"/>
                <a:ea typeface="Calibri"/>
                <a:cs typeface="Calibri"/>
              </a:defRPr>
            </a:lvl3pPr>
            <a:lvl4pPr>
              <a:defRPr sz="4800" b="0">
                <a:solidFill>
                  <a:srgbClr val="073F48"/>
                </a:solidFill>
                <a:latin typeface="Calibri"/>
                <a:ea typeface="Calibri"/>
                <a:cs typeface="Calibri"/>
              </a:defRPr>
            </a:lvl4pPr>
            <a:lvl5pPr>
              <a:defRPr sz="4800" b="0">
                <a:solidFill>
                  <a:srgbClr val="073F48"/>
                </a:solidFill>
                <a:latin typeface="Calibri"/>
                <a:ea typeface="Calibri"/>
                <a:cs typeface="Calibri"/>
              </a:defRPr>
            </a:lvl5pPr>
            <a:lvl6pPr>
              <a:defRPr sz="4800" b="0">
                <a:solidFill>
                  <a:srgbClr val="073F48"/>
                </a:solidFill>
                <a:latin typeface="Calibri"/>
                <a:ea typeface="Calibri"/>
                <a:cs typeface="Calibri"/>
              </a:defRPr>
            </a:lvl6pPr>
            <a:lvl7pPr>
              <a:defRPr sz="4800" b="0">
                <a:solidFill>
                  <a:srgbClr val="073F48"/>
                </a:solidFill>
                <a:latin typeface="Calibri"/>
                <a:ea typeface="Calibri"/>
                <a:cs typeface="Calibri"/>
              </a:defRPr>
            </a:lvl7pPr>
            <a:lvl8pPr>
              <a:defRPr sz="4800" b="0">
                <a:solidFill>
                  <a:srgbClr val="073F48"/>
                </a:solidFill>
                <a:latin typeface="Calibri"/>
                <a:ea typeface="Calibri"/>
                <a:cs typeface="Calibri"/>
              </a:defRPr>
            </a:lvl8pPr>
            <a:lvl9pPr>
              <a:defRPr sz="4800" b="0">
                <a:solidFill>
                  <a:srgbClr val="073F48"/>
                </a:solidFill>
                <a:latin typeface="Calibri"/>
                <a:ea typeface="Calibri"/>
                <a:cs typeface="Calibri"/>
              </a:defRPr>
            </a:lvl9pPr>
          </a:lstStyle>
          <a:p xmlns:a="http://schemas.openxmlformats.org/drawingml/2006/main">
            <a:pPr>
              <a:defRPr sz="4800" b="0">
                <a:solidFill>
                  <a:srgbClr val="073F48"/>
                </a:solidFill>
                <a:latin typeface="Calibri"/>
                <a:ea typeface="Calibri"/>
                <a:cs typeface="Calibri"/>
              </a:defRPr>
            </a:pPr>
            <a:r>
              <a:rPr sz="4800" b="0">
                <a:solidFill>
                  <a:srgbClr val="073F48"/>
                </a:solidFill>
                <a:latin typeface="Calibri"/>
                <a:ea typeface="Calibri"/>
                <a:cs typeface="Calibri"/>
              </a:rPr>
              <a:t>5+ years</a:t>
            </a:r>
          </a:p>
        </p:txBody>
      </p:sp>
      <p:sp>
        <p:nvSpPr>
          <p:cNvPr id="6" name="Founder-led development">
            <a:extLst xmlns:a="http://schemas.openxmlformats.org/drawingml/2006/main">
              <a:ext uri="{FF2B5EF4-FFF2-40B4-BE49-F238E27FC236}">
                <a16:creationId xmlns:a16="http://schemas.microsoft.com/office/drawing/2014/main" id="{5E610836-D57A-4B59-AE15-47C85154C728}"/>
              </a:ext>
            </a:extLst>
          </p:cNvPr>
          <p:cNvSpPr>
            <a:spLocks xmlns:a="http://schemas.openxmlformats.org/drawingml/2006/main" noGrp="1"/>
          </p:cNvSpPr>
          <p:nvPr/>
        </p:nvSpPr>
        <p:spPr>
          <a:xfrm xmlns:a="http://schemas.openxmlformats.org/drawingml/2006/main">
            <a:off x="609600" y="2924175"/>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7371"/>
                </a:solidFill>
                <a:latin typeface="Calibri"/>
                <a:ea typeface="Calibri"/>
                <a:cs typeface="Calibri"/>
              </a:defRPr>
            </a:defPPr>
            <a:lvl1pPr>
              <a:defRPr sz="1875" b="0">
                <a:solidFill>
                  <a:srgbClr val="567371"/>
                </a:solidFill>
                <a:latin typeface="Calibri"/>
                <a:ea typeface="Calibri"/>
                <a:cs typeface="Calibri"/>
              </a:defRPr>
            </a:lvl1pPr>
            <a:lvl2pPr>
              <a:defRPr sz="1875" b="0">
                <a:solidFill>
                  <a:srgbClr val="567371"/>
                </a:solidFill>
                <a:latin typeface="Calibri"/>
                <a:ea typeface="Calibri"/>
                <a:cs typeface="Calibri"/>
              </a:defRPr>
            </a:lvl2pPr>
            <a:lvl3pPr>
              <a:defRPr sz="1875" b="0">
                <a:solidFill>
                  <a:srgbClr val="567371"/>
                </a:solidFill>
                <a:latin typeface="Calibri"/>
                <a:ea typeface="Calibri"/>
                <a:cs typeface="Calibri"/>
              </a:defRPr>
            </a:lvl3pPr>
            <a:lvl4pPr>
              <a:defRPr sz="1875" b="0">
                <a:solidFill>
                  <a:srgbClr val="567371"/>
                </a:solidFill>
                <a:latin typeface="Calibri"/>
                <a:ea typeface="Calibri"/>
                <a:cs typeface="Calibri"/>
              </a:defRPr>
            </a:lvl4pPr>
            <a:lvl5pPr>
              <a:defRPr sz="1875" b="0">
                <a:solidFill>
                  <a:srgbClr val="567371"/>
                </a:solidFill>
                <a:latin typeface="Calibri"/>
                <a:ea typeface="Calibri"/>
                <a:cs typeface="Calibri"/>
              </a:defRPr>
            </a:lvl5pPr>
            <a:lvl6pPr>
              <a:defRPr sz="1875" b="0">
                <a:solidFill>
                  <a:srgbClr val="567371"/>
                </a:solidFill>
                <a:latin typeface="Calibri"/>
                <a:ea typeface="Calibri"/>
                <a:cs typeface="Calibri"/>
              </a:defRPr>
            </a:lvl6pPr>
            <a:lvl7pPr>
              <a:defRPr sz="1875" b="0">
                <a:solidFill>
                  <a:srgbClr val="567371"/>
                </a:solidFill>
                <a:latin typeface="Calibri"/>
                <a:ea typeface="Calibri"/>
                <a:cs typeface="Calibri"/>
              </a:defRPr>
            </a:lvl7pPr>
            <a:lvl8pPr>
              <a:defRPr sz="1875" b="0">
                <a:solidFill>
                  <a:srgbClr val="567371"/>
                </a:solidFill>
                <a:latin typeface="Calibri"/>
                <a:ea typeface="Calibri"/>
                <a:cs typeface="Calibri"/>
              </a:defRPr>
            </a:lvl8pPr>
            <a:lvl9pPr>
              <a:defRPr sz="1875" b="0">
                <a:solidFill>
                  <a:srgbClr val="567371"/>
                </a:solidFill>
                <a:latin typeface="Calibri"/>
                <a:ea typeface="Calibri"/>
                <a:cs typeface="Calibri"/>
              </a:defRPr>
            </a:lvl9pPr>
          </a:lstStyle>
          <a:p xmlns:a="http://schemas.openxmlformats.org/drawingml/2006/main">
            <a:pPr>
              <a:defRPr sz="1875" b="0">
                <a:solidFill>
                  <a:srgbClr val="567371"/>
                </a:solidFill>
                <a:latin typeface="Calibri"/>
                <a:ea typeface="Calibri"/>
                <a:cs typeface="Calibri"/>
              </a:defRPr>
            </a:pPr>
            <a:r>
              <a:rPr sz="1875" b="0">
                <a:solidFill>
                  <a:srgbClr val="567371"/>
                </a:solidFill>
                <a:latin typeface="Calibri"/>
                <a:ea typeface="Calibri"/>
                <a:cs typeface="Calibri"/>
              </a:rPr>
              <a:t>Founder-led development</a:t>
            </a:r>
          </a:p>
        </p:txBody>
      </p:sp>
      <p:sp>
        <p:nvSpPr>
          <p:cNvPr id="7" name="~$100K">
            <a:extLst xmlns:a="http://schemas.openxmlformats.org/drawingml/2006/main">
              <a:ext uri="{FF2B5EF4-FFF2-40B4-BE49-F238E27FC236}">
                <a16:creationId xmlns:a16="http://schemas.microsoft.com/office/drawing/2014/main" id="{12C0504C-7135-47D8-8B49-C676CE726C15}"/>
              </a:ext>
            </a:extLst>
          </p:cNvPr>
          <p:cNvSpPr>
            <a:spLocks xmlns:a="http://schemas.openxmlformats.org/drawingml/2006/main" noGrp="1"/>
          </p:cNvSpPr>
          <p:nvPr/>
        </p:nvSpPr>
        <p:spPr>
          <a:xfrm xmlns:a="http://schemas.openxmlformats.org/drawingml/2006/main">
            <a:off x="4324350" y="1924050"/>
            <a:ext cx="338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0">
                <a:solidFill>
                  <a:srgbClr val="073F48"/>
                </a:solidFill>
                <a:latin typeface="Calibri"/>
                <a:ea typeface="Calibri"/>
                <a:cs typeface="Calibri"/>
              </a:defRPr>
            </a:defPPr>
            <a:lvl1pPr>
              <a:defRPr sz="4800" b="0">
                <a:solidFill>
                  <a:srgbClr val="073F48"/>
                </a:solidFill>
                <a:latin typeface="Calibri"/>
                <a:ea typeface="Calibri"/>
                <a:cs typeface="Calibri"/>
              </a:defRPr>
            </a:lvl1pPr>
            <a:lvl2pPr>
              <a:defRPr sz="4800" b="0">
                <a:solidFill>
                  <a:srgbClr val="073F48"/>
                </a:solidFill>
                <a:latin typeface="Calibri"/>
                <a:ea typeface="Calibri"/>
                <a:cs typeface="Calibri"/>
              </a:defRPr>
            </a:lvl2pPr>
            <a:lvl3pPr>
              <a:defRPr sz="4800" b="0">
                <a:solidFill>
                  <a:srgbClr val="073F48"/>
                </a:solidFill>
                <a:latin typeface="Calibri"/>
                <a:ea typeface="Calibri"/>
                <a:cs typeface="Calibri"/>
              </a:defRPr>
            </a:lvl3pPr>
            <a:lvl4pPr>
              <a:defRPr sz="4800" b="0">
                <a:solidFill>
                  <a:srgbClr val="073F48"/>
                </a:solidFill>
                <a:latin typeface="Calibri"/>
                <a:ea typeface="Calibri"/>
                <a:cs typeface="Calibri"/>
              </a:defRPr>
            </a:lvl4pPr>
            <a:lvl5pPr>
              <a:defRPr sz="4800" b="0">
                <a:solidFill>
                  <a:srgbClr val="073F48"/>
                </a:solidFill>
                <a:latin typeface="Calibri"/>
                <a:ea typeface="Calibri"/>
                <a:cs typeface="Calibri"/>
              </a:defRPr>
            </a:lvl5pPr>
            <a:lvl6pPr>
              <a:defRPr sz="4800" b="0">
                <a:solidFill>
                  <a:srgbClr val="073F48"/>
                </a:solidFill>
                <a:latin typeface="Calibri"/>
                <a:ea typeface="Calibri"/>
                <a:cs typeface="Calibri"/>
              </a:defRPr>
            </a:lvl6pPr>
            <a:lvl7pPr>
              <a:defRPr sz="4800" b="0">
                <a:solidFill>
                  <a:srgbClr val="073F48"/>
                </a:solidFill>
                <a:latin typeface="Calibri"/>
                <a:ea typeface="Calibri"/>
                <a:cs typeface="Calibri"/>
              </a:defRPr>
            </a:lvl7pPr>
            <a:lvl8pPr>
              <a:defRPr sz="4800" b="0">
                <a:solidFill>
                  <a:srgbClr val="073F48"/>
                </a:solidFill>
                <a:latin typeface="Calibri"/>
                <a:ea typeface="Calibri"/>
                <a:cs typeface="Calibri"/>
              </a:defRPr>
            </a:lvl8pPr>
            <a:lvl9pPr>
              <a:defRPr sz="4800" b="0">
                <a:solidFill>
                  <a:srgbClr val="073F48"/>
                </a:solidFill>
                <a:latin typeface="Calibri"/>
                <a:ea typeface="Calibri"/>
                <a:cs typeface="Calibri"/>
              </a:defRPr>
            </a:lvl9pPr>
          </a:lstStyle>
          <a:p xmlns:a="http://schemas.openxmlformats.org/drawingml/2006/main">
            <a:pPr>
              <a:defRPr sz="4800" b="0">
                <a:solidFill>
                  <a:srgbClr val="073F48"/>
                </a:solidFill>
                <a:latin typeface="Calibri"/>
                <a:ea typeface="Calibri"/>
                <a:cs typeface="Calibri"/>
              </a:defRPr>
            </a:pPr>
            <a:r>
              <a:rPr sz="4800" b="0">
                <a:solidFill>
                  <a:srgbClr val="073F48"/>
                </a:solidFill>
                <a:latin typeface="Calibri"/>
                <a:ea typeface="Calibri"/>
                <a:cs typeface="Calibri"/>
              </a:rPr>
              <a:t>~$100K</a:t>
            </a:r>
          </a:p>
        </p:txBody>
      </p:sp>
      <p:sp>
        <p:nvSpPr>
          <p:cNvPr id="8" name="Founder capital invested">
            <a:extLst xmlns:a="http://schemas.openxmlformats.org/drawingml/2006/main">
              <a:ext uri="{FF2B5EF4-FFF2-40B4-BE49-F238E27FC236}">
                <a16:creationId xmlns:a16="http://schemas.microsoft.com/office/drawing/2014/main" id="{6D0948FF-B556-48A9-A6E4-B15C4555DE48}"/>
              </a:ext>
            </a:extLst>
          </p:cNvPr>
          <p:cNvSpPr>
            <a:spLocks xmlns:a="http://schemas.openxmlformats.org/drawingml/2006/main" noGrp="1"/>
          </p:cNvSpPr>
          <p:nvPr/>
        </p:nvSpPr>
        <p:spPr>
          <a:xfrm xmlns:a="http://schemas.openxmlformats.org/drawingml/2006/main">
            <a:off x="4324350" y="2924175"/>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7371"/>
                </a:solidFill>
                <a:latin typeface="Calibri"/>
                <a:ea typeface="Calibri"/>
                <a:cs typeface="Calibri"/>
              </a:defRPr>
            </a:defPPr>
            <a:lvl1pPr>
              <a:defRPr sz="1875" b="0">
                <a:solidFill>
                  <a:srgbClr val="567371"/>
                </a:solidFill>
                <a:latin typeface="Calibri"/>
                <a:ea typeface="Calibri"/>
                <a:cs typeface="Calibri"/>
              </a:defRPr>
            </a:lvl1pPr>
            <a:lvl2pPr>
              <a:defRPr sz="1875" b="0">
                <a:solidFill>
                  <a:srgbClr val="567371"/>
                </a:solidFill>
                <a:latin typeface="Calibri"/>
                <a:ea typeface="Calibri"/>
                <a:cs typeface="Calibri"/>
              </a:defRPr>
            </a:lvl2pPr>
            <a:lvl3pPr>
              <a:defRPr sz="1875" b="0">
                <a:solidFill>
                  <a:srgbClr val="567371"/>
                </a:solidFill>
                <a:latin typeface="Calibri"/>
                <a:ea typeface="Calibri"/>
                <a:cs typeface="Calibri"/>
              </a:defRPr>
            </a:lvl3pPr>
            <a:lvl4pPr>
              <a:defRPr sz="1875" b="0">
                <a:solidFill>
                  <a:srgbClr val="567371"/>
                </a:solidFill>
                <a:latin typeface="Calibri"/>
                <a:ea typeface="Calibri"/>
                <a:cs typeface="Calibri"/>
              </a:defRPr>
            </a:lvl4pPr>
            <a:lvl5pPr>
              <a:defRPr sz="1875" b="0">
                <a:solidFill>
                  <a:srgbClr val="567371"/>
                </a:solidFill>
                <a:latin typeface="Calibri"/>
                <a:ea typeface="Calibri"/>
                <a:cs typeface="Calibri"/>
              </a:defRPr>
            </a:lvl5pPr>
            <a:lvl6pPr>
              <a:defRPr sz="1875" b="0">
                <a:solidFill>
                  <a:srgbClr val="567371"/>
                </a:solidFill>
                <a:latin typeface="Calibri"/>
                <a:ea typeface="Calibri"/>
                <a:cs typeface="Calibri"/>
              </a:defRPr>
            </a:lvl6pPr>
            <a:lvl7pPr>
              <a:defRPr sz="1875" b="0">
                <a:solidFill>
                  <a:srgbClr val="567371"/>
                </a:solidFill>
                <a:latin typeface="Calibri"/>
                <a:ea typeface="Calibri"/>
                <a:cs typeface="Calibri"/>
              </a:defRPr>
            </a:lvl7pPr>
            <a:lvl8pPr>
              <a:defRPr sz="1875" b="0">
                <a:solidFill>
                  <a:srgbClr val="567371"/>
                </a:solidFill>
                <a:latin typeface="Calibri"/>
                <a:ea typeface="Calibri"/>
                <a:cs typeface="Calibri"/>
              </a:defRPr>
            </a:lvl8pPr>
            <a:lvl9pPr>
              <a:defRPr sz="1875" b="0">
                <a:solidFill>
                  <a:srgbClr val="567371"/>
                </a:solidFill>
                <a:latin typeface="Calibri"/>
                <a:ea typeface="Calibri"/>
                <a:cs typeface="Calibri"/>
              </a:defRPr>
            </a:lvl9pPr>
          </a:lstStyle>
          <a:p xmlns:a="http://schemas.openxmlformats.org/drawingml/2006/main">
            <a:pPr>
              <a:defRPr sz="1875" b="0">
                <a:solidFill>
                  <a:srgbClr val="567371"/>
                </a:solidFill>
                <a:latin typeface="Calibri"/>
                <a:ea typeface="Calibri"/>
                <a:cs typeface="Calibri"/>
              </a:defRPr>
            </a:pPr>
            <a:r>
              <a:rPr sz="1875" b="0">
                <a:solidFill>
                  <a:srgbClr val="567371"/>
                </a:solidFill>
                <a:latin typeface="Calibri"/>
                <a:ea typeface="Calibri"/>
                <a:cs typeface="Calibri"/>
              </a:rPr>
              <a:t>Founder capital invested</a:t>
            </a:r>
          </a:p>
        </p:txBody>
      </p:sp>
      <p:sp>
        <p:nvSpPr>
          <p:cNvPr id="9" name="~150">
            <a:extLst xmlns:a="http://schemas.openxmlformats.org/drawingml/2006/main">
              <a:ext uri="{FF2B5EF4-FFF2-40B4-BE49-F238E27FC236}">
                <a16:creationId xmlns:a16="http://schemas.microsoft.com/office/drawing/2014/main" id="{756701B2-BB71-4069-AF1C-126D1D4F17BF}"/>
              </a:ext>
            </a:extLst>
          </p:cNvPr>
          <p:cNvSpPr>
            <a:spLocks xmlns:a="http://schemas.openxmlformats.org/drawingml/2006/main" noGrp="1"/>
          </p:cNvSpPr>
          <p:nvPr/>
        </p:nvSpPr>
        <p:spPr>
          <a:xfrm xmlns:a="http://schemas.openxmlformats.org/drawingml/2006/main">
            <a:off x="8039100" y="1924050"/>
            <a:ext cx="338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0">
                <a:solidFill>
                  <a:srgbClr val="073F48"/>
                </a:solidFill>
                <a:latin typeface="Calibri"/>
                <a:ea typeface="Calibri"/>
                <a:cs typeface="Calibri"/>
              </a:defRPr>
            </a:defPPr>
            <a:lvl1pPr>
              <a:defRPr sz="4800" b="0">
                <a:solidFill>
                  <a:srgbClr val="073F48"/>
                </a:solidFill>
                <a:latin typeface="Calibri"/>
                <a:ea typeface="Calibri"/>
                <a:cs typeface="Calibri"/>
              </a:defRPr>
            </a:lvl1pPr>
            <a:lvl2pPr>
              <a:defRPr sz="4800" b="0">
                <a:solidFill>
                  <a:srgbClr val="073F48"/>
                </a:solidFill>
                <a:latin typeface="Calibri"/>
                <a:ea typeface="Calibri"/>
                <a:cs typeface="Calibri"/>
              </a:defRPr>
            </a:lvl2pPr>
            <a:lvl3pPr>
              <a:defRPr sz="4800" b="0">
                <a:solidFill>
                  <a:srgbClr val="073F48"/>
                </a:solidFill>
                <a:latin typeface="Calibri"/>
                <a:ea typeface="Calibri"/>
                <a:cs typeface="Calibri"/>
              </a:defRPr>
            </a:lvl3pPr>
            <a:lvl4pPr>
              <a:defRPr sz="4800" b="0">
                <a:solidFill>
                  <a:srgbClr val="073F48"/>
                </a:solidFill>
                <a:latin typeface="Calibri"/>
                <a:ea typeface="Calibri"/>
                <a:cs typeface="Calibri"/>
              </a:defRPr>
            </a:lvl4pPr>
            <a:lvl5pPr>
              <a:defRPr sz="4800" b="0">
                <a:solidFill>
                  <a:srgbClr val="073F48"/>
                </a:solidFill>
                <a:latin typeface="Calibri"/>
                <a:ea typeface="Calibri"/>
                <a:cs typeface="Calibri"/>
              </a:defRPr>
            </a:lvl5pPr>
            <a:lvl6pPr>
              <a:defRPr sz="4800" b="0">
                <a:solidFill>
                  <a:srgbClr val="073F48"/>
                </a:solidFill>
                <a:latin typeface="Calibri"/>
                <a:ea typeface="Calibri"/>
                <a:cs typeface="Calibri"/>
              </a:defRPr>
            </a:lvl6pPr>
            <a:lvl7pPr>
              <a:defRPr sz="4800" b="0">
                <a:solidFill>
                  <a:srgbClr val="073F48"/>
                </a:solidFill>
                <a:latin typeface="Calibri"/>
                <a:ea typeface="Calibri"/>
                <a:cs typeface="Calibri"/>
              </a:defRPr>
            </a:lvl7pPr>
            <a:lvl8pPr>
              <a:defRPr sz="4800" b="0">
                <a:solidFill>
                  <a:srgbClr val="073F48"/>
                </a:solidFill>
                <a:latin typeface="Calibri"/>
                <a:ea typeface="Calibri"/>
                <a:cs typeface="Calibri"/>
              </a:defRPr>
            </a:lvl8pPr>
            <a:lvl9pPr>
              <a:defRPr sz="4800" b="0">
                <a:solidFill>
                  <a:srgbClr val="073F48"/>
                </a:solidFill>
                <a:latin typeface="Calibri"/>
                <a:ea typeface="Calibri"/>
                <a:cs typeface="Calibri"/>
              </a:defRPr>
            </a:lvl9pPr>
          </a:lstStyle>
          <a:p xmlns:a="http://schemas.openxmlformats.org/drawingml/2006/main">
            <a:pPr>
              <a:defRPr sz="4800" b="0">
                <a:solidFill>
                  <a:srgbClr val="073F48"/>
                </a:solidFill>
                <a:latin typeface="Calibri"/>
                <a:ea typeface="Calibri"/>
                <a:cs typeface="Calibri"/>
              </a:defRPr>
            </a:pPr>
            <a:r>
              <a:rPr sz="4800" b="0">
                <a:solidFill>
                  <a:srgbClr val="073F48"/>
                </a:solidFill>
                <a:latin typeface="Calibri"/>
                <a:ea typeface="Calibri"/>
                <a:cs typeface="Calibri"/>
              </a:rPr>
              <a:t>~150</a:t>
            </a:r>
          </a:p>
        </p:txBody>
      </p:sp>
      <p:sp>
        <p:nvSpPr>
          <p:cNvPr id="10" name="Human-use participants">
            <a:extLst xmlns:a="http://schemas.openxmlformats.org/drawingml/2006/main">
              <a:ext uri="{FF2B5EF4-FFF2-40B4-BE49-F238E27FC236}">
                <a16:creationId xmlns:a16="http://schemas.microsoft.com/office/drawing/2014/main" id="{EC6FEC07-65BB-4172-9622-0DF4A6D7B3B7}"/>
              </a:ext>
            </a:extLst>
          </p:cNvPr>
          <p:cNvSpPr>
            <a:spLocks xmlns:a="http://schemas.openxmlformats.org/drawingml/2006/main" noGrp="1"/>
          </p:cNvSpPr>
          <p:nvPr/>
        </p:nvSpPr>
        <p:spPr>
          <a:xfrm xmlns:a="http://schemas.openxmlformats.org/drawingml/2006/main">
            <a:off x="8039100" y="2924175"/>
            <a:ext cx="3381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7371"/>
                </a:solidFill>
                <a:latin typeface="Calibri"/>
                <a:ea typeface="Calibri"/>
                <a:cs typeface="Calibri"/>
              </a:defRPr>
            </a:defPPr>
            <a:lvl1pPr>
              <a:defRPr sz="1875" b="0">
                <a:solidFill>
                  <a:srgbClr val="567371"/>
                </a:solidFill>
                <a:latin typeface="Calibri"/>
                <a:ea typeface="Calibri"/>
                <a:cs typeface="Calibri"/>
              </a:defRPr>
            </a:lvl1pPr>
            <a:lvl2pPr>
              <a:defRPr sz="1875" b="0">
                <a:solidFill>
                  <a:srgbClr val="567371"/>
                </a:solidFill>
                <a:latin typeface="Calibri"/>
                <a:ea typeface="Calibri"/>
                <a:cs typeface="Calibri"/>
              </a:defRPr>
            </a:lvl2pPr>
            <a:lvl3pPr>
              <a:defRPr sz="1875" b="0">
                <a:solidFill>
                  <a:srgbClr val="567371"/>
                </a:solidFill>
                <a:latin typeface="Calibri"/>
                <a:ea typeface="Calibri"/>
                <a:cs typeface="Calibri"/>
              </a:defRPr>
            </a:lvl3pPr>
            <a:lvl4pPr>
              <a:defRPr sz="1875" b="0">
                <a:solidFill>
                  <a:srgbClr val="567371"/>
                </a:solidFill>
                <a:latin typeface="Calibri"/>
                <a:ea typeface="Calibri"/>
                <a:cs typeface="Calibri"/>
              </a:defRPr>
            </a:lvl4pPr>
            <a:lvl5pPr>
              <a:defRPr sz="1875" b="0">
                <a:solidFill>
                  <a:srgbClr val="567371"/>
                </a:solidFill>
                <a:latin typeface="Calibri"/>
                <a:ea typeface="Calibri"/>
                <a:cs typeface="Calibri"/>
              </a:defRPr>
            </a:lvl5pPr>
            <a:lvl6pPr>
              <a:defRPr sz="1875" b="0">
                <a:solidFill>
                  <a:srgbClr val="567371"/>
                </a:solidFill>
                <a:latin typeface="Calibri"/>
                <a:ea typeface="Calibri"/>
                <a:cs typeface="Calibri"/>
              </a:defRPr>
            </a:lvl6pPr>
            <a:lvl7pPr>
              <a:defRPr sz="1875" b="0">
                <a:solidFill>
                  <a:srgbClr val="567371"/>
                </a:solidFill>
                <a:latin typeface="Calibri"/>
                <a:ea typeface="Calibri"/>
                <a:cs typeface="Calibri"/>
              </a:defRPr>
            </a:lvl7pPr>
            <a:lvl8pPr>
              <a:defRPr sz="1875" b="0">
                <a:solidFill>
                  <a:srgbClr val="567371"/>
                </a:solidFill>
                <a:latin typeface="Calibri"/>
                <a:ea typeface="Calibri"/>
                <a:cs typeface="Calibri"/>
              </a:defRPr>
            </a:lvl8pPr>
            <a:lvl9pPr>
              <a:defRPr sz="1875" b="0">
                <a:solidFill>
                  <a:srgbClr val="567371"/>
                </a:solidFill>
                <a:latin typeface="Calibri"/>
                <a:ea typeface="Calibri"/>
                <a:cs typeface="Calibri"/>
              </a:defRPr>
            </a:lvl9pPr>
          </a:lstStyle>
          <a:p xmlns:a="http://schemas.openxmlformats.org/drawingml/2006/main">
            <a:pPr>
              <a:defRPr sz="1875" b="0">
                <a:solidFill>
                  <a:srgbClr val="567371"/>
                </a:solidFill>
                <a:latin typeface="Calibri"/>
                <a:ea typeface="Calibri"/>
                <a:cs typeface="Calibri"/>
              </a:defRPr>
            </a:pPr>
            <a:r>
              <a:rPr sz="1875" b="0">
                <a:solidFill>
                  <a:srgbClr val="567371"/>
                </a:solidFill>
                <a:latin typeface="Calibri"/>
                <a:ea typeface="Calibri"/>
                <a:cs typeface="Calibri"/>
              </a:rPr>
              <a:t>Human-use participants</a:t>
            </a:r>
          </a:p>
        </p:txBody>
      </p:sp>
      <p:sp>
        <p:nvSpPr>
          <p:cNvPr id="11" name="Management reports">
            <a:extLst xmlns:a="http://schemas.openxmlformats.org/drawingml/2006/main">
              <a:ext uri="{FF2B5EF4-FFF2-40B4-BE49-F238E27FC236}">
                <a16:creationId xmlns:a16="http://schemas.microsoft.com/office/drawing/2014/main" id="{2EC834EE-E28A-4706-AEF0-72E01BAA186D}"/>
              </a:ext>
            </a:extLst>
          </p:cNvPr>
          <p:cNvSpPr>
            <a:spLocks xmlns:a="http://schemas.openxmlformats.org/drawingml/2006/main" noGrp="1"/>
          </p:cNvSpPr>
          <p:nvPr/>
        </p:nvSpPr>
        <p:spPr>
          <a:xfrm xmlns:a="http://schemas.openxmlformats.org/drawingml/2006/main">
            <a:off x="609600" y="40767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73F48"/>
                </a:solidFill>
                <a:latin typeface="Calibri"/>
                <a:ea typeface="Calibri"/>
                <a:cs typeface="Calibri"/>
              </a:defRPr>
            </a:defPPr>
            <a:lvl1pPr>
              <a:defRPr sz="2025" b="1">
                <a:solidFill>
                  <a:srgbClr val="073F48"/>
                </a:solidFill>
                <a:latin typeface="Calibri"/>
                <a:ea typeface="Calibri"/>
                <a:cs typeface="Calibri"/>
              </a:defRPr>
            </a:lvl1pPr>
            <a:lvl2pPr>
              <a:defRPr sz="2025" b="1">
                <a:solidFill>
                  <a:srgbClr val="073F48"/>
                </a:solidFill>
                <a:latin typeface="Calibri"/>
                <a:ea typeface="Calibri"/>
                <a:cs typeface="Calibri"/>
              </a:defRPr>
            </a:lvl2pPr>
            <a:lvl3pPr>
              <a:defRPr sz="2025" b="1">
                <a:solidFill>
                  <a:srgbClr val="073F48"/>
                </a:solidFill>
                <a:latin typeface="Calibri"/>
                <a:ea typeface="Calibri"/>
                <a:cs typeface="Calibri"/>
              </a:defRPr>
            </a:lvl3pPr>
            <a:lvl4pPr>
              <a:defRPr sz="2025" b="1">
                <a:solidFill>
                  <a:srgbClr val="073F48"/>
                </a:solidFill>
                <a:latin typeface="Calibri"/>
                <a:ea typeface="Calibri"/>
                <a:cs typeface="Calibri"/>
              </a:defRPr>
            </a:lvl4pPr>
            <a:lvl5pPr>
              <a:defRPr sz="2025" b="1">
                <a:solidFill>
                  <a:srgbClr val="073F48"/>
                </a:solidFill>
                <a:latin typeface="Calibri"/>
                <a:ea typeface="Calibri"/>
                <a:cs typeface="Calibri"/>
              </a:defRPr>
            </a:lvl5pPr>
            <a:lvl6pPr>
              <a:defRPr sz="2025" b="1">
                <a:solidFill>
                  <a:srgbClr val="073F48"/>
                </a:solidFill>
                <a:latin typeface="Calibri"/>
                <a:ea typeface="Calibri"/>
                <a:cs typeface="Calibri"/>
              </a:defRPr>
            </a:lvl6pPr>
            <a:lvl7pPr>
              <a:defRPr sz="2025" b="1">
                <a:solidFill>
                  <a:srgbClr val="073F48"/>
                </a:solidFill>
                <a:latin typeface="Calibri"/>
                <a:ea typeface="Calibri"/>
                <a:cs typeface="Calibri"/>
              </a:defRPr>
            </a:lvl7pPr>
            <a:lvl8pPr>
              <a:defRPr sz="2025" b="1">
                <a:solidFill>
                  <a:srgbClr val="073F48"/>
                </a:solidFill>
                <a:latin typeface="Calibri"/>
                <a:ea typeface="Calibri"/>
                <a:cs typeface="Calibri"/>
              </a:defRPr>
            </a:lvl8pPr>
            <a:lvl9pPr>
              <a:defRPr sz="2025" b="1">
                <a:solidFill>
                  <a:srgbClr val="073F48"/>
                </a:solidFill>
                <a:latin typeface="Calibri"/>
                <a:ea typeface="Calibri"/>
                <a:cs typeface="Calibri"/>
              </a:defRPr>
            </a:lvl9pPr>
          </a:lstStyle>
          <a:p xmlns:a="http://schemas.openxmlformats.org/drawingml/2006/main">
            <a:pPr>
              <a:defRPr sz="2025" b="1">
                <a:solidFill>
                  <a:srgbClr val="073F48"/>
                </a:solidFill>
                <a:latin typeface="Calibri"/>
                <a:ea typeface="Calibri"/>
                <a:cs typeface="Calibri"/>
              </a:defRPr>
            </a:pPr>
            <a:r>
              <a:rPr sz="2025" b="1">
                <a:solidFill>
                  <a:srgbClr val="073F48"/>
                </a:solidFill>
                <a:latin typeface="Calibri"/>
                <a:ea typeface="Calibri"/>
                <a:cs typeface="Calibri"/>
              </a:rPr>
              <a:t>Management reports</a:t>
            </a:r>
          </a:p>
        </p:txBody>
      </p:sp>
      <p:sp>
        <p:nvSpPr>
          <p:cNvPr id="12" name="Formulation developed and a manufacturing pat">
            <a:extLst xmlns:a="http://schemas.openxmlformats.org/drawingml/2006/main">
              <a:ext uri="{FF2B5EF4-FFF2-40B4-BE49-F238E27FC236}">
                <a16:creationId xmlns:a16="http://schemas.microsoft.com/office/drawing/2014/main" id="{55747619-8225-481F-865F-3DF828B79FF1}"/>
              </a:ext>
            </a:extLst>
          </p:cNvPr>
          <p:cNvSpPr>
            <a:spLocks xmlns:a="http://schemas.openxmlformats.org/drawingml/2006/main" noGrp="1"/>
          </p:cNvSpPr>
          <p:nvPr/>
        </p:nvSpPr>
        <p:spPr>
          <a:xfrm xmlns:a="http://schemas.openxmlformats.org/drawingml/2006/main">
            <a:off x="609600" y="46101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7371"/>
                </a:solidFill>
                <a:latin typeface="Calibri"/>
                <a:ea typeface="Calibri"/>
                <a:cs typeface="Calibri"/>
              </a:defRPr>
            </a:defPPr>
            <a:lvl1pPr>
              <a:defRPr sz="1875" b="0">
                <a:solidFill>
                  <a:srgbClr val="567371"/>
                </a:solidFill>
                <a:latin typeface="Calibri"/>
                <a:ea typeface="Calibri"/>
                <a:cs typeface="Calibri"/>
              </a:defRPr>
            </a:lvl1pPr>
            <a:lvl2pPr>
              <a:defRPr sz="1875" b="0">
                <a:solidFill>
                  <a:srgbClr val="567371"/>
                </a:solidFill>
                <a:latin typeface="Calibri"/>
                <a:ea typeface="Calibri"/>
                <a:cs typeface="Calibri"/>
              </a:defRPr>
            </a:lvl2pPr>
            <a:lvl3pPr>
              <a:defRPr sz="1875" b="0">
                <a:solidFill>
                  <a:srgbClr val="567371"/>
                </a:solidFill>
                <a:latin typeface="Calibri"/>
                <a:ea typeface="Calibri"/>
                <a:cs typeface="Calibri"/>
              </a:defRPr>
            </a:lvl3pPr>
            <a:lvl4pPr>
              <a:defRPr sz="1875" b="0">
                <a:solidFill>
                  <a:srgbClr val="567371"/>
                </a:solidFill>
                <a:latin typeface="Calibri"/>
                <a:ea typeface="Calibri"/>
                <a:cs typeface="Calibri"/>
              </a:defRPr>
            </a:lvl4pPr>
            <a:lvl5pPr>
              <a:defRPr sz="1875" b="0">
                <a:solidFill>
                  <a:srgbClr val="567371"/>
                </a:solidFill>
                <a:latin typeface="Calibri"/>
                <a:ea typeface="Calibri"/>
                <a:cs typeface="Calibri"/>
              </a:defRPr>
            </a:lvl5pPr>
            <a:lvl6pPr>
              <a:defRPr sz="1875" b="0">
                <a:solidFill>
                  <a:srgbClr val="567371"/>
                </a:solidFill>
                <a:latin typeface="Calibri"/>
                <a:ea typeface="Calibri"/>
                <a:cs typeface="Calibri"/>
              </a:defRPr>
            </a:lvl6pPr>
            <a:lvl7pPr>
              <a:defRPr sz="1875" b="0">
                <a:solidFill>
                  <a:srgbClr val="567371"/>
                </a:solidFill>
                <a:latin typeface="Calibri"/>
                <a:ea typeface="Calibri"/>
                <a:cs typeface="Calibri"/>
              </a:defRPr>
            </a:lvl7pPr>
            <a:lvl8pPr>
              <a:defRPr sz="1875" b="0">
                <a:solidFill>
                  <a:srgbClr val="567371"/>
                </a:solidFill>
                <a:latin typeface="Calibri"/>
                <a:ea typeface="Calibri"/>
                <a:cs typeface="Calibri"/>
              </a:defRPr>
            </a:lvl8pPr>
            <a:lvl9pPr>
              <a:defRPr sz="1875" b="0">
                <a:solidFill>
                  <a:srgbClr val="567371"/>
                </a:solidFill>
                <a:latin typeface="Calibri"/>
                <a:ea typeface="Calibri"/>
                <a:cs typeface="Calibri"/>
              </a:defRPr>
            </a:lvl9pPr>
          </a:lstStyle>
          <a:p xmlns:a="http://schemas.openxmlformats.org/drawingml/2006/main">
            <a:pPr>
              <a:defRPr sz="1875" b="0">
                <a:solidFill>
                  <a:srgbClr val="567371"/>
                </a:solidFill>
                <a:latin typeface="Calibri"/>
                <a:ea typeface="Calibri"/>
                <a:cs typeface="Calibri"/>
              </a:defRPr>
            </a:pPr>
            <a:r>
              <a:rPr sz="1875" b="0">
                <a:solidFill>
                  <a:srgbClr val="567371"/>
                </a:solidFill>
                <a:latin typeface="Calibri"/>
                <a:ea typeface="Calibri"/>
                <a:cs typeface="Calibri"/>
              </a:rPr>
              <a:t>Formulation developed and a manufacturing path established. Commercial validation remains ahead.</a:t>
            </a:r>
          </a:p>
        </p:txBody>
      </p:sp>
      <p:sp>
        <p:nvSpPr>
          <p:cNvPr id="13" name="Evidence still required">
            <a:extLst xmlns:a="http://schemas.openxmlformats.org/drawingml/2006/main">
              <a:ext uri="{FF2B5EF4-FFF2-40B4-BE49-F238E27FC236}">
                <a16:creationId xmlns:a16="http://schemas.microsoft.com/office/drawing/2014/main" id="{2DB83D09-DAA4-41C5-9218-3FA3ACE76F90}"/>
              </a:ext>
            </a:extLst>
          </p:cNvPr>
          <p:cNvSpPr>
            <a:spLocks xmlns:a="http://schemas.openxmlformats.org/drawingml/2006/main" noGrp="1"/>
          </p:cNvSpPr>
          <p:nvPr/>
        </p:nvSpPr>
        <p:spPr>
          <a:xfrm xmlns:a="http://schemas.openxmlformats.org/drawingml/2006/main">
            <a:off x="6381750" y="407670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1">
                <a:solidFill>
                  <a:srgbClr val="073F48"/>
                </a:solidFill>
                <a:latin typeface="Calibri"/>
                <a:ea typeface="Calibri"/>
                <a:cs typeface="Calibri"/>
              </a:defRPr>
            </a:defPPr>
            <a:lvl1pPr>
              <a:defRPr sz="2025" b="1">
                <a:solidFill>
                  <a:srgbClr val="073F48"/>
                </a:solidFill>
                <a:latin typeface="Calibri"/>
                <a:ea typeface="Calibri"/>
                <a:cs typeface="Calibri"/>
              </a:defRPr>
            </a:lvl1pPr>
            <a:lvl2pPr>
              <a:defRPr sz="2025" b="1">
                <a:solidFill>
                  <a:srgbClr val="073F48"/>
                </a:solidFill>
                <a:latin typeface="Calibri"/>
                <a:ea typeface="Calibri"/>
                <a:cs typeface="Calibri"/>
              </a:defRPr>
            </a:lvl2pPr>
            <a:lvl3pPr>
              <a:defRPr sz="2025" b="1">
                <a:solidFill>
                  <a:srgbClr val="073F48"/>
                </a:solidFill>
                <a:latin typeface="Calibri"/>
                <a:ea typeface="Calibri"/>
                <a:cs typeface="Calibri"/>
              </a:defRPr>
            </a:lvl3pPr>
            <a:lvl4pPr>
              <a:defRPr sz="2025" b="1">
                <a:solidFill>
                  <a:srgbClr val="073F48"/>
                </a:solidFill>
                <a:latin typeface="Calibri"/>
                <a:ea typeface="Calibri"/>
                <a:cs typeface="Calibri"/>
              </a:defRPr>
            </a:lvl4pPr>
            <a:lvl5pPr>
              <a:defRPr sz="2025" b="1">
                <a:solidFill>
                  <a:srgbClr val="073F48"/>
                </a:solidFill>
                <a:latin typeface="Calibri"/>
                <a:ea typeface="Calibri"/>
                <a:cs typeface="Calibri"/>
              </a:defRPr>
            </a:lvl5pPr>
            <a:lvl6pPr>
              <a:defRPr sz="2025" b="1">
                <a:solidFill>
                  <a:srgbClr val="073F48"/>
                </a:solidFill>
                <a:latin typeface="Calibri"/>
                <a:ea typeface="Calibri"/>
                <a:cs typeface="Calibri"/>
              </a:defRPr>
            </a:lvl6pPr>
            <a:lvl7pPr>
              <a:defRPr sz="2025" b="1">
                <a:solidFill>
                  <a:srgbClr val="073F48"/>
                </a:solidFill>
                <a:latin typeface="Calibri"/>
                <a:ea typeface="Calibri"/>
                <a:cs typeface="Calibri"/>
              </a:defRPr>
            </a:lvl7pPr>
            <a:lvl8pPr>
              <a:defRPr sz="2025" b="1">
                <a:solidFill>
                  <a:srgbClr val="073F48"/>
                </a:solidFill>
                <a:latin typeface="Calibri"/>
                <a:ea typeface="Calibri"/>
                <a:cs typeface="Calibri"/>
              </a:defRPr>
            </a:lvl8pPr>
            <a:lvl9pPr>
              <a:defRPr sz="2025" b="1">
                <a:solidFill>
                  <a:srgbClr val="073F48"/>
                </a:solidFill>
                <a:latin typeface="Calibri"/>
                <a:ea typeface="Calibri"/>
                <a:cs typeface="Calibri"/>
              </a:defRPr>
            </a:lvl9pPr>
          </a:lstStyle>
          <a:p xmlns:a="http://schemas.openxmlformats.org/drawingml/2006/main">
            <a:pPr>
              <a:defRPr sz="2025" b="1">
                <a:solidFill>
                  <a:srgbClr val="073F48"/>
                </a:solidFill>
                <a:latin typeface="Calibri"/>
                <a:ea typeface="Calibri"/>
                <a:cs typeface="Calibri"/>
              </a:defRPr>
            </a:pPr>
            <a:r>
              <a:rPr sz="2025" b="1">
                <a:solidFill>
                  <a:srgbClr val="073F48"/>
                </a:solidFill>
                <a:latin typeface="Calibri"/>
                <a:ea typeface="Calibri"/>
                <a:cs typeface="Calibri"/>
              </a:rPr>
              <a:t>Evidence still required</a:t>
            </a:r>
          </a:p>
        </p:txBody>
      </p:sp>
      <p:sp>
        <p:nvSpPr>
          <p:cNvPr id="14" name="Human-use work in China was not double-blind.">
            <a:extLst xmlns:a="http://schemas.openxmlformats.org/drawingml/2006/main">
              <a:ext uri="{FF2B5EF4-FFF2-40B4-BE49-F238E27FC236}">
                <a16:creationId xmlns:a16="http://schemas.microsoft.com/office/drawing/2014/main" id="{6CE88EEF-9C07-461C-A247-36B713F7AB02}"/>
              </a:ext>
            </a:extLst>
          </p:cNvPr>
          <p:cNvSpPr>
            <a:spLocks xmlns:a="http://schemas.openxmlformats.org/drawingml/2006/main" noGrp="1"/>
          </p:cNvSpPr>
          <p:nvPr/>
        </p:nvSpPr>
        <p:spPr>
          <a:xfrm xmlns:a="http://schemas.openxmlformats.org/drawingml/2006/main">
            <a:off x="6381750" y="46101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7371"/>
                </a:solidFill>
                <a:latin typeface="Calibri"/>
                <a:ea typeface="Calibri"/>
                <a:cs typeface="Calibri"/>
              </a:defRPr>
            </a:defPPr>
            <a:lvl1pPr>
              <a:defRPr sz="1875" b="0">
                <a:solidFill>
                  <a:srgbClr val="567371"/>
                </a:solidFill>
                <a:latin typeface="Calibri"/>
                <a:ea typeface="Calibri"/>
                <a:cs typeface="Calibri"/>
              </a:defRPr>
            </a:lvl1pPr>
            <a:lvl2pPr>
              <a:defRPr sz="1875" b="0">
                <a:solidFill>
                  <a:srgbClr val="567371"/>
                </a:solidFill>
                <a:latin typeface="Calibri"/>
                <a:ea typeface="Calibri"/>
                <a:cs typeface="Calibri"/>
              </a:defRPr>
            </a:lvl2pPr>
            <a:lvl3pPr>
              <a:defRPr sz="1875" b="0">
                <a:solidFill>
                  <a:srgbClr val="567371"/>
                </a:solidFill>
                <a:latin typeface="Calibri"/>
                <a:ea typeface="Calibri"/>
                <a:cs typeface="Calibri"/>
              </a:defRPr>
            </a:lvl3pPr>
            <a:lvl4pPr>
              <a:defRPr sz="1875" b="0">
                <a:solidFill>
                  <a:srgbClr val="567371"/>
                </a:solidFill>
                <a:latin typeface="Calibri"/>
                <a:ea typeface="Calibri"/>
                <a:cs typeface="Calibri"/>
              </a:defRPr>
            </a:lvl4pPr>
            <a:lvl5pPr>
              <a:defRPr sz="1875" b="0">
                <a:solidFill>
                  <a:srgbClr val="567371"/>
                </a:solidFill>
                <a:latin typeface="Calibri"/>
                <a:ea typeface="Calibri"/>
                <a:cs typeface="Calibri"/>
              </a:defRPr>
            </a:lvl5pPr>
            <a:lvl6pPr>
              <a:defRPr sz="1875" b="0">
                <a:solidFill>
                  <a:srgbClr val="567371"/>
                </a:solidFill>
                <a:latin typeface="Calibri"/>
                <a:ea typeface="Calibri"/>
                <a:cs typeface="Calibri"/>
              </a:defRPr>
            </a:lvl6pPr>
            <a:lvl7pPr>
              <a:defRPr sz="1875" b="0">
                <a:solidFill>
                  <a:srgbClr val="567371"/>
                </a:solidFill>
                <a:latin typeface="Calibri"/>
                <a:ea typeface="Calibri"/>
                <a:cs typeface="Calibri"/>
              </a:defRPr>
            </a:lvl7pPr>
            <a:lvl8pPr>
              <a:defRPr sz="1875" b="0">
                <a:solidFill>
                  <a:srgbClr val="567371"/>
                </a:solidFill>
                <a:latin typeface="Calibri"/>
                <a:ea typeface="Calibri"/>
                <a:cs typeface="Calibri"/>
              </a:defRPr>
            </a:lvl8pPr>
            <a:lvl9pPr>
              <a:defRPr sz="1875" b="0">
                <a:solidFill>
                  <a:srgbClr val="567371"/>
                </a:solidFill>
                <a:latin typeface="Calibri"/>
                <a:ea typeface="Calibri"/>
                <a:cs typeface="Calibri"/>
              </a:defRPr>
            </a:lvl9pPr>
          </a:lstStyle>
          <a:p xmlns:a="http://schemas.openxmlformats.org/drawingml/2006/main">
            <a:pPr>
              <a:defRPr sz="1875" b="0">
                <a:solidFill>
                  <a:srgbClr val="567371"/>
                </a:solidFill>
                <a:latin typeface="Calibri"/>
                <a:ea typeface="Calibri"/>
                <a:cs typeface="Calibri"/>
              </a:defRPr>
            </a:pPr>
            <a:r>
              <a:rPr sz="1875" b="0">
                <a:solidFill>
                  <a:srgbClr val="567371"/>
                </a:solidFill>
                <a:latin typeface="Calibri"/>
                <a:ea typeface="Calibri"/>
                <a:cs typeface="Calibri"/>
              </a:rPr>
              <a:t>Human-use work in China was not double-blind. It provides preliminary learning, not proof of efficacy.</a:t>
            </a:r>
          </a:p>
        </p:txBody>
      </p:sp>
      <p:sp>
        <p:nvSpPr>
          <p:cNvPr id="15" name="Next: claims review and a defined scientific ">
            <a:extLst xmlns:a="http://schemas.openxmlformats.org/drawingml/2006/main">
              <a:ext uri="{FF2B5EF4-FFF2-40B4-BE49-F238E27FC236}">
                <a16:creationId xmlns:a16="http://schemas.microsoft.com/office/drawing/2014/main" id="{71E91A1A-1FCA-4E00-954C-640E6A0604FA}"/>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7371"/>
                </a:solidFill>
                <a:latin typeface="Calibri"/>
                <a:ea typeface="Calibri"/>
                <a:cs typeface="Calibri"/>
              </a:defRPr>
            </a:defPPr>
            <a:lvl1pPr>
              <a:defRPr sz="1275" b="0">
                <a:solidFill>
                  <a:srgbClr val="567371"/>
                </a:solidFill>
                <a:latin typeface="Calibri"/>
                <a:ea typeface="Calibri"/>
                <a:cs typeface="Calibri"/>
              </a:defRPr>
            </a:lvl1pPr>
            <a:lvl2pPr>
              <a:defRPr sz="1275" b="0">
                <a:solidFill>
                  <a:srgbClr val="567371"/>
                </a:solidFill>
                <a:latin typeface="Calibri"/>
                <a:ea typeface="Calibri"/>
                <a:cs typeface="Calibri"/>
              </a:defRPr>
            </a:lvl2pPr>
            <a:lvl3pPr>
              <a:defRPr sz="1275" b="0">
                <a:solidFill>
                  <a:srgbClr val="567371"/>
                </a:solidFill>
                <a:latin typeface="Calibri"/>
                <a:ea typeface="Calibri"/>
                <a:cs typeface="Calibri"/>
              </a:defRPr>
            </a:lvl3pPr>
            <a:lvl4pPr>
              <a:defRPr sz="1275" b="0">
                <a:solidFill>
                  <a:srgbClr val="567371"/>
                </a:solidFill>
                <a:latin typeface="Calibri"/>
                <a:ea typeface="Calibri"/>
                <a:cs typeface="Calibri"/>
              </a:defRPr>
            </a:lvl4pPr>
            <a:lvl5pPr>
              <a:defRPr sz="1275" b="0">
                <a:solidFill>
                  <a:srgbClr val="567371"/>
                </a:solidFill>
                <a:latin typeface="Calibri"/>
                <a:ea typeface="Calibri"/>
                <a:cs typeface="Calibri"/>
              </a:defRPr>
            </a:lvl5pPr>
            <a:lvl6pPr>
              <a:defRPr sz="1275" b="0">
                <a:solidFill>
                  <a:srgbClr val="567371"/>
                </a:solidFill>
                <a:latin typeface="Calibri"/>
                <a:ea typeface="Calibri"/>
                <a:cs typeface="Calibri"/>
              </a:defRPr>
            </a:lvl6pPr>
            <a:lvl7pPr>
              <a:defRPr sz="1275" b="0">
                <a:solidFill>
                  <a:srgbClr val="567371"/>
                </a:solidFill>
                <a:latin typeface="Calibri"/>
                <a:ea typeface="Calibri"/>
                <a:cs typeface="Calibri"/>
              </a:defRPr>
            </a:lvl7pPr>
            <a:lvl8pPr>
              <a:defRPr sz="1275" b="0">
                <a:solidFill>
                  <a:srgbClr val="567371"/>
                </a:solidFill>
                <a:latin typeface="Calibri"/>
                <a:ea typeface="Calibri"/>
                <a:cs typeface="Calibri"/>
              </a:defRPr>
            </a:lvl8pPr>
            <a:lvl9pPr>
              <a:defRPr sz="1275" b="0">
                <a:solidFill>
                  <a:srgbClr val="567371"/>
                </a:solidFill>
                <a:latin typeface="Calibri"/>
                <a:ea typeface="Calibri"/>
                <a:cs typeface="Calibri"/>
              </a:defRPr>
            </a:lvl9pPr>
          </a:lstStyle>
          <a:p xmlns:a="http://schemas.openxmlformats.org/drawingml/2006/main">
            <a:pPr>
              <a:defRPr sz="1275" b="0">
                <a:solidFill>
                  <a:srgbClr val="567371"/>
                </a:solidFill>
                <a:latin typeface="Calibri"/>
                <a:ea typeface="Calibri"/>
                <a:cs typeface="Calibri"/>
              </a:defRPr>
            </a:pPr>
            <a:r>
              <a:rPr sz="1275" b="0">
                <a:solidFill>
                  <a:srgbClr val="567371"/>
                </a:solidFill>
                <a:latin typeface="Calibri"/>
                <a:ea typeface="Calibri"/>
                <a:cs typeface="Calibri"/>
              </a:rPr>
              <a:t>Next: claims review and a defined scientific and clinical validation plan.</a:t>
            </a:r>
          </a:p>
        </p:txBody>
      </p:sp>
    </p:spTree>
    <p:extLst>
      <p:ext uri="{BB962C8B-B14F-4D97-AF65-F5344CB8AC3E}">
        <p14:creationId xmlns:p14="http://schemas.microsoft.com/office/powerpoint/2010/main" val="1945722492"/>
      </p:ext>
    </p:extLst>
  </p:cSld>
</p:sld>
</file>

<file path=ppt/slides/slide6.xml><?xml version="1.0" encoding="utf-8"?>
<p:sld xmlns:p="http://schemas.openxmlformats.org/presentationml/2006/main">
  <p:cSld>
    <p:bg>
      <p:bgPr>
        <a:solidFill xmlns:a="http://schemas.openxmlformats.org/drawingml/2006/main">
          <a:srgbClr val="073F48"/>
        </a:solidFill>
      </p:bgPr>
    </p:bg>
    <p:spTree>
      <p:nvGrpSpPr>
        <p:cNvPr id="1" name=""/>
        <p:cNvGrpSpPr/>
        <p:nvPr/>
      </p:nvGrpSpPr>
      <p:grpSpPr>
        <a:xfrm xmlns:a="http://schemas.openxmlformats.org/drawingml/2006/main"/>
      </p:grpSpPr>
      <p:sp>
        <p:nvSpPr>
          <p:cNvPr id="2" name="Business model: purchase or subscribe">
            <a:extLst xmlns:a="http://schemas.openxmlformats.org/drawingml/2006/main">
              <a:ext uri="{FF2B5EF4-FFF2-40B4-BE49-F238E27FC236}">
                <a16:creationId xmlns:a16="http://schemas.microsoft.com/office/drawing/2014/main" id="{CCC7B87E-EE03-46D9-A703-3184164ADB2B}"/>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F5F0E7"/>
                </a:solidFill>
                <a:latin typeface="Calibri"/>
                <a:ea typeface="Calibri"/>
                <a:cs typeface="Calibri"/>
              </a:defRPr>
            </a:defPPr>
            <a:lvl1pPr>
              <a:defRPr sz="3300" b="0">
                <a:solidFill>
                  <a:srgbClr val="F5F0E7"/>
                </a:solidFill>
                <a:latin typeface="Calibri"/>
                <a:ea typeface="Calibri"/>
                <a:cs typeface="Calibri"/>
              </a:defRPr>
            </a:lvl1pPr>
            <a:lvl2pPr>
              <a:defRPr sz="3300" b="0">
                <a:solidFill>
                  <a:srgbClr val="F5F0E7"/>
                </a:solidFill>
                <a:latin typeface="Calibri"/>
                <a:ea typeface="Calibri"/>
                <a:cs typeface="Calibri"/>
              </a:defRPr>
            </a:lvl2pPr>
            <a:lvl3pPr>
              <a:defRPr sz="3300" b="0">
                <a:solidFill>
                  <a:srgbClr val="F5F0E7"/>
                </a:solidFill>
                <a:latin typeface="Calibri"/>
                <a:ea typeface="Calibri"/>
                <a:cs typeface="Calibri"/>
              </a:defRPr>
            </a:lvl3pPr>
            <a:lvl4pPr>
              <a:defRPr sz="3300" b="0">
                <a:solidFill>
                  <a:srgbClr val="F5F0E7"/>
                </a:solidFill>
                <a:latin typeface="Calibri"/>
                <a:ea typeface="Calibri"/>
                <a:cs typeface="Calibri"/>
              </a:defRPr>
            </a:lvl4pPr>
            <a:lvl5pPr>
              <a:defRPr sz="3300" b="0">
                <a:solidFill>
                  <a:srgbClr val="F5F0E7"/>
                </a:solidFill>
                <a:latin typeface="Calibri"/>
                <a:ea typeface="Calibri"/>
                <a:cs typeface="Calibri"/>
              </a:defRPr>
            </a:lvl5pPr>
            <a:lvl6pPr>
              <a:defRPr sz="3300" b="0">
                <a:solidFill>
                  <a:srgbClr val="F5F0E7"/>
                </a:solidFill>
                <a:latin typeface="Calibri"/>
                <a:ea typeface="Calibri"/>
                <a:cs typeface="Calibri"/>
              </a:defRPr>
            </a:lvl6pPr>
            <a:lvl7pPr>
              <a:defRPr sz="3300" b="0">
                <a:solidFill>
                  <a:srgbClr val="F5F0E7"/>
                </a:solidFill>
                <a:latin typeface="Calibri"/>
                <a:ea typeface="Calibri"/>
                <a:cs typeface="Calibri"/>
              </a:defRPr>
            </a:lvl7pPr>
            <a:lvl8pPr>
              <a:defRPr sz="3300" b="0">
                <a:solidFill>
                  <a:srgbClr val="F5F0E7"/>
                </a:solidFill>
                <a:latin typeface="Calibri"/>
                <a:ea typeface="Calibri"/>
                <a:cs typeface="Calibri"/>
              </a:defRPr>
            </a:lvl8pPr>
            <a:lvl9pPr>
              <a:defRPr sz="3300" b="0">
                <a:solidFill>
                  <a:srgbClr val="F5F0E7"/>
                </a:solidFill>
                <a:latin typeface="Calibri"/>
                <a:ea typeface="Calibri"/>
                <a:cs typeface="Calibri"/>
              </a:defRPr>
            </a:lvl9pPr>
          </a:lstStyle>
          <a:p xmlns:a="http://schemas.openxmlformats.org/drawingml/2006/main">
            <a:pPr>
              <a:defRPr sz="3300" b="0">
                <a:solidFill>
                  <a:srgbClr val="F5F0E7"/>
                </a:solidFill>
                <a:latin typeface="Calibri"/>
                <a:ea typeface="Calibri"/>
                <a:cs typeface="Calibri"/>
              </a:defRPr>
            </a:pPr>
            <a:r>
              <a:rPr sz="3300" b="0">
                <a:solidFill>
                  <a:srgbClr val="F5F0E7"/>
                </a:solidFill>
                <a:latin typeface="Calibri"/>
                <a:ea typeface="Calibri"/>
                <a:cs typeface="Calibri"/>
              </a:rPr>
              <a:t>Business model: purchase or subscribe</a:t>
            </a:r>
          </a:p>
        </p:txBody>
      </p:sp>
      <p:sp>
        <p:nvSpPr>
          <p:cNvPr id="3" name="AURA PATCH  /  CONFIDENTIAL  /  OCTOBER 2026">
            <a:extLst xmlns:a="http://schemas.openxmlformats.org/drawingml/2006/main">
              <a:ext uri="{FF2B5EF4-FFF2-40B4-BE49-F238E27FC236}">
                <a16:creationId xmlns:a16="http://schemas.microsoft.com/office/drawing/2014/main" id="{34AA87A7-6B95-42B7-9FA2-C14B3FA526FD}"/>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B9CEC7"/>
                </a:solidFill>
                <a:latin typeface="Calibri"/>
                <a:ea typeface="Calibri"/>
                <a:cs typeface="Calibri"/>
              </a:defRPr>
            </a:defPPr>
            <a:lvl1pPr>
              <a:defRPr sz="900" b="0">
                <a:solidFill>
                  <a:srgbClr val="B9CEC7"/>
                </a:solidFill>
                <a:latin typeface="Calibri"/>
                <a:ea typeface="Calibri"/>
                <a:cs typeface="Calibri"/>
              </a:defRPr>
            </a:lvl1pPr>
            <a:lvl2pPr>
              <a:defRPr sz="900" b="0">
                <a:solidFill>
                  <a:srgbClr val="B9CEC7"/>
                </a:solidFill>
                <a:latin typeface="Calibri"/>
                <a:ea typeface="Calibri"/>
                <a:cs typeface="Calibri"/>
              </a:defRPr>
            </a:lvl2pPr>
            <a:lvl3pPr>
              <a:defRPr sz="900" b="0">
                <a:solidFill>
                  <a:srgbClr val="B9CEC7"/>
                </a:solidFill>
                <a:latin typeface="Calibri"/>
                <a:ea typeface="Calibri"/>
                <a:cs typeface="Calibri"/>
              </a:defRPr>
            </a:lvl3pPr>
            <a:lvl4pPr>
              <a:defRPr sz="900" b="0">
                <a:solidFill>
                  <a:srgbClr val="B9CEC7"/>
                </a:solidFill>
                <a:latin typeface="Calibri"/>
                <a:ea typeface="Calibri"/>
                <a:cs typeface="Calibri"/>
              </a:defRPr>
            </a:lvl4pPr>
            <a:lvl5pPr>
              <a:defRPr sz="900" b="0">
                <a:solidFill>
                  <a:srgbClr val="B9CEC7"/>
                </a:solidFill>
                <a:latin typeface="Calibri"/>
                <a:ea typeface="Calibri"/>
                <a:cs typeface="Calibri"/>
              </a:defRPr>
            </a:lvl5pPr>
            <a:lvl6pPr>
              <a:defRPr sz="900" b="0">
                <a:solidFill>
                  <a:srgbClr val="B9CEC7"/>
                </a:solidFill>
                <a:latin typeface="Calibri"/>
                <a:ea typeface="Calibri"/>
                <a:cs typeface="Calibri"/>
              </a:defRPr>
            </a:lvl6pPr>
            <a:lvl7pPr>
              <a:defRPr sz="900" b="0">
                <a:solidFill>
                  <a:srgbClr val="B9CEC7"/>
                </a:solidFill>
                <a:latin typeface="Calibri"/>
                <a:ea typeface="Calibri"/>
                <a:cs typeface="Calibri"/>
              </a:defRPr>
            </a:lvl7pPr>
            <a:lvl8pPr>
              <a:defRPr sz="900" b="0">
                <a:solidFill>
                  <a:srgbClr val="B9CEC7"/>
                </a:solidFill>
                <a:latin typeface="Calibri"/>
                <a:ea typeface="Calibri"/>
                <a:cs typeface="Calibri"/>
              </a:defRPr>
            </a:lvl8pPr>
            <a:lvl9pPr>
              <a:defRPr sz="900" b="0">
                <a:solidFill>
                  <a:srgbClr val="B9CEC7"/>
                </a:solidFill>
                <a:latin typeface="Calibri"/>
                <a:ea typeface="Calibri"/>
                <a:cs typeface="Calibri"/>
              </a:defRPr>
            </a:lvl9pPr>
          </a:lstStyle>
          <a:p xmlns:a="http://schemas.openxmlformats.org/drawingml/2006/main">
            <a:pPr>
              <a:defRPr sz="900" b="0">
                <a:solidFill>
                  <a:srgbClr val="B9CEC7"/>
                </a:solidFill>
                <a:latin typeface="Calibri"/>
                <a:ea typeface="Calibri"/>
                <a:cs typeface="Calibri"/>
              </a:defRPr>
            </a:pPr>
            <a:r>
              <a:rPr sz="900" b="0">
                <a:solidFill>
                  <a:srgbClr val="B9CEC7"/>
                </a:solidFill>
                <a:latin typeface="Calibri"/>
                <a:ea typeface="Calibri"/>
                <a:cs typeface="Calibri"/>
              </a:rPr>
              <a:t>AURA PATCH  /  CONFIDENTIAL  /  OCTOBER 2026</a:t>
            </a:r>
          </a:p>
        </p:txBody>
      </p:sp>
      <p:sp>
        <p:nvSpPr>
          <p:cNvPr id="4" name="06">
            <a:extLst xmlns:a="http://schemas.openxmlformats.org/drawingml/2006/main">
              <a:ext uri="{FF2B5EF4-FFF2-40B4-BE49-F238E27FC236}">
                <a16:creationId xmlns:a16="http://schemas.microsoft.com/office/drawing/2014/main" id="{009EB9FC-A31F-442B-9448-C08E7E5C9061}"/>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06</a:t>
            </a:r>
          </a:p>
        </p:txBody>
      </p:sp>
      <p:sp>
        <p:nvSpPr>
          <p:cNvPr id="5" name="$49.99">
            <a:extLst xmlns:a="http://schemas.openxmlformats.org/drawingml/2006/main">
              <a:ext uri="{FF2B5EF4-FFF2-40B4-BE49-F238E27FC236}">
                <a16:creationId xmlns:a16="http://schemas.microsoft.com/office/drawing/2014/main" id="{8709BD24-9C40-4140-A344-C0F28F900103}"/>
              </a:ext>
            </a:extLst>
          </p:cNvPr>
          <p:cNvSpPr>
            <a:spLocks xmlns:a="http://schemas.openxmlformats.org/drawingml/2006/main" noGrp="1"/>
          </p:cNvSpPr>
          <p:nvPr/>
        </p:nvSpPr>
        <p:spPr>
          <a:xfrm xmlns:a="http://schemas.openxmlformats.org/drawingml/2006/main">
            <a:off x="609600" y="206692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150" b="0">
                <a:solidFill>
                  <a:srgbClr val="F5F0E7"/>
                </a:solidFill>
                <a:latin typeface="Calibri"/>
                <a:ea typeface="Calibri"/>
                <a:cs typeface="Calibri"/>
              </a:defRPr>
            </a:defPPr>
            <a:lvl1pPr>
              <a:defRPr sz="6150" b="0">
                <a:solidFill>
                  <a:srgbClr val="F5F0E7"/>
                </a:solidFill>
                <a:latin typeface="Calibri"/>
                <a:ea typeface="Calibri"/>
                <a:cs typeface="Calibri"/>
              </a:defRPr>
            </a:lvl1pPr>
            <a:lvl2pPr>
              <a:defRPr sz="6150" b="0">
                <a:solidFill>
                  <a:srgbClr val="F5F0E7"/>
                </a:solidFill>
                <a:latin typeface="Calibri"/>
                <a:ea typeface="Calibri"/>
                <a:cs typeface="Calibri"/>
              </a:defRPr>
            </a:lvl2pPr>
            <a:lvl3pPr>
              <a:defRPr sz="6150" b="0">
                <a:solidFill>
                  <a:srgbClr val="F5F0E7"/>
                </a:solidFill>
                <a:latin typeface="Calibri"/>
                <a:ea typeface="Calibri"/>
                <a:cs typeface="Calibri"/>
              </a:defRPr>
            </a:lvl3pPr>
            <a:lvl4pPr>
              <a:defRPr sz="6150" b="0">
                <a:solidFill>
                  <a:srgbClr val="F5F0E7"/>
                </a:solidFill>
                <a:latin typeface="Calibri"/>
                <a:ea typeface="Calibri"/>
                <a:cs typeface="Calibri"/>
              </a:defRPr>
            </a:lvl4pPr>
            <a:lvl5pPr>
              <a:defRPr sz="6150" b="0">
                <a:solidFill>
                  <a:srgbClr val="F5F0E7"/>
                </a:solidFill>
                <a:latin typeface="Calibri"/>
                <a:ea typeface="Calibri"/>
                <a:cs typeface="Calibri"/>
              </a:defRPr>
            </a:lvl5pPr>
            <a:lvl6pPr>
              <a:defRPr sz="6150" b="0">
                <a:solidFill>
                  <a:srgbClr val="F5F0E7"/>
                </a:solidFill>
                <a:latin typeface="Calibri"/>
                <a:ea typeface="Calibri"/>
                <a:cs typeface="Calibri"/>
              </a:defRPr>
            </a:lvl6pPr>
            <a:lvl7pPr>
              <a:defRPr sz="6150" b="0">
                <a:solidFill>
                  <a:srgbClr val="F5F0E7"/>
                </a:solidFill>
                <a:latin typeface="Calibri"/>
                <a:ea typeface="Calibri"/>
                <a:cs typeface="Calibri"/>
              </a:defRPr>
            </a:lvl7pPr>
            <a:lvl8pPr>
              <a:defRPr sz="6150" b="0">
                <a:solidFill>
                  <a:srgbClr val="F5F0E7"/>
                </a:solidFill>
                <a:latin typeface="Calibri"/>
                <a:ea typeface="Calibri"/>
                <a:cs typeface="Calibri"/>
              </a:defRPr>
            </a:lvl8pPr>
            <a:lvl9pPr>
              <a:defRPr sz="6150" b="0">
                <a:solidFill>
                  <a:srgbClr val="F5F0E7"/>
                </a:solidFill>
                <a:latin typeface="Calibri"/>
                <a:ea typeface="Calibri"/>
                <a:cs typeface="Calibri"/>
              </a:defRPr>
            </a:lvl9pPr>
          </a:lstStyle>
          <a:p xmlns:a="http://schemas.openxmlformats.org/drawingml/2006/main">
            <a:pPr>
              <a:defRPr sz="6150" b="0">
                <a:solidFill>
                  <a:srgbClr val="F5F0E7"/>
                </a:solidFill>
                <a:latin typeface="Calibri"/>
                <a:ea typeface="Calibri"/>
                <a:cs typeface="Calibri"/>
              </a:defRPr>
            </a:pPr>
            <a:r>
              <a:rPr sz="6150" b="0">
                <a:solidFill>
                  <a:srgbClr val="F5F0E7"/>
                </a:solidFill>
                <a:latin typeface="Calibri"/>
                <a:ea typeface="Calibri"/>
                <a:cs typeface="Calibri"/>
              </a:rPr>
              <a:t>$49.99</a:t>
            </a:r>
          </a:p>
        </p:txBody>
      </p:sp>
      <p:sp>
        <p:nvSpPr>
          <p:cNvPr id="6" name="One-time purchase">
            <a:extLst xmlns:a="http://schemas.openxmlformats.org/drawingml/2006/main">
              <a:ext uri="{FF2B5EF4-FFF2-40B4-BE49-F238E27FC236}">
                <a16:creationId xmlns:a16="http://schemas.microsoft.com/office/drawing/2014/main" id="{40A86F54-5609-4AB4-84BE-B944D132D158}"/>
              </a:ext>
            </a:extLst>
          </p:cNvPr>
          <p:cNvSpPr>
            <a:spLocks xmlns:a="http://schemas.openxmlformats.org/drawingml/2006/main" noGrp="1"/>
          </p:cNvSpPr>
          <p:nvPr/>
        </p:nvSpPr>
        <p:spPr>
          <a:xfrm xmlns:a="http://schemas.openxmlformats.org/drawingml/2006/main">
            <a:off x="609600" y="32766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5F0E7"/>
                </a:solidFill>
                <a:latin typeface="Calibri"/>
                <a:ea typeface="Calibri"/>
                <a:cs typeface="Calibri"/>
              </a:defRPr>
            </a:defPPr>
            <a:lvl1pPr>
              <a:defRPr sz="2325" b="1">
                <a:solidFill>
                  <a:srgbClr val="F5F0E7"/>
                </a:solidFill>
                <a:latin typeface="Calibri"/>
                <a:ea typeface="Calibri"/>
                <a:cs typeface="Calibri"/>
              </a:defRPr>
            </a:lvl1pPr>
            <a:lvl2pPr>
              <a:defRPr sz="2325" b="1">
                <a:solidFill>
                  <a:srgbClr val="F5F0E7"/>
                </a:solidFill>
                <a:latin typeface="Calibri"/>
                <a:ea typeface="Calibri"/>
                <a:cs typeface="Calibri"/>
              </a:defRPr>
            </a:lvl2pPr>
            <a:lvl3pPr>
              <a:defRPr sz="2325" b="1">
                <a:solidFill>
                  <a:srgbClr val="F5F0E7"/>
                </a:solidFill>
                <a:latin typeface="Calibri"/>
                <a:ea typeface="Calibri"/>
                <a:cs typeface="Calibri"/>
              </a:defRPr>
            </a:lvl3pPr>
            <a:lvl4pPr>
              <a:defRPr sz="2325" b="1">
                <a:solidFill>
                  <a:srgbClr val="F5F0E7"/>
                </a:solidFill>
                <a:latin typeface="Calibri"/>
                <a:ea typeface="Calibri"/>
                <a:cs typeface="Calibri"/>
              </a:defRPr>
            </a:lvl4pPr>
            <a:lvl5pPr>
              <a:defRPr sz="2325" b="1">
                <a:solidFill>
                  <a:srgbClr val="F5F0E7"/>
                </a:solidFill>
                <a:latin typeface="Calibri"/>
                <a:ea typeface="Calibri"/>
                <a:cs typeface="Calibri"/>
              </a:defRPr>
            </a:lvl5pPr>
            <a:lvl6pPr>
              <a:defRPr sz="2325" b="1">
                <a:solidFill>
                  <a:srgbClr val="F5F0E7"/>
                </a:solidFill>
                <a:latin typeface="Calibri"/>
                <a:ea typeface="Calibri"/>
                <a:cs typeface="Calibri"/>
              </a:defRPr>
            </a:lvl6pPr>
            <a:lvl7pPr>
              <a:defRPr sz="2325" b="1">
                <a:solidFill>
                  <a:srgbClr val="F5F0E7"/>
                </a:solidFill>
                <a:latin typeface="Calibri"/>
                <a:ea typeface="Calibri"/>
                <a:cs typeface="Calibri"/>
              </a:defRPr>
            </a:lvl7pPr>
            <a:lvl8pPr>
              <a:defRPr sz="2325" b="1">
                <a:solidFill>
                  <a:srgbClr val="F5F0E7"/>
                </a:solidFill>
                <a:latin typeface="Calibri"/>
                <a:ea typeface="Calibri"/>
                <a:cs typeface="Calibri"/>
              </a:defRPr>
            </a:lvl8pPr>
            <a:lvl9pPr>
              <a:defRPr sz="2325" b="1">
                <a:solidFill>
                  <a:srgbClr val="F5F0E7"/>
                </a:solidFill>
                <a:latin typeface="Calibri"/>
                <a:ea typeface="Calibri"/>
                <a:cs typeface="Calibri"/>
              </a:defRPr>
            </a:lvl9pPr>
          </a:lstStyle>
          <a:p xmlns:a="http://schemas.openxmlformats.org/drawingml/2006/main">
            <a:pPr>
              <a:defRPr sz="2325" b="1">
                <a:solidFill>
                  <a:srgbClr val="F5F0E7"/>
                </a:solidFill>
                <a:latin typeface="Calibri"/>
                <a:ea typeface="Calibri"/>
                <a:cs typeface="Calibri"/>
              </a:defRPr>
            </a:pPr>
            <a:r>
              <a:rPr sz="2325" b="1">
                <a:solidFill>
                  <a:srgbClr val="F5F0E7"/>
                </a:solidFill>
                <a:latin typeface="Calibri"/>
                <a:ea typeface="Calibri"/>
                <a:cs typeface="Calibri"/>
              </a:rPr>
              <a:t>One-time purchase</a:t>
            </a:r>
          </a:p>
        </p:txBody>
      </p:sp>
      <p:sp>
        <p:nvSpPr>
          <p:cNvPr id="7" name="One pouch of 30 patches">
            <a:extLst xmlns:a="http://schemas.openxmlformats.org/drawingml/2006/main">
              <a:ext uri="{FF2B5EF4-FFF2-40B4-BE49-F238E27FC236}">
                <a16:creationId xmlns:a16="http://schemas.microsoft.com/office/drawing/2014/main" id="{7389BABF-5EF7-4A40-9A02-06A3D3A1AFEC}"/>
              </a:ext>
            </a:extLst>
          </p:cNvPr>
          <p:cNvSpPr>
            <a:spLocks xmlns:a="http://schemas.openxmlformats.org/drawingml/2006/main" noGrp="1"/>
          </p:cNvSpPr>
          <p:nvPr/>
        </p:nvSpPr>
        <p:spPr>
          <a:xfrm xmlns:a="http://schemas.openxmlformats.org/drawingml/2006/main">
            <a:off x="609600" y="38957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9CEC7"/>
                </a:solidFill>
                <a:latin typeface="Calibri"/>
                <a:ea typeface="Calibri"/>
                <a:cs typeface="Calibri"/>
              </a:defRPr>
            </a:defPPr>
            <a:lvl1pPr>
              <a:defRPr sz="2025" b="0">
                <a:solidFill>
                  <a:srgbClr val="B9CEC7"/>
                </a:solidFill>
                <a:latin typeface="Calibri"/>
                <a:ea typeface="Calibri"/>
                <a:cs typeface="Calibri"/>
              </a:defRPr>
            </a:lvl1pPr>
            <a:lvl2pPr>
              <a:defRPr sz="2025" b="0">
                <a:solidFill>
                  <a:srgbClr val="B9CEC7"/>
                </a:solidFill>
                <a:latin typeface="Calibri"/>
                <a:ea typeface="Calibri"/>
                <a:cs typeface="Calibri"/>
              </a:defRPr>
            </a:lvl2pPr>
            <a:lvl3pPr>
              <a:defRPr sz="2025" b="0">
                <a:solidFill>
                  <a:srgbClr val="B9CEC7"/>
                </a:solidFill>
                <a:latin typeface="Calibri"/>
                <a:ea typeface="Calibri"/>
                <a:cs typeface="Calibri"/>
              </a:defRPr>
            </a:lvl3pPr>
            <a:lvl4pPr>
              <a:defRPr sz="2025" b="0">
                <a:solidFill>
                  <a:srgbClr val="B9CEC7"/>
                </a:solidFill>
                <a:latin typeface="Calibri"/>
                <a:ea typeface="Calibri"/>
                <a:cs typeface="Calibri"/>
              </a:defRPr>
            </a:lvl4pPr>
            <a:lvl5pPr>
              <a:defRPr sz="2025" b="0">
                <a:solidFill>
                  <a:srgbClr val="B9CEC7"/>
                </a:solidFill>
                <a:latin typeface="Calibri"/>
                <a:ea typeface="Calibri"/>
                <a:cs typeface="Calibri"/>
              </a:defRPr>
            </a:lvl5pPr>
            <a:lvl6pPr>
              <a:defRPr sz="2025" b="0">
                <a:solidFill>
                  <a:srgbClr val="B9CEC7"/>
                </a:solidFill>
                <a:latin typeface="Calibri"/>
                <a:ea typeface="Calibri"/>
                <a:cs typeface="Calibri"/>
              </a:defRPr>
            </a:lvl6pPr>
            <a:lvl7pPr>
              <a:defRPr sz="2025" b="0">
                <a:solidFill>
                  <a:srgbClr val="B9CEC7"/>
                </a:solidFill>
                <a:latin typeface="Calibri"/>
                <a:ea typeface="Calibri"/>
                <a:cs typeface="Calibri"/>
              </a:defRPr>
            </a:lvl7pPr>
            <a:lvl8pPr>
              <a:defRPr sz="2025" b="0">
                <a:solidFill>
                  <a:srgbClr val="B9CEC7"/>
                </a:solidFill>
                <a:latin typeface="Calibri"/>
                <a:ea typeface="Calibri"/>
                <a:cs typeface="Calibri"/>
              </a:defRPr>
            </a:lvl8pPr>
            <a:lvl9pPr>
              <a:defRPr sz="2025" b="0">
                <a:solidFill>
                  <a:srgbClr val="B9CEC7"/>
                </a:solidFill>
                <a:latin typeface="Calibri"/>
                <a:ea typeface="Calibri"/>
                <a:cs typeface="Calibri"/>
              </a:defRPr>
            </a:lvl9pPr>
          </a:lstStyle>
          <a:p xmlns:a="http://schemas.openxmlformats.org/drawingml/2006/main">
            <a:pPr>
              <a:defRPr sz="2025" b="0">
                <a:solidFill>
                  <a:srgbClr val="B9CEC7"/>
                </a:solidFill>
                <a:latin typeface="Calibri"/>
                <a:ea typeface="Calibri"/>
                <a:cs typeface="Calibri"/>
              </a:defRPr>
            </a:pPr>
            <a:r>
              <a:rPr sz="2025" b="0">
                <a:solidFill>
                  <a:srgbClr val="B9CEC7"/>
                </a:solidFill>
                <a:latin typeface="Calibri"/>
                <a:ea typeface="Calibri"/>
                <a:cs typeface="Calibri"/>
              </a:rPr>
              <a:t>One pouch of 30 patches</a:t>
            </a:r>
          </a:p>
        </p:txBody>
      </p:sp>
      <p:sp>
        <p:nvSpPr>
          <p:cNvPr id="8" name="$39.99">
            <a:extLst xmlns:a="http://schemas.openxmlformats.org/drawingml/2006/main">
              <a:ext uri="{FF2B5EF4-FFF2-40B4-BE49-F238E27FC236}">
                <a16:creationId xmlns:a16="http://schemas.microsoft.com/office/drawing/2014/main" id="{493B907B-A0B8-4066-801F-3FB9E30E0036}"/>
              </a:ext>
            </a:extLst>
          </p:cNvPr>
          <p:cNvSpPr>
            <a:spLocks xmlns:a="http://schemas.openxmlformats.org/drawingml/2006/main" noGrp="1"/>
          </p:cNvSpPr>
          <p:nvPr/>
        </p:nvSpPr>
        <p:spPr>
          <a:xfrm xmlns:a="http://schemas.openxmlformats.org/drawingml/2006/main">
            <a:off x="6429375" y="206692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150" b="0">
                <a:solidFill>
                  <a:srgbClr val="BF9A50"/>
                </a:solidFill>
                <a:latin typeface="Calibri"/>
                <a:ea typeface="Calibri"/>
                <a:cs typeface="Calibri"/>
              </a:defRPr>
            </a:defPPr>
            <a:lvl1pPr>
              <a:defRPr sz="6150" b="0">
                <a:solidFill>
                  <a:srgbClr val="BF9A50"/>
                </a:solidFill>
                <a:latin typeface="Calibri"/>
                <a:ea typeface="Calibri"/>
                <a:cs typeface="Calibri"/>
              </a:defRPr>
            </a:lvl1pPr>
            <a:lvl2pPr>
              <a:defRPr sz="6150" b="0">
                <a:solidFill>
                  <a:srgbClr val="BF9A50"/>
                </a:solidFill>
                <a:latin typeface="Calibri"/>
                <a:ea typeface="Calibri"/>
                <a:cs typeface="Calibri"/>
              </a:defRPr>
            </a:lvl2pPr>
            <a:lvl3pPr>
              <a:defRPr sz="6150" b="0">
                <a:solidFill>
                  <a:srgbClr val="BF9A50"/>
                </a:solidFill>
                <a:latin typeface="Calibri"/>
                <a:ea typeface="Calibri"/>
                <a:cs typeface="Calibri"/>
              </a:defRPr>
            </a:lvl3pPr>
            <a:lvl4pPr>
              <a:defRPr sz="6150" b="0">
                <a:solidFill>
                  <a:srgbClr val="BF9A50"/>
                </a:solidFill>
                <a:latin typeface="Calibri"/>
                <a:ea typeface="Calibri"/>
                <a:cs typeface="Calibri"/>
              </a:defRPr>
            </a:lvl4pPr>
            <a:lvl5pPr>
              <a:defRPr sz="6150" b="0">
                <a:solidFill>
                  <a:srgbClr val="BF9A50"/>
                </a:solidFill>
                <a:latin typeface="Calibri"/>
                <a:ea typeface="Calibri"/>
                <a:cs typeface="Calibri"/>
              </a:defRPr>
            </a:lvl5pPr>
            <a:lvl6pPr>
              <a:defRPr sz="6150" b="0">
                <a:solidFill>
                  <a:srgbClr val="BF9A50"/>
                </a:solidFill>
                <a:latin typeface="Calibri"/>
                <a:ea typeface="Calibri"/>
                <a:cs typeface="Calibri"/>
              </a:defRPr>
            </a:lvl6pPr>
            <a:lvl7pPr>
              <a:defRPr sz="6150" b="0">
                <a:solidFill>
                  <a:srgbClr val="BF9A50"/>
                </a:solidFill>
                <a:latin typeface="Calibri"/>
                <a:ea typeface="Calibri"/>
                <a:cs typeface="Calibri"/>
              </a:defRPr>
            </a:lvl7pPr>
            <a:lvl8pPr>
              <a:defRPr sz="6150" b="0">
                <a:solidFill>
                  <a:srgbClr val="BF9A50"/>
                </a:solidFill>
                <a:latin typeface="Calibri"/>
                <a:ea typeface="Calibri"/>
                <a:cs typeface="Calibri"/>
              </a:defRPr>
            </a:lvl8pPr>
            <a:lvl9pPr>
              <a:defRPr sz="6150" b="0">
                <a:solidFill>
                  <a:srgbClr val="BF9A50"/>
                </a:solidFill>
                <a:latin typeface="Calibri"/>
                <a:ea typeface="Calibri"/>
                <a:cs typeface="Calibri"/>
              </a:defRPr>
            </a:lvl9pPr>
          </a:lstStyle>
          <a:p xmlns:a="http://schemas.openxmlformats.org/drawingml/2006/main">
            <a:pPr>
              <a:defRPr sz="6150" b="0">
                <a:solidFill>
                  <a:srgbClr val="BF9A50"/>
                </a:solidFill>
                <a:latin typeface="Calibri"/>
                <a:ea typeface="Calibri"/>
                <a:cs typeface="Calibri"/>
              </a:defRPr>
            </a:pPr>
            <a:r>
              <a:rPr sz="6150" b="0">
                <a:solidFill>
                  <a:srgbClr val="BF9A50"/>
                </a:solidFill>
                <a:latin typeface="Calibri"/>
                <a:ea typeface="Calibri"/>
                <a:cs typeface="Calibri"/>
              </a:rPr>
              <a:t>$39.99</a:t>
            </a:r>
          </a:p>
        </p:txBody>
      </p:sp>
      <p:sp>
        <p:nvSpPr>
          <p:cNvPr id="9" name="Monthly subscription">
            <a:extLst xmlns:a="http://schemas.openxmlformats.org/drawingml/2006/main">
              <a:ext uri="{FF2B5EF4-FFF2-40B4-BE49-F238E27FC236}">
                <a16:creationId xmlns:a16="http://schemas.microsoft.com/office/drawing/2014/main" id="{B4D63230-9FDD-484A-A8FB-A206FBB16277}"/>
              </a:ext>
            </a:extLst>
          </p:cNvPr>
          <p:cNvSpPr>
            <a:spLocks xmlns:a="http://schemas.openxmlformats.org/drawingml/2006/main" noGrp="1"/>
          </p:cNvSpPr>
          <p:nvPr/>
        </p:nvSpPr>
        <p:spPr>
          <a:xfrm xmlns:a="http://schemas.openxmlformats.org/drawingml/2006/main">
            <a:off x="6429375" y="327660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F5F0E7"/>
                </a:solidFill>
                <a:latin typeface="Calibri"/>
                <a:ea typeface="Calibri"/>
                <a:cs typeface="Calibri"/>
              </a:defRPr>
            </a:defPPr>
            <a:lvl1pPr>
              <a:defRPr sz="2325" b="1">
                <a:solidFill>
                  <a:srgbClr val="F5F0E7"/>
                </a:solidFill>
                <a:latin typeface="Calibri"/>
                <a:ea typeface="Calibri"/>
                <a:cs typeface="Calibri"/>
              </a:defRPr>
            </a:lvl1pPr>
            <a:lvl2pPr>
              <a:defRPr sz="2325" b="1">
                <a:solidFill>
                  <a:srgbClr val="F5F0E7"/>
                </a:solidFill>
                <a:latin typeface="Calibri"/>
                <a:ea typeface="Calibri"/>
                <a:cs typeface="Calibri"/>
              </a:defRPr>
            </a:lvl2pPr>
            <a:lvl3pPr>
              <a:defRPr sz="2325" b="1">
                <a:solidFill>
                  <a:srgbClr val="F5F0E7"/>
                </a:solidFill>
                <a:latin typeface="Calibri"/>
                <a:ea typeface="Calibri"/>
                <a:cs typeface="Calibri"/>
              </a:defRPr>
            </a:lvl3pPr>
            <a:lvl4pPr>
              <a:defRPr sz="2325" b="1">
                <a:solidFill>
                  <a:srgbClr val="F5F0E7"/>
                </a:solidFill>
                <a:latin typeface="Calibri"/>
                <a:ea typeface="Calibri"/>
                <a:cs typeface="Calibri"/>
              </a:defRPr>
            </a:lvl4pPr>
            <a:lvl5pPr>
              <a:defRPr sz="2325" b="1">
                <a:solidFill>
                  <a:srgbClr val="F5F0E7"/>
                </a:solidFill>
                <a:latin typeface="Calibri"/>
                <a:ea typeface="Calibri"/>
                <a:cs typeface="Calibri"/>
              </a:defRPr>
            </a:lvl5pPr>
            <a:lvl6pPr>
              <a:defRPr sz="2325" b="1">
                <a:solidFill>
                  <a:srgbClr val="F5F0E7"/>
                </a:solidFill>
                <a:latin typeface="Calibri"/>
                <a:ea typeface="Calibri"/>
                <a:cs typeface="Calibri"/>
              </a:defRPr>
            </a:lvl6pPr>
            <a:lvl7pPr>
              <a:defRPr sz="2325" b="1">
                <a:solidFill>
                  <a:srgbClr val="F5F0E7"/>
                </a:solidFill>
                <a:latin typeface="Calibri"/>
                <a:ea typeface="Calibri"/>
                <a:cs typeface="Calibri"/>
              </a:defRPr>
            </a:lvl7pPr>
            <a:lvl8pPr>
              <a:defRPr sz="2325" b="1">
                <a:solidFill>
                  <a:srgbClr val="F5F0E7"/>
                </a:solidFill>
                <a:latin typeface="Calibri"/>
                <a:ea typeface="Calibri"/>
                <a:cs typeface="Calibri"/>
              </a:defRPr>
            </a:lvl8pPr>
            <a:lvl9pPr>
              <a:defRPr sz="2325" b="1">
                <a:solidFill>
                  <a:srgbClr val="F5F0E7"/>
                </a:solidFill>
                <a:latin typeface="Calibri"/>
                <a:ea typeface="Calibri"/>
                <a:cs typeface="Calibri"/>
              </a:defRPr>
            </a:lvl9pPr>
          </a:lstStyle>
          <a:p xmlns:a="http://schemas.openxmlformats.org/drawingml/2006/main">
            <a:pPr>
              <a:defRPr sz="2325" b="1">
                <a:solidFill>
                  <a:srgbClr val="F5F0E7"/>
                </a:solidFill>
                <a:latin typeface="Calibri"/>
                <a:ea typeface="Calibri"/>
                <a:cs typeface="Calibri"/>
              </a:defRPr>
            </a:pPr>
            <a:r>
              <a:rPr sz="2325" b="1">
                <a:solidFill>
                  <a:srgbClr val="F5F0E7"/>
                </a:solidFill>
                <a:latin typeface="Calibri"/>
                <a:ea typeface="Calibri"/>
                <a:cs typeface="Calibri"/>
              </a:rPr>
              <a:t>Monthly subscription</a:t>
            </a:r>
          </a:p>
        </p:txBody>
      </p:sp>
      <p:sp>
        <p:nvSpPr>
          <p:cNvPr id="10" name="$10 savings per pouch&#10;Approximately 20% below">
            <a:extLst xmlns:a="http://schemas.openxmlformats.org/drawingml/2006/main">
              <a:ext uri="{FF2B5EF4-FFF2-40B4-BE49-F238E27FC236}">
                <a16:creationId xmlns:a16="http://schemas.microsoft.com/office/drawing/2014/main" id="{AC55BC71-AA65-4EDD-A8CF-DDA7737215DC}"/>
              </a:ext>
            </a:extLst>
          </p:cNvPr>
          <p:cNvSpPr>
            <a:spLocks xmlns:a="http://schemas.openxmlformats.org/drawingml/2006/main" noGrp="1"/>
          </p:cNvSpPr>
          <p:nvPr/>
        </p:nvSpPr>
        <p:spPr>
          <a:xfrm xmlns:a="http://schemas.openxmlformats.org/drawingml/2006/main">
            <a:off x="6429375" y="38957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9CEC7"/>
                </a:solidFill>
                <a:latin typeface="Calibri"/>
                <a:ea typeface="Calibri"/>
                <a:cs typeface="Calibri"/>
              </a:defRPr>
            </a:defPPr>
            <a:lvl1pPr>
              <a:defRPr sz="2025" b="0">
                <a:solidFill>
                  <a:srgbClr val="B9CEC7"/>
                </a:solidFill>
                <a:latin typeface="Calibri"/>
                <a:ea typeface="Calibri"/>
                <a:cs typeface="Calibri"/>
              </a:defRPr>
            </a:lvl1pPr>
            <a:lvl2pPr>
              <a:defRPr sz="2025" b="0">
                <a:solidFill>
                  <a:srgbClr val="B9CEC7"/>
                </a:solidFill>
                <a:latin typeface="Calibri"/>
                <a:ea typeface="Calibri"/>
                <a:cs typeface="Calibri"/>
              </a:defRPr>
            </a:lvl2pPr>
            <a:lvl3pPr>
              <a:defRPr sz="2025" b="0">
                <a:solidFill>
                  <a:srgbClr val="B9CEC7"/>
                </a:solidFill>
                <a:latin typeface="Calibri"/>
                <a:ea typeface="Calibri"/>
                <a:cs typeface="Calibri"/>
              </a:defRPr>
            </a:lvl3pPr>
            <a:lvl4pPr>
              <a:defRPr sz="2025" b="0">
                <a:solidFill>
                  <a:srgbClr val="B9CEC7"/>
                </a:solidFill>
                <a:latin typeface="Calibri"/>
                <a:ea typeface="Calibri"/>
                <a:cs typeface="Calibri"/>
              </a:defRPr>
            </a:lvl4pPr>
            <a:lvl5pPr>
              <a:defRPr sz="2025" b="0">
                <a:solidFill>
                  <a:srgbClr val="B9CEC7"/>
                </a:solidFill>
                <a:latin typeface="Calibri"/>
                <a:ea typeface="Calibri"/>
                <a:cs typeface="Calibri"/>
              </a:defRPr>
            </a:lvl5pPr>
            <a:lvl6pPr>
              <a:defRPr sz="2025" b="0">
                <a:solidFill>
                  <a:srgbClr val="B9CEC7"/>
                </a:solidFill>
                <a:latin typeface="Calibri"/>
                <a:ea typeface="Calibri"/>
                <a:cs typeface="Calibri"/>
              </a:defRPr>
            </a:lvl6pPr>
            <a:lvl7pPr>
              <a:defRPr sz="2025" b="0">
                <a:solidFill>
                  <a:srgbClr val="B9CEC7"/>
                </a:solidFill>
                <a:latin typeface="Calibri"/>
                <a:ea typeface="Calibri"/>
                <a:cs typeface="Calibri"/>
              </a:defRPr>
            </a:lvl7pPr>
            <a:lvl8pPr>
              <a:defRPr sz="2025" b="0">
                <a:solidFill>
                  <a:srgbClr val="B9CEC7"/>
                </a:solidFill>
                <a:latin typeface="Calibri"/>
                <a:ea typeface="Calibri"/>
                <a:cs typeface="Calibri"/>
              </a:defRPr>
            </a:lvl8pPr>
            <a:lvl9pPr>
              <a:defRPr sz="2025" b="0">
                <a:solidFill>
                  <a:srgbClr val="B9CEC7"/>
                </a:solidFill>
                <a:latin typeface="Calibri"/>
                <a:ea typeface="Calibri"/>
                <a:cs typeface="Calibri"/>
              </a:defRPr>
            </a:lvl9pPr>
          </a:lstStyle>
          <a:p xmlns:a="http://schemas.openxmlformats.org/drawingml/2006/main">
            <a:pPr>
              <a:defRPr sz="2025" b="0">
                <a:solidFill>
                  <a:srgbClr val="B9CEC7"/>
                </a:solidFill>
                <a:latin typeface="Calibri"/>
                <a:ea typeface="Calibri"/>
                <a:cs typeface="Calibri"/>
              </a:defRPr>
            </a:pPr>
            <a:r>
              <a:rPr sz="2025" b="0">
                <a:solidFill>
                  <a:srgbClr val="B9CEC7"/>
                </a:solidFill>
                <a:latin typeface="Calibri"/>
                <a:ea typeface="Calibri"/>
                <a:cs typeface="Calibri"/>
              </a:rPr>
              <a:t>$10 savings per pouch</a:t>
            </a:r>
          </a:p>
          <a:p xmlns:a="http://schemas.openxmlformats.org/drawingml/2006/main">
            <a:pPr>
              <a:defRPr sz="2025" b="0">
                <a:solidFill>
                  <a:srgbClr val="B9CEC7"/>
                </a:solidFill>
                <a:latin typeface="Calibri"/>
                <a:ea typeface="Calibri"/>
                <a:cs typeface="Calibri"/>
              </a:defRPr>
            </a:pPr>
            <a:r>
              <a:rPr sz="2025" b="0">
                <a:solidFill>
                  <a:srgbClr val="B9CEC7"/>
                </a:solidFill>
                <a:latin typeface="Calibri"/>
                <a:ea typeface="Calibri"/>
                <a:cs typeface="Calibri"/>
              </a:rPr>
              <a:t>Approximately 20% below one-time pricing</a:t>
            </a:r>
          </a:p>
        </p:txBody>
      </p:sp>
      <p:sp>
        <p:nvSpPr>
          <p:cNvPr id="11" name="Management pricing assumptions. Recurring rev">
            <a:extLst xmlns:a="http://schemas.openxmlformats.org/drawingml/2006/main">
              <a:ext uri="{FF2B5EF4-FFF2-40B4-BE49-F238E27FC236}">
                <a16:creationId xmlns:a16="http://schemas.microsoft.com/office/drawing/2014/main" id="{4EFBFAF4-B67D-4097-87D9-29F2A8F6E877}"/>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B9CEC7"/>
                </a:solidFill>
                <a:latin typeface="Calibri"/>
                <a:ea typeface="Calibri"/>
                <a:cs typeface="Calibri"/>
              </a:defRPr>
            </a:defPPr>
            <a:lvl1pPr>
              <a:defRPr sz="1275" b="0">
                <a:solidFill>
                  <a:srgbClr val="B9CEC7"/>
                </a:solidFill>
                <a:latin typeface="Calibri"/>
                <a:ea typeface="Calibri"/>
                <a:cs typeface="Calibri"/>
              </a:defRPr>
            </a:lvl1pPr>
            <a:lvl2pPr>
              <a:defRPr sz="1275" b="0">
                <a:solidFill>
                  <a:srgbClr val="B9CEC7"/>
                </a:solidFill>
                <a:latin typeface="Calibri"/>
                <a:ea typeface="Calibri"/>
                <a:cs typeface="Calibri"/>
              </a:defRPr>
            </a:lvl2pPr>
            <a:lvl3pPr>
              <a:defRPr sz="1275" b="0">
                <a:solidFill>
                  <a:srgbClr val="B9CEC7"/>
                </a:solidFill>
                <a:latin typeface="Calibri"/>
                <a:ea typeface="Calibri"/>
                <a:cs typeface="Calibri"/>
              </a:defRPr>
            </a:lvl3pPr>
            <a:lvl4pPr>
              <a:defRPr sz="1275" b="0">
                <a:solidFill>
                  <a:srgbClr val="B9CEC7"/>
                </a:solidFill>
                <a:latin typeface="Calibri"/>
                <a:ea typeface="Calibri"/>
                <a:cs typeface="Calibri"/>
              </a:defRPr>
            </a:lvl4pPr>
            <a:lvl5pPr>
              <a:defRPr sz="1275" b="0">
                <a:solidFill>
                  <a:srgbClr val="B9CEC7"/>
                </a:solidFill>
                <a:latin typeface="Calibri"/>
                <a:ea typeface="Calibri"/>
                <a:cs typeface="Calibri"/>
              </a:defRPr>
            </a:lvl5pPr>
            <a:lvl6pPr>
              <a:defRPr sz="1275" b="0">
                <a:solidFill>
                  <a:srgbClr val="B9CEC7"/>
                </a:solidFill>
                <a:latin typeface="Calibri"/>
                <a:ea typeface="Calibri"/>
                <a:cs typeface="Calibri"/>
              </a:defRPr>
            </a:lvl6pPr>
            <a:lvl7pPr>
              <a:defRPr sz="1275" b="0">
                <a:solidFill>
                  <a:srgbClr val="B9CEC7"/>
                </a:solidFill>
                <a:latin typeface="Calibri"/>
                <a:ea typeface="Calibri"/>
                <a:cs typeface="Calibri"/>
              </a:defRPr>
            </a:lvl7pPr>
            <a:lvl8pPr>
              <a:defRPr sz="1275" b="0">
                <a:solidFill>
                  <a:srgbClr val="B9CEC7"/>
                </a:solidFill>
                <a:latin typeface="Calibri"/>
                <a:ea typeface="Calibri"/>
                <a:cs typeface="Calibri"/>
              </a:defRPr>
            </a:lvl8pPr>
            <a:lvl9pPr>
              <a:defRPr sz="1275" b="0">
                <a:solidFill>
                  <a:srgbClr val="B9CEC7"/>
                </a:solidFill>
                <a:latin typeface="Calibri"/>
                <a:ea typeface="Calibri"/>
                <a:cs typeface="Calibri"/>
              </a:defRPr>
            </a:lvl9pPr>
          </a:lstStyle>
          <a:p xmlns:a="http://schemas.openxmlformats.org/drawingml/2006/main">
            <a:pPr>
              <a:defRPr sz="1275" b="0">
                <a:solidFill>
                  <a:srgbClr val="B9CEC7"/>
                </a:solidFill>
                <a:latin typeface="Calibri"/>
                <a:ea typeface="Calibri"/>
                <a:cs typeface="Calibri"/>
              </a:defRPr>
            </a:pPr>
            <a:r>
              <a:rPr sz="1275" b="0">
                <a:solidFill>
                  <a:srgbClr val="B9CEC7"/>
                </a:solidFill>
                <a:latin typeface="Calibri"/>
                <a:ea typeface="Calibri"/>
                <a:cs typeface="Calibri"/>
              </a:rPr>
              <a:t>Management pricing assumptions. Recurring revenue depends on acquisition, retention and fulfillment.</a:t>
            </a:r>
          </a:p>
        </p:txBody>
      </p:sp>
    </p:spTree>
    <p:extLst>
      <p:ext uri="{BB962C8B-B14F-4D97-AF65-F5344CB8AC3E}">
        <p14:creationId xmlns:p14="http://schemas.microsoft.com/office/powerpoint/2010/main" val="459090369"/>
      </p:ext>
    </p:extLst>
  </p:cSld>
</p:sld>
</file>

<file path=ppt/slides/slide7.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 name="Go-to-market: test acquisition and retention">
            <a:extLst xmlns:a="http://schemas.openxmlformats.org/drawingml/2006/main">
              <a:ext uri="{FF2B5EF4-FFF2-40B4-BE49-F238E27FC236}">
                <a16:creationId xmlns:a16="http://schemas.microsoft.com/office/drawing/2014/main" id="{F3630E7E-8DF3-48AE-9E37-7A3FA4F90F78}"/>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73F48"/>
                </a:solidFill>
                <a:latin typeface="Calibri"/>
                <a:ea typeface="Calibri"/>
                <a:cs typeface="Calibri"/>
              </a:defRPr>
            </a:defPPr>
            <a:lvl1pPr>
              <a:defRPr sz="3300" b="0">
                <a:solidFill>
                  <a:srgbClr val="073F48"/>
                </a:solidFill>
                <a:latin typeface="Calibri"/>
                <a:ea typeface="Calibri"/>
                <a:cs typeface="Calibri"/>
              </a:defRPr>
            </a:lvl1pPr>
            <a:lvl2pPr>
              <a:defRPr sz="3300" b="0">
                <a:solidFill>
                  <a:srgbClr val="073F48"/>
                </a:solidFill>
                <a:latin typeface="Calibri"/>
                <a:ea typeface="Calibri"/>
                <a:cs typeface="Calibri"/>
              </a:defRPr>
            </a:lvl2pPr>
            <a:lvl3pPr>
              <a:defRPr sz="3300" b="0">
                <a:solidFill>
                  <a:srgbClr val="073F48"/>
                </a:solidFill>
                <a:latin typeface="Calibri"/>
                <a:ea typeface="Calibri"/>
                <a:cs typeface="Calibri"/>
              </a:defRPr>
            </a:lvl3pPr>
            <a:lvl4pPr>
              <a:defRPr sz="3300" b="0">
                <a:solidFill>
                  <a:srgbClr val="073F48"/>
                </a:solidFill>
                <a:latin typeface="Calibri"/>
                <a:ea typeface="Calibri"/>
                <a:cs typeface="Calibri"/>
              </a:defRPr>
            </a:lvl4pPr>
            <a:lvl5pPr>
              <a:defRPr sz="3300" b="0">
                <a:solidFill>
                  <a:srgbClr val="073F48"/>
                </a:solidFill>
                <a:latin typeface="Calibri"/>
                <a:ea typeface="Calibri"/>
                <a:cs typeface="Calibri"/>
              </a:defRPr>
            </a:lvl5pPr>
            <a:lvl6pPr>
              <a:defRPr sz="3300" b="0">
                <a:solidFill>
                  <a:srgbClr val="073F48"/>
                </a:solidFill>
                <a:latin typeface="Calibri"/>
                <a:ea typeface="Calibri"/>
                <a:cs typeface="Calibri"/>
              </a:defRPr>
            </a:lvl6pPr>
            <a:lvl7pPr>
              <a:defRPr sz="3300" b="0">
                <a:solidFill>
                  <a:srgbClr val="073F48"/>
                </a:solidFill>
                <a:latin typeface="Calibri"/>
                <a:ea typeface="Calibri"/>
                <a:cs typeface="Calibri"/>
              </a:defRPr>
            </a:lvl7pPr>
            <a:lvl8pPr>
              <a:defRPr sz="3300" b="0">
                <a:solidFill>
                  <a:srgbClr val="073F48"/>
                </a:solidFill>
                <a:latin typeface="Calibri"/>
                <a:ea typeface="Calibri"/>
                <a:cs typeface="Calibri"/>
              </a:defRPr>
            </a:lvl8pPr>
            <a:lvl9pPr>
              <a:defRPr sz="3300" b="0">
                <a:solidFill>
                  <a:srgbClr val="073F48"/>
                </a:solidFill>
                <a:latin typeface="Calibri"/>
                <a:ea typeface="Calibri"/>
                <a:cs typeface="Calibri"/>
              </a:defRPr>
            </a:lvl9pPr>
          </a:lstStyle>
          <a:p xmlns:a="http://schemas.openxmlformats.org/drawingml/2006/main">
            <a:pPr>
              <a:defRPr sz="3300" b="0">
                <a:solidFill>
                  <a:srgbClr val="073F48"/>
                </a:solidFill>
                <a:latin typeface="Calibri"/>
                <a:ea typeface="Calibri"/>
                <a:cs typeface="Calibri"/>
              </a:defRPr>
            </a:pPr>
            <a:r>
              <a:rPr sz="3300" b="0">
                <a:solidFill>
                  <a:srgbClr val="073F48"/>
                </a:solidFill>
                <a:latin typeface="Calibri"/>
                <a:ea typeface="Calibri"/>
                <a:cs typeface="Calibri"/>
              </a:rPr>
              <a:t>Go-to-market: test acquisition and retention</a:t>
            </a:r>
          </a:p>
        </p:txBody>
      </p:sp>
      <p:sp>
        <p:nvSpPr>
          <p:cNvPr id="3" name="AURA PATCH  /  CONFIDENTIAL  /  OCTOBER 2026">
            <a:extLst xmlns:a="http://schemas.openxmlformats.org/drawingml/2006/main">
              <a:ext uri="{FF2B5EF4-FFF2-40B4-BE49-F238E27FC236}">
                <a16:creationId xmlns:a16="http://schemas.microsoft.com/office/drawing/2014/main" id="{E6B94729-53E1-493B-BFB5-DBABA9198C08}"/>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567371"/>
                </a:solidFill>
                <a:latin typeface="Calibri"/>
                <a:ea typeface="Calibri"/>
                <a:cs typeface="Calibri"/>
              </a:defRPr>
            </a:defPPr>
            <a:lvl1pPr>
              <a:defRPr sz="900" b="0">
                <a:solidFill>
                  <a:srgbClr val="567371"/>
                </a:solidFill>
                <a:latin typeface="Calibri"/>
                <a:ea typeface="Calibri"/>
                <a:cs typeface="Calibri"/>
              </a:defRPr>
            </a:lvl1pPr>
            <a:lvl2pPr>
              <a:defRPr sz="900" b="0">
                <a:solidFill>
                  <a:srgbClr val="567371"/>
                </a:solidFill>
                <a:latin typeface="Calibri"/>
                <a:ea typeface="Calibri"/>
                <a:cs typeface="Calibri"/>
              </a:defRPr>
            </a:lvl2pPr>
            <a:lvl3pPr>
              <a:defRPr sz="900" b="0">
                <a:solidFill>
                  <a:srgbClr val="567371"/>
                </a:solidFill>
                <a:latin typeface="Calibri"/>
                <a:ea typeface="Calibri"/>
                <a:cs typeface="Calibri"/>
              </a:defRPr>
            </a:lvl3pPr>
            <a:lvl4pPr>
              <a:defRPr sz="900" b="0">
                <a:solidFill>
                  <a:srgbClr val="567371"/>
                </a:solidFill>
                <a:latin typeface="Calibri"/>
                <a:ea typeface="Calibri"/>
                <a:cs typeface="Calibri"/>
              </a:defRPr>
            </a:lvl4pPr>
            <a:lvl5pPr>
              <a:defRPr sz="900" b="0">
                <a:solidFill>
                  <a:srgbClr val="567371"/>
                </a:solidFill>
                <a:latin typeface="Calibri"/>
                <a:ea typeface="Calibri"/>
                <a:cs typeface="Calibri"/>
              </a:defRPr>
            </a:lvl5pPr>
            <a:lvl6pPr>
              <a:defRPr sz="900" b="0">
                <a:solidFill>
                  <a:srgbClr val="567371"/>
                </a:solidFill>
                <a:latin typeface="Calibri"/>
                <a:ea typeface="Calibri"/>
                <a:cs typeface="Calibri"/>
              </a:defRPr>
            </a:lvl6pPr>
            <a:lvl7pPr>
              <a:defRPr sz="900" b="0">
                <a:solidFill>
                  <a:srgbClr val="567371"/>
                </a:solidFill>
                <a:latin typeface="Calibri"/>
                <a:ea typeface="Calibri"/>
                <a:cs typeface="Calibri"/>
              </a:defRPr>
            </a:lvl7pPr>
            <a:lvl8pPr>
              <a:defRPr sz="900" b="0">
                <a:solidFill>
                  <a:srgbClr val="567371"/>
                </a:solidFill>
                <a:latin typeface="Calibri"/>
                <a:ea typeface="Calibri"/>
                <a:cs typeface="Calibri"/>
              </a:defRPr>
            </a:lvl8pPr>
            <a:lvl9pPr>
              <a:defRPr sz="900" b="0">
                <a:solidFill>
                  <a:srgbClr val="567371"/>
                </a:solidFill>
                <a:latin typeface="Calibri"/>
                <a:ea typeface="Calibri"/>
                <a:cs typeface="Calibri"/>
              </a:defRPr>
            </a:lvl9pPr>
          </a:lstStyle>
          <a:p xmlns:a="http://schemas.openxmlformats.org/drawingml/2006/main">
            <a:pPr>
              <a:defRPr sz="900" b="0">
                <a:solidFill>
                  <a:srgbClr val="567371"/>
                </a:solidFill>
                <a:latin typeface="Calibri"/>
                <a:ea typeface="Calibri"/>
                <a:cs typeface="Calibri"/>
              </a:defRPr>
            </a:pPr>
            <a:r>
              <a:rPr sz="900" b="0">
                <a:solidFill>
                  <a:srgbClr val="567371"/>
                </a:solidFill>
                <a:latin typeface="Calibri"/>
                <a:ea typeface="Calibri"/>
                <a:cs typeface="Calibri"/>
              </a:rPr>
              <a:t>AURA PATCH  /  CONFIDENTIAL  /  OCTOBER 2026</a:t>
            </a:r>
          </a:p>
        </p:txBody>
      </p:sp>
      <p:sp>
        <p:nvSpPr>
          <p:cNvPr id="4" name="07">
            <a:extLst xmlns:a="http://schemas.openxmlformats.org/drawingml/2006/main">
              <a:ext uri="{FF2B5EF4-FFF2-40B4-BE49-F238E27FC236}">
                <a16:creationId xmlns:a16="http://schemas.microsoft.com/office/drawing/2014/main" id="{5F26596C-3330-405D-89F7-BF27469834E9}"/>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07</a:t>
            </a:r>
          </a:p>
        </p:txBody>
      </p:sp>
      <p:sp>
        <p:nvSpPr>
          <p:cNvPr id="5" name="Paid social and creators">
            <a:extLst xmlns:a="http://schemas.openxmlformats.org/drawingml/2006/main">
              <a:ext uri="{FF2B5EF4-FFF2-40B4-BE49-F238E27FC236}">
                <a16:creationId xmlns:a16="http://schemas.microsoft.com/office/drawing/2014/main" id="{FEED4812-7FEB-4F22-BD96-E8E42DE54B07}"/>
              </a:ext>
            </a:extLst>
          </p:cNvPr>
          <p:cNvSpPr>
            <a:spLocks xmlns:a="http://schemas.openxmlformats.org/drawingml/2006/main" noGrp="1"/>
          </p:cNvSpPr>
          <p:nvPr/>
        </p:nvSpPr>
        <p:spPr>
          <a:xfrm xmlns:a="http://schemas.openxmlformats.org/drawingml/2006/main">
            <a:off x="609600" y="18669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73F48"/>
                </a:solidFill>
                <a:latin typeface="Calibri"/>
                <a:ea typeface="Calibri"/>
                <a:cs typeface="Calibri"/>
              </a:defRPr>
            </a:defPPr>
            <a:lvl1pPr>
              <a:defRPr sz="1950" b="1">
                <a:solidFill>
                  <a:srgbClr val="073F48"/>
                </a:solidFill>
                <a:latin typeface="Calibri"/>
                <a:ea typeface="Calibri"/>
                <a:cs typeface="Calibri"/>
              </a:defRPr>
            </a:lvl1pPr>
            <a:lvl2pPr>
              <a:defRPr sz="1950" b="1">
                <a:solidFill>
                  <a:srgbClr val="073F48"/>
                </a:solidFill>
                <a:latin typeface="Calibri"/>
                <a:ea typeface="Calibri"/>
                <a:cs typeface="Calibri"/>
              </a:defRPr>
            </a:lvl2pPr>
            <a:lvl3pPr>
              <a:defRPr sz="1950" b="1">
                <a:solidFill>
                  <a:srgbClr val="073F48"/>
                </a:solidFill>
                <a:latin typeface="Calibri"/>
                <a:ea typeface="Calibri"/>
                <a:cs typeface="Calibri"/>
              </a:defRPr>
            </a:lvl3pPr>
            <a:lvl4pPr>
              <a:defRPr sz="1950" b="1">
                <a:solidFill>
                  <a:srgbClr val="073F48"/>
                </a:solidFill>
                <a:latin typeface="Calibri"/>
                <a:ea typeface="Calibri"/>
                <a:cs typeface="Calibri"/>
              </a:defRPr>
            </a:lvl4pPr>
            <a:lvl5pPr>
              <a:defRPr sz="1950" b="1">
                <a:solidFill>
                  <a:srgbClr val="073F48"/>
                </a:solidFill>
                <a:latin typeface="Calibri"/>
                <a:ea typeface="Calibri"/>
                <a:cs typeface="Calibri"/>
              </a:defRPr>
            </a:lvl5pPr>
            <a:lvl6pPr>
              <a:defRPr sz="1950" b="1">
                <a:solidFill>
                  <a:srgbClr val="073F48"/>
                </a:solidFill>
                <a:latin typeface="Calibri"/>
                <a:ea typeface="Calibri"/>
                <a:cs typeface="Calibri"/>
              </a:defRPr>
            </a:lvl6pPr>
            <a:lvl7pPr>
              <a:defRPr sz="1950" b="1">
                <a:solidFill>
                  <a:srgbClr val="073F48"/>
                </a:solidFill>
                <a:latin typeface="Calibri"/>
                <a:ea typeface="Calibri"/>
                <a:cs typeface="Calibri"/>
              </a:defRPr>
            </a:lvl7pPr>
            <a:lvl8pPr>
              <a:defRPr sz="1950" b="1">
                <a:solidFill>
                  <a:srgbClr val="073F48"/>
                </a:solidFill>
                <a:latin typeface="Calibri"/>
                <a:ea typeface="Calibri"/>
                <a:cs typeface="Calibri"/>
              </a:defRPr>
            </a:lvl8pPr>
            <a:lvl9pPr>
              <a:defRPr sz="1950" b="1">
                <a:solidFill>
                  <a:srgbClr val="073F48"/>
                </a:solidFill>
                <a:latin typeface="Calibri"/>
                <a:ea typeface="Calibri"/>
                <a:cs typeface="Calibri"/>
              </a:defRPr>
            </a:lvl9pPr>
          </a:lstStyle>
          <a:p xmlns:a="http://schemas.openxmlformats.org/drawingml/2006/main">
            <a:pPr>
              <a:defRPr sz="1950" b="1">
                <a:solidFill>
                  <a:srgbClr val="073F48"/>
                </a:solidFill>
                <a:latin typeface="Calibri"/>
                <a:ea typeface="Calibri"/>
                <a:cs typeface="Calibri"/>
              </a:defRPr>
            </a:pPr>
            <a:r>
              <a:rPr sz="1950" b="1">
                <a:solidFill>
                  <a:srgbClr val="073F48"/>
                </a:solidFill>
                <a:latin typeface="Calibri"/>
                <a:ea typeface="Calibri"/>
                <a:cs typeface="Calibri"/>
              </a:rPr>
              <a:t>Paid social and creators</a:t>
            </a:r>
          </a:p>
        </p:txBody>
      </p:sp>
      <p:sp>
        <p:nvSpPr>
          <p:cNvPr id="6" name="Test messages, creative and conversion.">
            <a:extLst xmlns:a="http://schemas.openxmlformats.org/drawingml/2006/main">
              <a:ext uri="{FF2B5EF4-FFF2-40B4-BE49-F238E27FC236}">
                <a16:creationId xmlns:a16="http://schemas.microsoft.com/office/drawing/2014/main" id="{1F188C55-3450-4E3E-B456-F8156F550BC8}"/>
              </a:ext>
            </a:extLst>
          </p:cNvPr>
          <p:cNvSpPr>
            <a:spLocks xmlns:a="http://schemas.openxmlformats.org/drawingml/2006/main" noGrp="1"/>
          </p:cNvSpPr>
          <p:nvPr/>
        </p:nvSpPr>
        <p:spPr>
          <a:xfrm xmlns:a="http://schemas.openxmlformats.org/drawingml/2006/main">
            <a:off x="4762500" y="186690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67371"/>
                </a:solidFill>
                <a:latin typeface="Calibri"/>
                <a:ea typeface="Calibri"/>
                <a:cs typeface="Calibri"/>
              </a:defRPr>
            </a:defPPr>
            <a:lvl1pPr>
              <a:defRPr sz="1725" b="0">
                <a:solidFill>
                  <a:srgbClr val="567371"/>
                </a:solidFill>
                <a:latin typeface="Calibri"/>
                <a:ea typeface="Calibri"/>
                <a:cs typeface="Calibri"/>
              </a:defRPr>
            </a:lvl1pPr>
            <a:lvl2pPr>
              <a:defRPr sz="1725" b="0">
                <a:solidFill>
                  <a:srgbClr val="567371"/>
                </a:solidFill>
                <a:latin typeface="Calibri"/>
                <a:ea typeface="Calibri"/>
                <a:cs typeface="Calibri"/>
              </a:defRPr>
            </a:lvl2pPr>
            <a:lvl3pPr>
              <a:defRPr sz="1725" b="0">
                <a:solidFill>
                  <a:srgbClr val="567371"/>
                </a:solidFill>
                <a:latin typeface="Calibri"/>
                <a:ea typeface="Calibri"/>
                <a:cs typeface="Calibri"/>
              </a:defRPr>
            </a:lvl3pPr>
            <a:lvl4pPr>
              <a:defRPr sz="1725" b="0">
                <a:solidFill>
                  <a:srgbClr val="567371"/>
                </a:solidFill>
                <a:latin typeface="Calibri"/>
                <a:ea typeface="Calibri"/>
                <a:cs typeface="Calibri"/>
              </a:defRPr>
            </a:lvl4pPr>
            <a:lvl5pPr>
              <a:defRPr sz="1725" b="0">
                <a:solidFill>
                  <a:srgbClr val="567371"/>
                </a:solidFill>
                <a:latin typeface="Calibri"/>
                <a:ea typeface="Calibri"/>
                <a:cs typeface="Calibri"/>
              </a:defRPr>
            </a:lvl5pPr>
            <a:lvl6pPr>
              <a:defRPr sz="1725" b="0">
                <a:solidFill>
                  <a:srgbClr val="567371"/>
                </a:solidFill>
                <a:latin typeface="Calibri"/>
                <a:ea typeface="Calibri"/>
                <a:cs typeface="Calibri"/>
              </a:defRPr>
            </a:lvl6pPr>
            <a:lvl7pPr>
              <a:defRPr sz="1725" b="0">
                <a:solidFill>
                  <a:srgbClr val="567371"/>
                </a:solidFill>
                <a:latin typeface="Calibri"/>
                <a:ea typeface="Calibri"/>
                <a:cs typeface="Calibri"/>
              </a:defRPr>
            </a:lvl7pPr>
            <a:lvl8pPr>
              <a:defRPr sz="1725" b="0">
                <a:solidFill>
                  <a:srgbClr val="567371"/>
                </a:solidFill>
                <a:latin typeface="Calibri"/>
                <a:ea typeface="Calibri"/>
                <a:cs typeface="Calibri"/>
              </a:defRPr>
            </a:lvl8pPr>
            <a:lvl9pPr>
              <a:defRPr sz="1725" b="0">
                <a:solidFill>
                  <a:srgbClr val="567371"/>
                </a:solidFill>
                <a:latin typeface="Calibri"/>
                <a:ea typeface="Calibri"/>
                <a:cs typeface="Calibri"/>
              </a:defRPr>
            </a:lvl9pPr>
          </a:lstStyle>
          <a:p xmlns:a="http://schemas.openxmlformats.org/drawingml/2006/main">
            <a:pPr>
              <a:defRPr sz="1725" b="0">
                <a:solidFill>
                  <a:srgbClr val="567371"/>
                </a:solidFill>
                <a:latin typeface="Calibri"/>
                <a:ea typeface="Calibri"/>
                <a:cs typeface="Calibri"/>
              </a:defRPr>
            </a:pPr>
            <a:r>
              <a:rPr sz="1725" b="0">
                <a:solidFill>
                  <a:srgbClr val="567371"/>
                </a:solidFill>
                <a:latin typeface="Calibri"/>
                <a:ea typeface="Calibri"/>
                <a:cs typeface="Calibri"/>
              </a:rPr>
              <a:t>Test messages, creative and conversion.</a:t>
            </a:r>
          </a:p>
        </p:txBody>
      </p:sp>
      <p:sp>
        <p:nvSpPr>
          <p:cNvPr id="7" name="CAC and conversion">
            <a:extLst xmlns:a="http://schemas.openxmlformats.org/drawingml/2006/main">
              <a:ext uri="{FF2B5EF4-FFF2-40B4-BE49-F238E27FC236}">
                <a16:creationId xmlns:a16="http://schemas.microsoft.com/office/drawing/2014/main" id="{3F077797-B754-477C-BA4C-C080FB068758}"/>
              </a:ext>
            </a:extLst>
          </p:cNvPr>
          <p:cNvSpPr>
            <a:spLocks xmlns:a="http://schemas.openxmlformats.org/drawingml/2006/main" noGrp="1"/>
          </p:cNvSpPr>
          <p:nvPr/>
        </p:nvSpPr>
        <p:spPr>
          <a:xfrm xmlns:a="http://schemas.openxmlformats.org/drawingml/2006/main">
            <a:off x="9525000" y="1866900"/>
            <a:ext cx="200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073F48"/>
                </a:solidFill>
                <a:latin typeface="Calibri"/>
                <a:ea typeface="Calibri"/>
                <a:cs typeface="Calibri"/>
              </a:defRPr>
            </a:defPPr>
            <a:lvl1pPr>
              <a:defRPr sz="1575" b="0">
                <a:solidFill>
                  <a:srgbClr val="073F48"/>
                </a:solidFill>
                <a:latin typeface="Calibri"/>
                <a:ea typeface="Calibri"/>
                <a:cs typeface="Calibri"/>
              </a:defRPr>
            </a:lvl1pPr>
            <a:lvl2pPr>
              <a:defRPr sz="1575" b="0">
                <a:solidFill>
                  <a:srgbClr val="073F48"/>
                </a:solidFill>
                <a:latin typeface="Calibri"/>
                <a:ea typeface="Calibri"/>
                <a:cs typeface="Calibri"/>
              </a:defRPr>
            </a:lvl2pPr>
            <a:lvl3pPr>
              <a:defRPr sz="1575" b="0">
                <a:solidFill>
                  <a:srgbClr val="073F48"/>
                </a:solidFill>
                <a:latin typeface="Calibri"/>
                <a:ea typeface="Calibri"/>
                <a:cs typeface="Calibri"/>
              </a:defRPr>
            </a:lvl3pPr>
            <a:lvl4pPr>
              <a:defRPr sz="1575" b="0">
                <a:solidFill>
                  <a:srgbClr val="073F48"/>
                </a:solidFill>
                <a:latin typeface="Calibri"/>
                <a:ea typeface="Calibri"/>
                <a:cs typeface="Calibri"/>
              </a:defRPr>
            </a:lvl4pPr>
            <a:lvl5pPr>
              <a:defRPr sz="1575" b="0">
                <a:solidFill>
                  <a:srgbClr val="073F48"/>
                </a:solidFill>
                <a:latin typeface="Calibri"/>
                <a:ea typeface="Calibri"/>
                <a:cs typeface="Calibri"/>
              </a:defRPr>
            </a:lvl5pPr>
            <a:lvl6pPr>
              <a:defRPr sz="1575" b="0">
                <a:solidFill>
                  <a:srgbClr val="073F48"/>
                </a:solidFill>
                <a:latin typeface="Calibri"/>
                <a:ea typeface="Calibri"/>
                <a:cs typeface="Calibri"/>
              </a:defRPr>
            </a:lvl6pPr>
            <a:lvl7pPr>
              <a:defRPr sz="1575" b="0">
                <a:solidFill>
                  <a:srgbClr val="073F48"/>
                </a:solidFill>
                <a:latin typeface="Calibri"/>
                <a:ea typeface="Calibri"/>
                <a:cs typeface="Calibri"/>
              </a:defRPr>
            </a:lvl7pPr>
            <a:lvl8pPr>
              <a:defRPr sz="1575" b="0">
                <a:solidFill>
                  <a:srgbClr val="073F48"/>
                </a:solidFill>
                <a:latin typeface="Calibri"/>
                <a:ea typeface="Calibri"/>
                <a:cs typeface="Calibri"/>
              </a:defRPr>
            </a:lvl8pPr>
            <a:lvl9pPr>
              <a:defRPr sz="1575" b="0">
                <a:solidFill>
                  <a:srgbClr val="073F48"/>
                </a:solidFill>
                <a:latin typeface="Calibri"/>
                <a:ea typeface="Calibri"/>
                <a:cs typeface="Calibri"/>
              </a:defRPr>
            </a:lvl9pPr>
          </a:lstStyle>
          <a:p xmlns:a="http://schemas.openxmlformats.org/drawingml/2006/main">
            <a:pPr>
              <a:defRPr sz="1575" b="0">
                <a:solidFill>
                  <a:srgbClr val="073F48"/>
                </a:solidFill>
                <a:latin typeface="Calibri"/>
                <a:ea typeface="Calibri"/>
                <a:cs typeface="Calibri"/>
              </a:defRPr>
            </a:pPr>
            <a:r>
              <a:rPr sz="1575" b="0">
                <a:solidFill>
                  <a:srgbClr val="073F48"/>
                </a:solidFill>
                <a:latin typeface="Calibri"/>
                <a:ea typeface="Calibri"/>
                <a:cs typeface="Calibri"/>
              </a:rPr>
              <a:t>CAC and conversion</a:t>
            </a:r>
          </a:p>
        </p:txBody>
      </p:sp>
      <p:sp>
        <p:nvSpPr>
          <p:cNvPr id="8" name="Ambassadors and affiliates">
            <a:extLst xmlns:a="http://schemas.openxmlformats.org/drawingml/2006/main">
              <a:ext uri="{FF2B5EF4-FFF2-40B4-BE49-F238E27FC236}">
                <a16:creationId xmlns:a16="http://schemas.microsoft.com/office/drawing/2014/main" id="{B8178BD9-9D36-4D4F-BA7B-108AB2EB2725}"/>
              </a:ext>
            </a:extLst>
          </p:cNvPr>
          <p:cNvSpPr>
            <a:spLocks xmlns:a="http://schemas.openxmlformats.org/drawingml/2006/main" noGrp="1"/>
          </p:cNvSpPr>
          <p:nvPr/>
        </p:nvSpPr>
        <p:spPr>
          <a:xfrm xmlns:a="http://schemas.openxmlformats.org/drawingml/2006/main">
            <a:off x="609600" y="27622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73F48"/>
                </a:solidFill>
                <a:latin typeface="Calibri"/>
                <a:ea typeface="Calibri"/>
                <a:cs typeface="Calibri"/>
              </a:defRPr>
            </a:defPPr>
            <a:lvl1pPr>
              <a:defRPr sz="1950" b="1">
                <a:solidFill>
                  <a:srgbClr val="073F48"/>
                </a:solidFill>
                <a:latin typeface="Calibri"/>
                <a:ea typeface="Calibri"/>
                <a:cs typeface="Calibri"/>
              </a:defRPr>
            </a:lvl1pPr>
            <a:lvl2pPr>
              <a:defRPr sz="1950" b="1">
                <a:solidFill>
                  <a:srgbClr val="073F48"/>
                </a:solidFill>
                <a:latin typeface="Calibri"/>
                <a:ea typeface="Calibri"/>
                <a:cs typeface="Calibri"/>
              </a:defRPr>
            </a:lvl2pPr>
            <a:lvl3pPr>
              <a:defRPr sz="1950" b="1">
                <a:solidFill>
                  <a:srgbClr val="073F48"/>
                </a:solidFill>
                <a:latin typeface="Calibri"/>
                <a:ea typeface="Calibri"/>
                <a:cs typeface="Calibri"/>
              </a:defRPr>
            </a:lvl3pPr>
            <a:lvl4pPr>
              <a:defRPr sz="1950" b="1">
                <a:solidFill>
                  <a:srgbClr val="073F48"/>
                </a:solidFill>
                <a:latin typeface="Calibri"/>
                <a:ea typeface="Calibri"/>
                <a:cs typeface="Calibri"/>
              </a:defRPr>
            </a:lvl4pPr>
            <a:lvl5pPr>
              <a:defRPr sz="1950" b="1">
                <a:solidFill>
                  <a:srgbClr val="073F48"/>
                </a:solidFill>
                <a:latin typeface="Calibri"/>
                <a:ea typeface="Calibri"/>
                <a:cs typeface="Calibri"/>
              </a:defRPr>
            </a:lvl5pPr>
            <a:lvl6pPr>
              <a:defRPr sz="1950" b="1">
                <a:solidFill>
                  <a:srgbClr val="073F48"/>
                </a:solidFill>
                <a:latin typeface="Calibri"/>
                <a:ea typeface="Calibri"/>
                <a:cs typeface="Calibri"/>
              </a:defRPr>
            </a:lvl6pPr>
            <a:lvl7pPr>
              <a:defRPr sz="1950" b="1">
                <a:solidFill>
                  <a:srgbClr val="073F48"/>
                </a:solidFill>
                <a:latin typeface="Calibri"/>
                <a:ea typeface="Calibri"/>
                <a:cs typeface="Calibri"/>
              </a:defRPr>
            </a:lvl7pPr>
            <a:lvl8pPr>
              <a:defRPr sz="1950" b="1">
                <a:solidFill>
                  <a:srgbClr val="073F48"/>
                </a:solidFill>
                <a:latin typeface="Calibri"/>
                <a:ea typeface="Calibri"/>
                <a:cs typeface="Calibri"/>
              </a:defRPr>
            </a:lvl8pPr>
            <a:lvl9pPr>
              <a:defRPr sz="1950" b="1">
                <a:solidFill>
                  <a:srgbClr val="073F48"/>
                </a:solidFill>
                <a:latin typeface="Calibri"/>
                <a:ea typeface="Calibri"/>
                <a:cs typeface="Calibri"/>
              </a:defRPr>
            </a:lvl9pPr>
          </a:lstStyle>
          <a:p xmlns:a="http://schemas.openxmlformats.org/drawingml/2006/main">
            <a:pPr>
              <a:defRPr sz="1950" b="1">
                <a:solidFill>
                  <a:srgbClr val="073F48"/>
                </a:solidFill>
                <a:latin typeface="Calibri"/>
                <a:ea typeface="Calibri"/>
                <a:cs typeface="Calibri"/>
              </a:defRPr>
            </a:pPr>
            <a:r>
              <a:rPr sz="1950" b="1">
                <a:solidFill>
                  <a:srgbClr val="073F48"/>
                </a:solidFill>
                <a:latin typeface="Calibri"/>
                <a:ea typeface="Calibri"/>
                <a:cs typeface="Calibri"/>
              </a:rPr>
              <a:t>Ambassadors and affiliates</a:t>
            </a:r>
          </a:p>
        </p:txBody>
      </p:sp>
      <p:sp>
        <p:nvSpPr>
          <p:cNvPr id="9" name="Use performance-linked referrals.">
            <a:extLst xmlns:a="http://schemas.openxmlformats.org/drawingml/2006/main">
              <a:ext uri="{FF2B5EF4-FFF2-40B4-BE49-F238E27FC236}">
                <a16:creationId xmlns:a16="http://schemas.microsoft.com/office/drawing/2014/main" id="{835C8797-60D7-4A5A-B953-80D3A6B08642}"/>
              </a:ext>
            </a:extLst>
          </p:cNvPr>
          <p:cNvSpPr>
            <a:spLocks xmlns:a="http://schemas.openxmlformats.org/drawingml/2006/main" noGrp="1"/>
          </p:cNvSpPr>
          <p:nvPr/>
        </p:nvSpPr>
        <p:spPr>
          <a:xfrm xmlns:a="http://schemas.openxmlformats.org/drawingml/2006/main">
            <a:off x="4762500" y="27622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67371"/>
                </a:solidFill>
                <a:latin typeface="Calibri"/>
                <a:ea typeface="Calibri"/>
                <a:cs typeface="Calibri"/>
              </a:defRPr>
            </a:defPPr>
            <a:lvl1pPr>
              <a:defRPr sz="1725" b="0">
                <a:solidFill>
                  <a:srgbClr val="567371"/>
                </a:solidFill>
                <a:latin typeface="Calibri"/>
                <a:ea typeface="Calibri"/>
                <a:cs typeface="Calibri"/>
              </a:defRPr>
            </a:lvl1pPr>
            <a:lvl2pPr>
              <a:defRPr sz="1725" b="0">
                <a:solidFill>
                  <a:srgbClr val="567371"/>
                </a:solidFill>
                <a:latin typeface="Calibri"/>
                <a:ea typeface="Calibri"/>
                <a:cs typeface="Calibri"/>
              </a:defRPr>
            </a:lvl2pPr>
            <a:lvl3pPr>
              <a:defRPr sz="1725" b="0">
                <a:solidFill>
                  <a:srgbClr val="567371"/>
                </a:solidFill>
                <a:latin typeface="Calibri"/>
                <a:ea typeface="Calibri"/>
                <a:cs typeface="Calibri"/>
              </a:defRPr>
            </a:lvl3pPr>
            <a:lvl4pPr>
              <a:defRPr sz="1725" b="0">
                <a:solidFill>
                  <a:srgbClr val="567371"/>
                </a:solidFill>
                <a:latin typeface="Calibri"/>
                <a:ea typeface="Calibri"/>
                <a:cs typeface="Calibri"/>
              </a:defRPr>
            </a:lvl4pPr>
            <a:lvl5pPr>
              <a:defRPr sz="1725" b="0">
                <a:solidFill>
                  <a:srgbClr val="567371"/>
                </a:solidFill>
                <a:latin typeface="Calibri"/>
                <a:ea typeface="Calibri"/>
                <a:cs typeface="Calibri"/>
              </a:defRPr>
            </a:lvl5pPr>
            <a:lvl6pPr>
              <a:defRPr sz="1725" b="0">
                <a:solidFill>
                  <a:srgbClr val="567371"/>
                </a:solidFill>
                <a:latin typeface="Calibri"/>
                <a:ea typeface="Calibri"/>
                <a:cs typeface="Calibri"/>
              </a:defRPr>
            </a:lvl6pPr>
            <a:lvl7pPr>
              <a:defRPr sz="1725" b="0">
                <a:solidFill>
                  <a:srgbClr val="567371"/>
                </a:solidFill>
                <a:latin typeface="Calibri"/>
                <a:ea typeface="Calibri"/>
                <a:cs typeface="Calibri"/>
              </a:defRPr>
            </a:lvl7pPr>
            <a:lvl8pPr>
              <a:defRPr sz="1725" b="0">
                <a:solidFill>
                  <a:srgbClr val="567371"/>
                </a:solidFill>
                <a:latin typeface="Calibri"/>
                <a:ea typeface="Calibri"/>
                <a:cs typeface="Calibri"/>
              </a:defRPr>
            </a:lvl8pPr>
            <a:lvl9pPr>
              <a:defRPr sz="1725" b="0">
                <a:solidFill>
                  <a:srgbClr val="567371"/>
                </a:solidFill>
                <a:latin typeface="Calibri"/>
                <a:ea typeface="Calibri"/>
                <a:cs typeface="Calibri"/>
              </a:defRPr>
            </a:lvl9pPr>
          </a:lstStyle>
          <a:p xmlns:a="http://schemas.openxmlformats.org/drawingml/2006/main">
            <a:pPr>
              <a:defRPr sz="1725" b="0">
                <a:solidFill>
                  <a:srgbClr val="567371"/>
                </a:solidFill>
                <a:latin typeface="Calibri"/>
                <a:ea typeface="Calibri"/>
                <a:cs typeface="Calibri"/>
              </a:defRPr>
            </a:pPr>
            <a:r>
              <a:rPr sz="1725" b="0">
                <a:solidFill>
                  <a:srgbClr val="567371"/>
                </a:solidFill>
                <a:latin typeface="Calibri"/>
                <a:ea typeface="Calibri"/>
                <a:cs typeface="Calibri"/>
              </a:rPr>
              <a:t>Use performance-linked referrals.</a:t>
            </a:r>
          </a:p>
        </p:txBody>
      </p:sp>
      <p:sp>
        <p:nvSpPr>
          <p:cNvPr id="10" name="Referral acquisition cost">
            <a:extLst xmlns:a="http://schemas.openxmlformats.org/drawingml/2006/main">
              <a:ext uri="{FF2B5EF4-FFF2-40B4-BE49-F238E27FC236}">
                <a16:creationId xmlns:a16="http://schemas.microsoft.com/office/drawing/2014/main" id="{21B7ECE8-C8B9-4579-A129-5350955EFD98}"/>
              </a:ext>
            </a:extLst>
          </p:cNvPr>
          <p:cNvSpPr>
            <a:spLocks xmlns:a="http://schemas.openxmlformats.org/drawingml/2006/main" noGrp="1"/>
          </p:cNvSpPr>
          <p:nvPr/>
        </p:nvSpPr>
        <p:spPr>
          <a:xfrm xmlns:a="http://schemas.openxmlformats.org/drawingml/2006/main">
            <a:off x="9525000" y="2762250"/>
            <a:ext cx="200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073F48"/>
                </a:solidFill>
                <a:latin typeface="Calibri"/>
                <a:ea typeface="Calibri"/>
                <a:cs typeface="Calibri"/>
              </a:defRPr>
            </a:defPPr>
            <a:lvl1pPr>
              <a:defRPr sz="1575" b="0">
                <a:solidFill>
                  <a:srgbClr val="073F48"/>
                </a:solidFill>
                <a:latin typeface="Calibri"/>
                <a:ea typeface="Calibri"/>
                <a:cs typeface="Calibri"/>
              </a:defRPr>
            </a:lvl1pPr>
            <a:lvl2pPr>
              <a:defRPr sz="1575" b="0">
                <a:solidFill>
                  <a:srgbClr val="073F48"/>
                </a:solidFill>
                <a:latin typeface="Calibri"/>
                <a:ea typeface="Calibri"/>
                <a:cs typeface="Calibri"/>
              </a:defRPr>
            </a:lvl2pPr>
            <a:lvl3pPr>
              <a:defRPr sz="1575" b="0">
                <a:solidFill>
                  <a:srgbClr val="073F48"/>
                </a:solidFill>
                <a:latin typeface="Calibri"/>
                <a:ea typeface="Calibri"/>
                <a:cs typeface="Calibri"/>
              </a:defRPr>
            </a:lvl3pPr>
            <a:lvl4pPr>
              <a:defRPr sz="1575" b="0">
                <a:solidFill>
                  <a:srgbClr val="073F48"/>
                </a:solidFill>
                <a:latin typeface="Calibri"/>
                <a:ea typeface="Calibri"/>
                <a:cs typeface="Calibri"/>
              </a:defRPr>
            </a:lvl4pPr>
            <a:lvl5pPr>
              <a:defRPr sz="1575" b="0">
                <a:solidFill>
                  <a:srgbClr val="073F48"/>
                </a:solidFill>
                <a:latin typeface="Calibri"/>
                <a:ea typeface="Calibri"/>
                <a:cs typeface="Calibri"/>
              </a:defRPr>
            </a:lvl5pPr>
            <a:lvl6pPr>
              <a:defRPr sz="1575" b="0">
                <a:solidFill>
                  <a:srgbClr val="073F48"/>
                </a:solidFill>
                <a:latin typeface="Calibri"/>
                <a:ea typeface="Calibri"/>
                <a:cs typeface="Calibri"/>
              </a:defRPr>
            </a:lvl6pPr>
            <a:lvl7pPr>
              <a:defRPr sz="1575" b="0">
                <a:solidFill>
                  <a:srgbClr val="073F48"/>
                </a:solidFill>
                <a:latin typeface="Calibri"/>
                <a:ea typeface="Calibri"/>
                <a:cs typeface="Calibri"/>
              </a:defRPr>
            </a:lvl7pPr>
            <a:lvl8pPr>
              <a:defRPr sz="1575" b="0">
                <a:solidFill>
                  <a:srgbClr val="073F48"/>
                </a:solidFill>
                <a:latin typeface="Calibri"/>
                <a:ea typeface="Calibri"/>
                <a:cs typeface="Calibri"/>
              </a:defRPr>
            </a:lvl8pPr>
            <a:lvl9pPr>
              <a:defRPr sz="1575" b="0">
                <a:solidFill>
                  <a:srgbClr val="073F48"/>
                </a:solidFill>
                <a:latin typeface="Calibri"/>
                <a:ea typeface="Calibri"/>
                <a:cs typeface="Calibri"/>
              </a:defRPr>
            </a:lvl9pPr>
          </a:lstStyle>
          <a:p xmlns:a="http://schemas.openxmlformats.org/drawingml/2006/main">
            <a:pPr>
              <a:defRPr sz="1575" b="0">
                <a:solidFill>
                  <a:srgbClr val="073F48"/>
                </a:solidFill>
                <a:latin typeface="Calibri"/>
                <a:ea typeface="Calibri"/>
                <a:cs typeface="Calibri"/>
              </a:defRPr>
            </a:pPr>
            <a:r>
              <a:rPr sz="1575" b="0">
                <a:solidFill>
                  <a:srgbClr val="073F48"/>
                </a:solidFill>
                <a:latin typeface="Calibri"/>
                <a:ea typeface="Calibri"/>
                <a:cs typeface="Calibri"/>
              </a:rPr>
              <a:t>Referral acquisition cost</a:t>
            </a:r>
          </a:p>
        </p:txBody>
      </p:sp>
      <p:sp>
        <p:nvSpPr>
          <p:cNvPr id="11" name="Retention and CRM">
            <a:extLst xmlns:a="http://schemas.openxmlformats.org/drawingml/2006/main">
              <a:ext uri="{FF2B5EF4-FFF2-40B4-BE49-F238E27FC236}">
                <a16:creationId xmlns:a16="http://schemas.microsoft.com/office/drawing/2014/main" id="{35D238D1-EF82-4F6F-B38E-AA7B3990F0EB}"/>
              </a:ext>
            </a:extLst>
          </p:cNvPr>
          <p:cNvSpPr>
            <a:spLocks xmlns:a="http://schemas.openxmlformats.org/drawingml/2006/main" noGrp="1"/>
          </p:cNvSpPr>
          <p:nvPr/>
        </p:nvSpPr>
        <p:spPr>
          <a:xfrm xmlns:a="http://schemas.openxmlformats.org/drawingml/2006/main">
            <a:off x="609600" y="36576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73F48"/>
                </a:solidFill>
                <a:latin typeface="Calibri"/>
                <a:ea typeface="Calibri"/>
                <a:cs typeface="Calibri"/>
              </a:defRPr>
            </a:defPPr>
            <a:lvl1pPr>
              <a:defRPr sz="1950" b="1">
                <a:solidFill>
                  <a:srgbClr val="073F48"/>
                </a:solidFill>
                <a:latin typeface="Calibri"/>
                <a:ea typeface="Calibri"/>
                <a:cs typeface="Calibri"/>
              </a:defRPr>
            </a:lvl1pPr>
            <a:lvl2pPr>
              <a:defRPr sz="1950" b="1">
                <a:solidFill>
                  <a:srgbClr val="073F48"/>
                </a:solidFill>
                <a:latin typeface="Calibri"/>
                <a:ea typeface="Calibri"/>
                <a:cs typeface="Calibri"/>
              </a:defRPr>
            </a:lvl2pPr>
            <a:lvl3pPr>
              <a:defRPr sz="1950" b="1">
                <a:solidFill>
                  <a:srgbClr val="073F48"/>
                </a:solidFill>
                <a:latin typeface="Calibri"/>
                <a:ea typeface="Calibri"/>
                <a:cs typeface="Calibri"/>
              </a:defRPr>
            </a:lvl3pPr>
            <a:lvl4pPr>
              <a:defRPr sz="1950" b="1">
                <a:solidFill>
                  <a:srgbClr val="073F48"/>
                </a:solidFill>
                <a:latin typeface="Calibri"/>
                <a:ea typeface="Calibri"/>
                <a:cs typeface="Calibri"/>
              </a:defRPr>
            </a:lvl4pPr>
            <a:lvl5pPr>
              <a:defRPr sz="1950" b="1">
                <a:solidFill>
                  <a:srgbClr val="073F48"/>
                </a:solidFill>
                <a:latin typeface="Calibri"/>
                <a:ea typeface="Calibri"/>
                <a:cs typeface="Calibri"/>
              </a:defRPr>
            </a:lvl5pPr>
            <a:lvl6pPr>
              <a:defRPr sz="1950" b="1">
                <a:solidFill>
                  <a:srgbClr val="073F48"/>
                </a:solidFill>
                <a:latin typeface="Calibri"/>
                <a:ea typeface="Calibri"/>
                <a:cs typeface="Calibri"/>
              </a:defRPr>
            </a:lvl6pPr>
            <a:lvl7pPr>
              <a:defRPr sz="1950" b="1">
                <a:solidFill>
                  <a:srgbClr val="073F48"/>
                </a:solidFill>
                <a:latin typeface="Calibri"/>
                <a:ea typeface="Calibri"/>
                <a:cs typeface="Calibri"/>
              </a:defRPr>
            </a:lvl7pPr>
            <a:lvl8pPr>
              <a:defRPr sz="1950" b="1">
                <a:solidFill>
                  <a:srgbClr val="073F48"/>
                </a:solidFill>
                <a:latin typeface="Calibri"/>
                <a:ea typeface="Calibri"/>
                <a:cs typeface="Calibri"/>
              </a:defRPr>
            </a:lvl8pPr>
            <a:lvl9pPr>
              <a:defRPr sz="1950" b="1">
                <a:solidFill>
                  <a:srgbClr val="073F48"/>
                </a:solidFill>
                <a:latin typeface="Calibri"/>
                <a:ea typeface="Calibri"/>
                <a:cs typeface="Calibri"/>
              </a:defRPr>
            </a:lvl9pPr>
          </a:lstStyle>
          <a:p xmlns:a="http://schemas.openxmlformats.org/drawingml/2006/main">
            <a:pPr>
              <a:defRPr sz="1950" b="1">
                <a:solidFill>
                  <a:srgbClr val="073F48"/>
                </a:solidFill>
                <a:latin typeface="Calibri"/>
                <a:ea typeface="Calibri"/>
                <a:cs typeface="Calibri"/>
              </a:defRPr>
            </a:pPr>
            <a:r>
              <a:rPr sz="1950" b="1">
                <a:solidFill>
                  <a:srgbClr val="073F48"/>
                </a:solidFill>
                <a:latin typeface="Calibri"/>
                <a:ea typeface="Calibri"/>
                <a:cs typeface="Calibri"/>
              </a:rPr>
              <a:t>Retention and CRM</a:t>
            </a:r>
          </a:p>
        </p:txBody>
      </p:sp>
      <p:sp>
        <p:nvSpPr>
          <p:cNvPr id="12" name="Support onboarding and replenishment.">
            <a:extLst xmlns:a="http://schemas.openxmlformats.org/drawingml/2006/main">
              <a:ext uri="{FF2B5EF4-FFF2-40B4-BE49-F238E27FC236}">
                <a16:creationId xmlns:a16="http://schemas.microsoft.com/office/drawing/2014/main" id="{EC3D7819-D5D4-48E7-AF6A-FF77E4BC97BB}"/>
              </a:ext>
            </a:extLst>
          </p:cNvPr>
          <p:cNvSpPr>
            <a:spLocks xmlns:a="http://schemas.openxmlformats.org/drawingml/2006/main" noGrp="1"/>
          </p:cNvSpPr>
          <p:nvPr/>
        </p:nvSpPr>
        <p:spPr>
          <a:xfrm xmlns:a="http://schemas.openxmlformats.org/drawingml/2006/main">
            <a:off x="4762500" y="365760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67371"/>
                </a:solidFill>
                <a:latin typeface="Calibri"/>
                <a:ea typeface="Calibri"/>
                <a:cs typeface="Calibri"/>
              </a:defRPr>
            </a:defPPr>
            <a:lvl1pPr>
              <a:defRPr sz="1725" b="0">
                <a:solidFill>
                  <a:srgbClr val="567371"/>
                </a:solidFill>
                <a:latin typeface="Calibri"/>
                <a:ea typeface="Calibri"/>
                <a:cs typeface="Calibri"/>
              </a:defRPr>
            </a:lvl1pPr>
            <a:lvl2pPr>
              <a:defRPr sz="1725" b="0">
                <a:solidFill>
                  <a:srgbClr val="567371"/>
                </a:solidFill>
                <a:latin typeface="Calibri"/>
                <a:ea typeface="Calibri"/>
                <a:cs typeface="Calibri"/>
              </a:defRPr>
            </a:lvl2pPr>
            <a:lvl3pPr>
              <a:defRPr sz="1725" b="0">
                <a:solidFill>
                  <a:srgbClr val="567371"/>
                </a:solidFill>
                <a:latin typeface="Calibri"/>
                <a:ea typeface="Calibri"/>
                <a:cs typeface="Calibri"/>
              </a:defRPr>
            </a:lvl3pPr>
            <a:lvl4pPr>
              <a:defRPr sz="1725" b="0">
                <a:solidFill>
                  <a:srgbClr val="567371"/>
                </a:solidFill>
                <a:latin typeface="Calibri"/>
                <a:ea typeface="Calibri"/>
                <a:cs typeface="Calibri"/>
              </a:defRPr>
            </a:lvl4pPr>
            <a:lvl5pPr>
              <a:defRPr sz="1725" b="0">
                <a:solidFill>
                  <a:srgbClr val="567371"/>
                </a:solidFill>
                <a:latin typeface="Calibri"/>
                <a:ea typeface="Calibri"/>
                <a:cs typeface="Calibri"/>
              </a:defRPr>
            </a:lvl5pPr>
            <a:lvl6pPr>
              <a:defRPr sz="1725" b="0">
                <a:solidFill>
                  <a:srgbClr val="567371"/>
                </a:solidFill>
                <a:latin typeface="Calibri"/>
                <a:ea typeface="Calibri"/>
                <a:cs typeface="Calibri"/>
              </a:defRPr>
            </a:lvl6pPr>
            <a:lvl7pPr>
              <a:defRPr sz="1725" b="0">
                <a:solidFill>
                  <a:srgbClr val="567371"/>
                </a:solidFill>
                <a:latin typeface="Calibri"/>
                <a:ea typeface="Calibri"/>
                <a:cs typeface="Calibri"/>
              </a:defRPr>
            </a:lvl7pPr>
            <a:lvl8pPr>
              <a:defRPr sz="1725" b="0">
                <a:solidFill>
                  <a:srgbClr val="567371"/>
                </a:solidFill>
                <a:latin typeface="Calibri"/>
                <a:ea typeface="Calibri"/>
                <a:cs typeface="Calibri"/>
              </a:defRPr>
            </a:lvl8pPr>
            <a:lvl9pPr>
              <a:defRPr sz="1725" b="0">
                <a:solidFill>
                  <a:srgbClr val="567371"/>
                </a:solidFill>
                <a:latin typeface="Calibri"/>
                <a:ea typeface="Calibri"/>
                <a:cs typeface="Calibri"/>
              </a:defRPr>
            </a:lvl9pPr>
          </a:lstStyle>
          <a:p xmlns:a="http://schemas.openxmlformats.org/drawingml/2006/main">
            <a:pPr>
              <a:defRPr sz="1725" b="0">
                <a:solidFill>
                  <a:srgbClr val="567371"/>
                </a:solidFill>
                <a:latin typeface="Calibri"/>
                <a:ea typeface="Calibri"/>
                <a:cs typeface="Calibri"/>
              </a:defRPr>
            </a:pPr>
            <a:r>
              <a:rPr sz="1725" b="0">
                <a:solidFill>
                  <a:srgbClr val="567371"/>
                </a:solidFill>
                <a:latin typeface="Calibri"/>
                <a:ea typeface="Calibri"/>
                <a:cs typeface="Calibri"/>
              </a:rPr>
              <a:t>Support onboarding and replenishment.</a:t>
            </a:r>
          </a:p>
        </p:txBody>
      </p:sp>
      <p:sp>
        <p:nvSpPr>
          <p:cNvPr id="13" name="Month-2 retention and churn">
            <a:extLst xmlns:a="http://schemas.openxmlformats.org/drawingml/2006/main">
              <a:ext uri="{FF2B5EF4-FFF2-40B4-BE49-F238E27FC236}">
                <a16:creationId xmlns:a16="http://schemas.microsoft.com/office/drawing/2014/main" id="{4CAEDE42-7A71-4484-AFBD-10A3E8EEB47A}"/>
              </a:ext>
            </a:extLst>
          </p:cNvPr>
          <p:cNvSpPr>
            <a:spLocks xmlns:a="http://schemas.openxmlformats.org/drawingml/2006/main" noGrp="1"/>
          </p:cNvSpPr>
          <p:nvPr/>
        </p:nvSpPr>
        <p:spPr>
          <a:xfrm xmlns:a="http://schemas.openxmlformats.org/drawingml/2006/main">
            <a:off x="9525000" y="3657600"/>
            <a:ext cx="200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073F48"/>
                </a:solidFill>
                <a:latin typeface="Calibri"/>
                <a:ea typeface="Calibri"/>
                <a:cs typeface="Calibri"/>
              </a:defRPr>
            </a:defPPr>
            <a:lvl1pPr>
              <a:defRPr sz="1575" b="0">
                <a:solidFill>
                  <a:srgbClr val="073F48"/>
                </a:solidFill>
                <a:latin typeface="Calibri"/>
                <a:ea typeface="Calibri"/>
                <a:cs typeface="Calibri"/>
              </a:defRPr>
            </a:lvl1pPr>
            <a:lvl2pPr>
              <a:defRPr sz="1575" b="0">
                <a:solidFill>
                  <a:srgbClr val="073F48"/>
                </a:solidFill>
                <a:latin typeface="Calibri"/>
                <a:ea typeface="Calibri"/>
                <a:cs typeface="Calibri"/>
              </a:defRPr>
            </a:lvl2pPr>
            <a:lvl3pPr>
              <a:defRPr sz="1575" b="0">
                <a:solidFill>
                  <a:srgbClr val="073F48"/>
                </a:solidFill>
                <a:latin typeface="Calibri"/>
                <a:ea typeface="Calibri"/>
                <a:cs typeface="Calibri"/>
              </a:defRPr>
            </a:lvl3pPr>
            <a:lvl4pPr>
              <a:defRPr sz="1575" b="0">
                <a:solidFill>
                  <a:srgbClr val="073F48"/>
                </a:solidFill>
                <a:latin typeface="Calibri"/>
                <a:ea typeface="Calibri"/>
                <a:cs typeface="Calibri"/>
              </a:defRPr>
            </a:lvl4pPr>
            <a:lvl5pPr>
              <a:defRPr sz="1575" b="0">
                <a:solidFill>
                  <a:srgbClr val="073F48"/>
                </a:solidFill>
                <a:latin typeface="Calibri"/>
                <a:ea typeface="Calibri"/>
                <a:cs typeface="Calibri"/>
              </a:defRPr>
            </a:lvl5pPr>
            <a:lvl6pPr>
              <a:defRPr sz="1575" b="0">
                <a:solidFill>
                  <a:srgbClr val="073F48"/>
                </a:solidFill>
                <a:latin typeface="Calibri"/>
                <a:ea typeface="Calibri"/>
                <a:cs typeface="Calibri"/>
              </a:defRPr>
            </a:lvl6pPr>
            <a:lvl7pPr>
              <a:defRPr sz="1575" b="0">
                <a:solidFill>
                  <a:srgbClr val="073F48"/>
                </a:solidFill>
                <a:latin typeface="Calibri"/>
                <a:ea typeface="Calibri"/>
                <a:cs typeface="Calibri"/>
              </a:defRPr>
            </a:lvl7pPr>
            <a:lvl8pPr>
              <a:defRPr sz="1575" b="0">
                <a:solidFill>
                  <a:srgbClr val="073F48"/>
                </a:solidFill>
                <a:latin typeface="Calibri"/>
                <a:ea typeface="Calibri"/>
                <a:cs typeface="Calibri"/>
              </a:defRPr>
            </a:lvl8pPr>
            <a:lvl9pPr>
              <a:defRPr sz="1575" b="0">
                <a:solidFill>
                  <a:srgbClr val="073F48"/>
                </a:solidFill>
                <a:latin typeface="Calibri"/>
                <a:ea typeface="Calibri"/>
                <a:cs typeface="Calibri"/>
              </a:defRPr>
            </a:lvl9pPr>
          </a:lstStyle>
          <a:p xmlns:a="http://schemas.openxmlformats.org/drawingml/2006/main">
            <a:pPr>
              <a:defRPr sz="1575" b="0">
                <a:solidFill>
                  <a:srgbClr val="073F48"/>
                </a:solidFill>
                <a:latin typeface="Calibri"/>
                <a:ea typeface="Calibri"/>
                <a:cs typeface="Calibri"/>
              </a:defRPr>
            </a:pPr>
            <a:r>
              <a:rPr sz="1575" b="0">
                <a:solidFill>
                  <a:srgbClr val="073F48"/>
                </a:solidFill>
                <a:latin typeface="Calibri"/>
                <a:ea typeface="Calibri"/>
                <a:cs typeface="Calibri"/>
              </a:rPr>
              <a:t>Month-2 retention and churn</a:t>
            </a:r>
          </a:p>
        </p:txBody>
      </p:sp>
      <p:sp>
        <p:nvSpPr>
          <p:cNvPr id="14" name="Selective wholesale">
            <a:extLst xmlns:a="http://schemas.openxmlformats.org/drawingml/2006/main">
              <a:ext uri="{FF2B5EF4-FFF2-40B4-BE49-F238E27FC236}">
                <a16:creationId xmlns:a16="http://schemas.microsoft.com/office/drawing/2014/main" id="{2E3CBB23-498E-4581-8DD5-88F287453DA1}"/>
              </a:ext>
            </a:extLst>
          </p:cNvPr>
          <p:cNvSpPr>
            <a:spLocks xmlns:a="http://schemas.openxmlformats.org/drawingml/2006/main" noGrp="1"/>
          </p:cNvSpPr>
          <p:nvPr/>
        </p:nvSpPr>
        <p:spPr>
          <a:xfrm xmlns:a="http://schemas.openxmlformats.org/drawingml/2006/main">
            <a:off x="609600" y="45529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073F48"/>
                </a:solidFill>
                <a:latin typeface="Calibri"/>
                <a:ea typeface="Calibri"/>
                <a:cs typeface="Calibri"/>
              </a:defRPr>
            </a:defPPr>
            <a:lvl1pPr>
              <a:defRPr sz="1950" b="1">
                <a:solidFill>
                  <a:srgbClr val="073F48"/>
                </a:solidFill>
                <a:latin typeface="Calibri"/>
                <a:ea typeface="Calibri"/>
                <a:cs typeface="Calibri"/>
              </a:defRPr>
            </a:lvl1pPr>
            <a:lvl2pPr>
              <a:defRPr sz="1950" b="1">
                <a:solidFill>
                  <a:srgbClr val="073F48"/>
                </a:solidFill>
                <a:latin typeface="Calibri"/>
                <a:ea typeface="Calibri"/>
                <a:cs typeface="Calibri"/>
              </a:defRPr>
            </a:lvl2pPr>
            <a:lvl3pPr>
              <a:defRPr sz="1950" b="1">
                <a:solidFill>
                  <a:srgbClr val="073F48"/>
                </a:solidFill>
                <a:latin typeface="Calibri"/>
                <a:ea typeface="Calibri"/>
                <a:cs typeface="Calibri"/>
              </a:defRPr>
            </a:lvl3pPr>
            <a:lvl4pPr>
              <a:defRPr sz="1950" b="1">
                <a:solidFill>
                  <a:srgbClr val="073F48"/>
                </a:solidFill>
                <a:latin typeface="Calibri"/>
                <a:ea typeface="Calibri"/>
                <a:cs typeface="Calibri"/>
              </a:defRPr>
            </a:lvl4pPr>
            <a:lvl5pPr>
              <a:defRPr sz="1950" b="1">
                <a:solidFill>
                  <a:srgbClr val="073F48"/>
                </a:solidFill>
                <a:latin typeface="Calibri"/>
                <a:ea typeface="Calibri"/>
                <a:cs typeface="Calibri"/>
              </a:defRPr>
            </a:lvl5pPr>
            <a:lvl6pPr>
              <a:defRPr sz="1950" b="1">
                <a:solidFill>
                  <a:srgbClr val="073F48"/>
                </a:solidFill>
                <a:latin typeface="Calibri"/>
                <a:ea typeface="Calibri"/>
                <a:cs typeface="Calibri"/>
              </a:defRPr>
            </a:lvl6pPr>
            <a:lvl7pPr>
              <a:defRPr sz="1950" b="1">
                <a:solidFill>
                  <a:srgbClr val="073F48"/>
                </a:solidFill>
                <a:latin typeface="Calibri"/>
                <a:ea typeface="Calibri"/>
                <a:cs typeface="Calibri"/>
              </a:defRPr>
            </a:lvl7pPr>
            <a:lvl8pPr>
              <a:defRPr sz="1950" b="1">
                <a:solidFill>
                  <a:srgbClr val="073F48"/>
                </a:solidFill>
                <a:latin typeface="Calibri"/>
                <a:ea typeface="Calibri"/>
                <a:cs typeface="Calibri"/>
              </a:defRPr>
            </a:lvl8pPr>
            <a:lvl9pPr>
              <a:defRPr sz="1950" b="1">
                <a:solidFill>
                  <a:srgbClr val="073F48"/>
                </a:solidFill>
                <a:latin typeface="Calibri"/>
                <a:ea typeface="Calibri"/>
                <a:cs typeface="Calibri"/>
              </a:defRPr>
            </a:lvl9pPr>
          </a:lstStyle>
          <a:p xmlns:a="http://schemas.openxmlformats.org/drawingml/2006/main">
            <a:pPr>
              <a:defRPr sz="1950" b="1">
                <a:solidFill>
                  <a:srgbClr val="073F48"/>
                </a:solidFill>
                <a:latin typeface="Calibri"/>
                <a:ea typeface="Calibri"/>
                <a:cs typeface="Calibri"/>
              </a:defRPr>
            </a:pPr>
            <a:r>
              <a:rPr sz="1950" b="1">
                <a:solidFill>
                  <a:srgbClr val="073F48"/>
                </a:solidFill>
                <a:latin typeface="Calibri"/>
                <a:ea typeface="Calibri"/>
                <a:cs typeface="Calibri"/>
              </a:rPr>
              <a:t>Selective wholesale</a:t>
            </a:r>
          </a:p>
        </p:txBody>
      </p:sp>
      <p:sp>
        <p:nvSpPr>
          <p:cNvPr id="15" name="Explore relevant retail discovery.">
            <a:extLst xmlns:a="http://schemas.openxmlformats.org/drawingml/2006/main">
              <a:ext uri="{FF2B5EF4-FFF2-40B4-BE49-F238E27FC236}">
                <a16:creationId xmlns:a16="http://schemas.microsoft.com/office/drawing/2014/main" id="{9B26FB9E-488B-4B30-A4DD-FF7E615409F0}"/>
              </a:ext>
            </a:extLst>
          </p:cNvPr>
          <p:cNvSpPr>
            <a:spLocks xmlns:a="http://schemas.openxmlformats.org/drawingml/2006/main" noGrp="1"/>
          </p:cNvSpPr>
          <p:nvPr/>
        </p:nvSpPr>
        <p:spPr>
          <a:xfrm xmlns:a="http://schemas.openxmlformats.org/drawingml/2006/main">
            <a:off x="4762500" y="45529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67371"/>
                </a:solidFill>
                <a:latin typeface="Calibri"/>
                <a:ea typeface="Calibri"/>
                <a:cs typeface="Calibri"/>
              </a:defRPr>
            </a:defPPr>
            <a:lvl1pPr>
              <a:defRPr sz="1725" b="0">
                <a:solidFill>
                  <a:srgbClr val="567371"/>
                </a:solidFill>
                <a:latin typeface="Calibri"/>
                <a:ea typeface="Calibri"/>
                <a:cs typeface="Calibri"/>
              </a:defRPr>
            </a:lvl1pPr>
            <a:lvl2pPr>
              <a:defRPr sz="1725" b="0">
                <a:solidFill>
                  <a:srgbClr val="567371"/>
                </a:solidFill>
                <a:latin typeface="Calibri"/>
                <a:ea typeface="Calibri"/>
                <a:cs typeface="Calibri"/>
              </a:defRPr>
            </a:lvl2pPr>
            <a:lvl3pPr>
              <a:defRPr sz="1725" b="0">
                <a:solidFill>
                  <a:srgbClr val="567371"/>
                </a:solidFill>
                <a:latin typeface="Calibri"/>
                <a:ea typeface="Calibri"/>
                <a:cs typeface="Calibri"/>
              </a:defRPr>
            </a:lvl3pPr>
            <a:lvl4pPr>
              <a:defRPr sz="1725" b="0">
                <a:solidFill>
                  <a:srgbClr val="567371"/>
                </a:solidFill>
                <a:latin typeface="Calibri"/>
                <a:ea typeface="Calibri"/>
                <a:cs typeface="Calibri"/>
              </a:defRPr>
            </a:lvl4pPr>
            <a:lvl5pPr>
              <a:defRPr sz="1725" b="0">
                <a:solidFill>
                  <a:srgbClr val="567371"/>
                </a:solidFill>
                <a:latin typeface="Calibri"/>
                <a:ea typeface="Calibri"/>
                <a:cs typeface="Calibri"/>
              </a:defRPr>
            </a:lvl5pPr>
            <a:lvl6pPr>
              <a:defRPr sz="1725" b="0">
                <a:solidFill>
                  <a:srgbClr val="567371"/>
                </a:solidFill>
                <a:latin typeface="Calibri"/>
                <a:ea typeface="Calibri"/>
                <a:cs typeface="Calibri"/>
              </a:defRPr>
            </a:lvl6pPr>
            <a:lvl7pPr>
              <a:defRPr sz="1725" b="0">
                <a:solidFill>
                  <a:srgbClr val="567371"/>
                </a:solidFill>
                <a:latin typeface="Calibri"/>
                <a:ea typeface="Calibri"/>
                <a:cs typeface="Calibri"/>
              </a:defRPr>
            </a:lvl7pPr>
            <a:lvl8pPr>
              <a:defRPr sz="1725" b="0">
                <a:solidFill>
                  <a:srgbClr val="567371"/>
                </a:solidFill>
                <a:latin typeface="Calibri"/>
                <a:ea typeface="Calibri"/>
                <a:cs typeface="Calibri"/>
              </a:defRPr>
            </a:lvl8pPr>
            <a:lvl9pPr>
              <a:defRPr sz="1725" b="0">
                <a:solidFill>
                  <a:srgbClr val="567371"/>
                </a:solidFill>
                <a:latin typeface="Calibri"/>
                <a:ea typeface="Calibri"/>
                <a:cs typeface="Calibri"/>
              </a:defRPr>
            </a:lvl9pPr>
          </a:lstStyle>
          <a:p xmlns:a="http://schemas.openxmlformats.org/drawingml/2006/main">
            <a:pPr>
              <a:defRPr sz="1725" b="0">
                <a:solidFill>
                  <a:srgbClr val="567371"/>
                </a:solidFill>
                <a:latin typeface="Calibri"/>
                <a:ea typeface="Calibri"/>
                <a:cs typeface="Calibri"/>
              </a:defRPr>
            </a:pPr>
            <a:r>
              <a:rPr sz="1725" b="0">
                <a:solidFill>
                  <a:srgbClr val="567371"/>
                </a:solidFill>
                <a:latin typeface="Calibri"/>
                <a:ea typeface="Calibri"/>
                <a:cs typeface="Calibri"/>
              </a:rPr>
              <a:t>Explore relevant retail discovery.</a:t>
            </a:r>
          </a:p>
        </p:txBody>
      </p:sp>
      <p:sp>
        <p:nvSpPr>
          <p:cNvPr id="16" name="Reorder rate and channel margin">
            <a:extLst xmlns:a="http://schemas.openxmlformats.org/drawingml/2006/main">
              <a:ext uri="{FF2B5EF4-FFF2-40B4-BE49-F238E27FC236}">
                <a16:creationId xmlns:a16="http://schemas.microsoft.com/office/drawing/2014/main" id="{1C8F3D97-6836-431E-8C6F-A8550C917C13}"/>
              </a:ext>
            </a:extLst>
          </p:cNvPr>
          <p:cNvSpPr>
            <a:spLocks xmlns:a="http://schemas.openxmlformats.org/drawingml/2006/main" noGrp="1"/>
          </p:cNvSpPr>
          <p:nvPr/>
        </p:nvSpPr>
        <p:spPr>
          <a:xfrm xmlns:a="http://schemas.openxmlformats.org/drawingml/2006/main">
            <a:off x="9525000" y="4552950"/>
            <a:ext cx="200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073F48"/>
                </a:solidFill>
                <a:latin typeface="Calibri"/>
                <a:ea typeface="Calibri"/>
                <a:cs typeface="Calibri"/>
              </a:defRPr>
            </a:defPPr>
            <a:lvl1pPr>
              <a:defRPr sz="1575" b="0">
                <a:solidFill>
                  <a:srgbClr val="073F48"/>
                </a:solidFill>
                <a:latin typeface="Calibri"/>
                <a:ea typeface="Calibri"/>
                <a:cs typeface="Calibri"/>
              </a:defRPr>
            </a:lvl1pPr>
            <a:lvl2pPr>
              <a:defRPr sz="1575" b="0">
                <a:solidFill>
                  <a:srgbClr val="073F48"/>
                </a:solidFill>
                <a:latin typeface="Calibri"/>
                <a:ea typeface="Calibri"/>
                <a:cs typeface="Calibri"/>
              </a:defRPr>
            </a:lvl2pPr>
            <a:lvl3pPr>
              <a:defRPr sz="1575" b="0">
                <a:solidFill>
                  <a:srgbClr val="073F48"/>
                </a:solidFill>
                <a:latin typeface="Calibri"/>
                <a:ea typeface="Calibri"/>
                <a:cs typeface="Calibri"/>
              </a:defRPr>
            </a:lvl3pPr>
            <a:lvl4pPr>
              <a:defRPr sz="1575" b="0">
                <a:solidFill>
                  <a:srgbClr val="073F48"/>
                </a:solidFill>
                <a:latin typeface="Calibri"/>
                <a:ea typeface="Calibri"/>
                <a:cs typeface="Calibri"/>
              </a:defRPr>
            </a:lvl4pPr>
            <a:lvl5pPr>
              <a:defRPr sz="1575" b="0">
                <a:solidFill>
                  <a:srgbClr val="073F48"/>
                </a:solidFill>
                <a:latin typeface="Calibri"/>
                <a:ea typeface="Calibri"/>
                <a:cs typeface="Calibri"/>
              </a:defRPr>
            </a:lvl5pPr>
            <a:lvl6pPr>
              <a:defRPr sz="1575" b="0">
                <a:solidFill>
                  <a:srgbClr val="073F48"/>
                </a:solidFill>
                <a:latin typeface="Calibri"/>
                <a:ea typeface="Calibri"/>
                <a:cs typeface="Calibri"/>
              </a:defRPr>
            </a:lvl6pPr>
            <a:lvl7pPr>
              <a:defRPr sz="1575" b="0">
                <a:solidFill>
                  <a:srgbClr val="073F48"/>
                </a:solidFill>
                <a:latin typeface="Calibri"/>
                <a:ea typeface="Calibri"/>
                <a:cs typeface="Calibri"/>
              </a:defRPr>
            </a:lvl7pPr>
            <a:lvl8pPr>
              <a:defRPr sz="1575" b="0">
                <a:solidFill>
                  <a:srgbClr val="073F48"/>
                </a:solidFill>
                <a:latin typeface="Calibri"/>
                <a:ea typeface="Calibri"/>
                <a:cs typeface="Calibri"/>
              </a:defRPr>
            </a:lvl8pPr>
            <a:lvl9pPr>
              <a:defRPr sz="1575" b="0">
                <a:solidFill>
                  <a:srgbClr val="073F48"/>
                </a:solidFill>
                <a:latin typeface="Calibri"/>
                <a:ea typeface="Calibri"/>
                <a:cs typeface="Calibri"/>
              </a:defRPr>
            </a:lvl9pPr>
          </a:lstStyle>
          <a:p xmlns:a="http://schemas.openxmlformats.org/drawingml/2006/main">
            <a:pPr>
              <a:defRPr sz="1575" b="0">
                <a:solidFill>
                  <a:srgbClr val="073F48"/>
                </a:solidFill>
                <a:latin typeface="Calibri"/>
                <a:ea typeface="Calibri"/>
                <a:cs typeface="Calibri"/>
              </a:defRPr>
            </a:pPr>
            <a:r>
              <a:rPr sz="1575" b="0">
                <a:solidFill>
                  <a:srgbClr val="073F48"/>
                </a:solidFill>
                <a:latin typeface="Calibri"/>
                <a:ea typeface="Calibri"/>
                <a:cs typeface="Calibri"/>
              </a:rPr>
              <a:t>Reorder rate and channel margin</a:t>
            </a:r>
          </a:p>
        </p:txBody>
      </p:sp>
      <p:sp>
        <p:nvSpPr>
          <p:cNvPr id="17" name="U.S.-first plan. Paid acquisition cost, reten">
            <a:extLst xmlns:a="http://schemas.openxmlformats.org/drawingml/2006/main">
              <a:ext uri="{FF2B5EF4-FFF2-40B4-BE49-F238E27FC236}">
                <a16:creationId xmlns:a16="http://schemas.microsoft.com/office/drawing/2014/main" id="{B1A43D16-0A9D-486A-B909-2D70EA96AC81}"/>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7371"/>
                </a:solidFill>
                <a:latin typeface="Calibri"/>
                <a:ea typeface="Calibri"/>
                <a:cs typeface="Calibri"/>
              </a:defRPr>
            </a:defPPr>
            <a:lvl1pPr>
              <a:defRPr sz="1275" b="0">
                <a:solidFill>
                  <a:srgbClr val="567371"/>
                </a:solidFill>
                <a:latin typeface="Calibri"/>
                <a:ea typeface="Calibri"/>
                <a:cs typeface="Calibri"/>
              </a:defRPr>
            </a:lvl1pPr>
            <a:lvl2pPr>
              <a:defRPr sz="1275" b="0">
                <a:solidFill>
                  <a:srgbClr val="567371"/>
                </a:solidFill>
                <a:latin typeface="Calibri"/>
                <a:ea typeface="Calibri"/>
                <a:cs typeface="Calibri"/>
              </a:defRPr>
            </a:lvl2pPr>
            <a:lvl3pPr>
              <a:defRPr sz="1275" b="0">
                <a:solidFill>
                  <a:srgbClr val="567371"/>
                </a:solidFill>
                <a:latin typeface="Calibri"/>
                <a:ea typeface="Calibri"/>
                <a:cs typeface="Calibri"/>
              </a:defRPr>
            </a:lvl3pPr>
            <a:lvl4pPr>
              <a:defRPr sz="1275" b="0">
                <a:solidFill>
                  <a:srgbClr val="567371"/>
                </a:solidFill>
                <a:latin typeface="Calibri"/>
                <a:ea typeface="Calibri"/>
                <a:cs typeface="Calibri"/>
              </a:defRPr>
            </a:lvl4pPr>
            <a:lvl5pPr>
              <a:defRPr sz="1275" b="0">
                <a:solidFill>
                  <a:srgbClr val="567371"/>
                </a:solidFill>
                <a:latin typeface="Calibri"/>
                <a:ea typeface="Calibri"/>
                <a:cs typeface="Calibri"/>
              </a:defRPr>
            </a:lvl5pPr>
            <a:lvl6pPr>
              <a:defRPr sz="1275" b="0">
                <a:solidFill>
                  <a:srgbClr val="567371"/>
                </a:solidFill>
                <a:latin typeface="Calibri"/>
                <a:ea typeface="Calibri"/>
                <a:cs typeface="Calibri"/>
              </a:defRPr>
            </a:lvl6pPr>
            <a:lvl7pPr>
              <a:defRPr sz="1275" b="0">
                <a:solidFill>
                  <a:srgbClr val="567371"/>
                </a:solidFill>
                <a:latin typeface="Calibri"/>
                <a:ea typeface="Calibri"/>
                <a:cs typeface="Calibri"/>
              </a:defRPr>
            </a:lvl7pPr>
            <a:lvl8pPr>
              <a:defRPr sz="1275" b="0">
                <a:solidFill>
                  <a:srgbClr val="567371"/>
                </a:solidFill>
                <a:latin typeface="Calibri"/>
                <a:ea typeface="Calibri"/>
                <a:cs typeface="Calibri"/>
              </a:defRPr>
            </a:lvl8pPr>
            <a:lvl9pPr>
              <a:defRPr sz="1275" b="0">
                <a:solidFill>
                  <a:srgbClr val="567371"/>
                </a:solidFill>
                <a:latin typeface="Calibri"/>
                <a:ea typeface="Calibri"/>
                <a:cs typeface="Calibri"/>
              </a:defRPr>
            </a:lvl9pPr>
          </a:lstStyle>
          <a:p xmlns:a="http://schemas.openxmlformats.org/drawingml/2006/main">
            <a:pPr>
              <a:defRPr sz="1275" b="0">
                <a:solidFill>
                  <a:srgbClr val="567371"/>
                </a:solidFill>
                <a:latin typeface="Calibri"/>
                <a:ea typeface="Calibri"/>
                <a:cs typeface="Calibri"/>
              </a:defRPr>
            </a:pPr>
            <a:r>
              <a:rPr sz="1275" b="0">
                <a:solidFill>
                  <a:srgbClr val="567371"/>
                </a:solidFill>
                <a:latin typeface="Calibri"/>
                <a:ea typeface="Calibri"/>
                <a:cs typeface="Calibri"/>
              </a:rPr>
              <a:t>U.S.-first plan. Paid acquisition cost, retention and lifetime value require launch data.</a:t>
            </a:r>
          </a:p>
        </p:txBody>
      </p:sp>
    </p:spTree>
    <p:extLst>
      <p:ext uri="{BB962C8B-B14F-4D97-AF65-F5344CB8AC3E}">
        <p14:creationId xmlns:p14="http://schemas.microsoft.com/office/powerpoint/2010/main" val="1033807017"/>
      </p:ext>
    </p:extLst>
  </p:cSld>
</p:sld>
</file>

<file path=ppt/slides/slide8.xml><?xml version="1.0" encoding="utf-8"?>
<p:sld xmlns:p="http://schemas.openxmlformats.org/presentationml/2006/main">
  <p:cSld>
    <p:bg>
      <p:bgPr>
        <a:solidFill xmlns:a="http://schemas.openxmlformats.org/drawingml/2006/main">
          <a:srgbClr val="073F48"/>
        </a:solidFill>
      </p:bgPr>
    </p:bg>
    <p:spTree>
      <p:nvGrpSpPr>
        <p:cNvPr id="1" name=""/>
        <p:cNvGrpSpPr/>
        <p:nvPr/>
      </p:nvGrpSpPr>
      <p:grpSpPr>
        <a:xfrm xmlns:a="http://schemas.openxmlformats.org/drawingml/2006/main"/>
      </p:grpSpPr>
      <p:sp>
        <p:nvSpPr>
          <p:cNvPr id="2" name="Illustrative subscription unit economics">
            <a:extLst xmlns:a="http://schemas.openxmlformats.org/drawingml/2006/main">
              <a:ext uri="{FF2B5EF4-FFF2-40B4-BE49-F238E27FC236}">
                <a16:creationId xmlns:a16="http://schemas.microsoft.com/office/drawing/2014/main" id="{4630AABA-0E38-41EF-A586-9570ED09DE2F}"/>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F5F0E7"/>
                </a:solidFill>
                <a:latin typeface="Calibri"/>
                <a:ea typeface="Calibri"/>
                <a:cs typeface="Calibri"/>
              </a:defRPr>
            </a:defPPr>
            <a:lvl1pPr>
              <a:defRPr sz="3300" b="0">
                <a:solidFill>
                  <a:srgbClr val="F5F0E7"/>
                </a:solidFill>
                <a:latin typeface="Calibri"/>
                <a:ea typeface="Calibri"/>
                <a:cs typeface="Calibri"/>
              </a:defRPr>
            </a:lvl1pPr>
            <a:lvl2pPr>
              <a:defRPr sz="3300" b="0">
                <a:solidFill>
                  <a:srgbClr val="F5F0E7"/>
                </a:solidFill>
                <a:latin typeface="Calibri"/>
                <a:ea typeface="Calibri"/>
                <a:cs typeface="Calibri"/>
              </a:defRPr>
            </a:lvl2pPr>
            <a:lvl3pPr>
              <a:defRPr sz="3300" b="0">
                <a:solidFill>
                  <a:srgbClr val="F5F0E7"/>
                </a:solidFill>
                <a:latin typeface="Calibri"/>
                <a:ea typeface="Calibri"/>
                <a:cs typeface="Calibri"/>
              </a:defRPr>
            </a:lvl3pPr>
            <a:lvl4pPr>
              <a:defRPr sz="3300" b="0">
                <a:solidFill>
                  <a:srgbClr val="F5F0E7"/>
                </a:solidFill>
                <a:latin typeface="Calibri"/>
                <a:ea typeface="Calibri"/>
                <a:cs typeface="Calibri"/>
              </a:defRPr>
            </a:lvl4pPr>
            <a:lvl5pPr>
              <a:defRPr sz="3300" b="0">
                <a:solidFill>
                  <a:srgbClr val="F5F0E7"/>
                </a:solidFill>
                <a:latin typeface="Calibri"/>
                <a:ea typeface="Calibri"/>
                <a:cs typeface="Calibri"/>
              </a:defRPr>
            </a:lvl5pPr>
            <a:lvl6pPr>
              <a:defRPr sz="3300" b="0">
                <a:solidFill>
                  <a:srgbClr val="F5F0E7"/>
                </a:solidFill>
                <a:latin typeface="Calibri"/>
                <a:ea typeface="Calibri"/>
                <a:cs typeface="Calibri"/>
              </a:defRPr>
            </a:lvl6pPr>
            <a:lvl7pPr>
              <a:defRPr sz="3300" b="0">
                <a:solidFill>
                  <a:srgbClr val="F5F0E7"/>
                </a:solidFill>
                <a:latin typeface="Calibri"/>
                <a:ea typeface="Calibri"/>
                <a:cs typeface="Calibri"/>
              </a:defRPr>
            </a:lvl7pPr>
            <a:lvl8pPr>
              <a:defRPr sz="3300" b="0">
                <a:solidFill>
                  <a:srgbClr val="F5F0E7"/>
                </a:solidFill>
                <a:latin typeface="Calibri"/>
                <a:ea typeface="Calibri"/>
                <a:cs typeface="Calibri"/>
              </a:defRPr>
            </a:lvl8pPr>
            <a:lvl9pPr>
              <a:defRPr sz="3300" b="0">
                <a:solidFill>
                  <a:srgbClr val="F5F0E7"/>
                </a:solidFill>
                <a:latin typeface="Calibri"/>
                <a:ea typeface="Calibri"/>
                <a:cs typeface="Calibri"/>
              </a:defRPr>
            </a:lvl9pPr>
          </a:lstStyle>
          <a:p xmlns:a="http://schemas.openxmlformats.org/drawingml/2006/main">
            <a:pPr>
              <a:defRPr sz="3300" b="0">
                <a:solidFill>
                  <a:srgbClr val="F5F0E7"/>
                </a:solidFill>
                <a:latin typeface="Calibri"/>
                <a:ea typeface="Calibri"/>
                <a:cs typeface="Calibri"/>
              </a:defRPr>
            </a:pPr>
            <a:r>
              <a:rPr sz="3300" b="0">
                <a:solidFill>
                  <a:srgbClr val="F5F0E7"/>
                </a:solidFill>
                <a:latin typeface="Calibri"/>
                <a:ea typeface="Calibri"/>
                <a:cs typeface="Calibri"/>
              </a:rPr>
              <a:t>Illustrative subscription unit economics</a:t>
            </a:r>
          </a:p>
        </p:txBody>
      </p:sp>
      <p:sp>
        <p:nvSpPr>
          <p:cNvPr id="3" name="AURA PATCH  /  CONFIDENTIAL  /  OCTOBER 2026">
            <a:extLst xmlns:a="http://schemas.openxmlformats.org/drawingml/2006/main">
              <a:ext uri="{FF2B5EF4-FFF2-40B4-BE49-F238E27FC236}">
                <a16:creationId xmlns:a16="http://schemas.microsoft.com/office/drawing/2014/main" id="{2F8CF83D-B46F-4C97-ACB7-8999233BE7F9}"/>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B9CEC7"/>
                </a:solidFill>
                <a:latin typeface="Calibri"/>
                <a:ea typeface="Calibri"/>
                <a:cs typeface="Calibri"/>
              </a:defRPr>
            </a:defPPr>
            <a:lvl1pPr>
              <a:defRPr sz="900" b="0">
                <a:solidFill>
                  <a:srgbClr val="B9CEC7"/>
                </a:solidFill>
                <a:latin typeface="Calibri"/>
                <a:ea typeface="Calibri"/>
                <a:cs typeface="Calibri"/>
              </a:defRPr>
            </a:lvl1pPr>
            <a:lvl2pPr>
              <a:defRPr sz="900" b="0">
                <a:solidFill>
                  <a:srgbClr val="B9CEC7"/>
                </a:solidFill>
                <a:latin typeface="Calibri"/>
                <a:ea typeface="Calibri"/>
                <a:cs typeface="Calibri"/>
              </a:defRPr>
            </a:lvl2pPr>
            <a:lvl3pPr>
              <a:defRPr sz="900" b="0">
                <a:solidFill>
                  <a:srgbClr val="B9CEC7"/>
                </a:solidFill>
                <a:latin typeface="Calibri"/>
                <a:ea typeface="Calibri"/>
                <a:cs typeface="Calibri"/>
              </a:defRPr>
            </a:lvl3pPr>
            <a:lvl4pPr>
              <a:defRPr sz="900" b="0">
                <a:solidFill>
                  <a:srgbClr val="B9CEC7"/>
                </a:solidFill>
                <a:latin typeface="Calibri"/>
                <a:ea typeface="Calibri"/>
                <a:cs typeface="Calibri"/>
              </a:defRPr>
            </a:lvl4pPr>
            <a:lvl5pPr>
              <a:defRPr sz="900" b="0">
                <a:solidFill>
                  <a:srgbClr val="B9CEC7"/>
                </a:solidFill>
                <a:latin typeface="Calibri"/>
                <a:ea typeface="Calibri"/>
                <a:cs typeface="Calibri"/>
              </a:defRPr>
            </a:lvl5pPr>
            <a:lvl6pPr>
              <a:defRPr sz="900" b="0">
                <a:solidFill>
                  <a:srgbClr val="B9CEC7"/>
                </a:solidFill>
                <a:latin typeface="Calibri"/>
                <a:ea typeface="Calibri"/>
                <a:cs typeface="Calibri"/>
              </a:defRPr>
            </a:lvl6pPr>
            <a:lvl7pPr>
              <a:defRPr sz="900" b="0">
                <a:solidFill>
                  <a:srgbClr val="B9CEC7"/>
                </a:solidFill>
                <a:latin typeface="Calibri"/>
                <a:ea typeface="Calibri"/>
                <a:cs typeface="Calibri"/>
              </a:defRPr>
            </a:lvl7pPr>
            <a:lvl8pPr>
              <a:defRPr sz="900" b="0">
                <a:solidFill>
                  <a:srgbClr val="B9CEC7"/>
                </a:solidFill>
                <a:latin typeface="Calibri"/>
                <a:ea typeface="Calibri"/>
                <a:cs typeface="Calibri"/>
              </a:defRPr>
            </a:lvl8pPr>
            <a:lvl9pPr>
              <a:defRPr sz="900" b="0">
                <a:solidFill>
                  <a:srgbClr val="B9CEC7"/>
                </a:solidFill>
                <a:latin typeface="Calibri"/>
                <a:ea typeface="Calibri"/>
                <a:cs typeface="Calibri"/>
              </a:defRPr>
            </a:lvl9pPr>
          </a:lstStyle>
          <a:p xmlns:a="http://schemas.openxmlformats.org/drawingml/2006/main">
            <a:pPr>
              <a:defRPr sz="900" b="0">
                <a:solidFill>
                  <a:srgbClr val="B9CEC7"/>
                </a:solidFill>
                <a:latin typeface="Calibri"/>
                <a:ea typeface="Calibri"/>
                <a:cs typeface="Calibri"/>
              </a:defRPr>
            </a:pPr>
            <a:r>
              <a:rPr sz="900" b="0">
                <a:solidFill>
                  <a:srgbClr val="B9CEC7"/>
                </a:solidFill>
                <a:latin typeface="Calibri"/>
                <a:ea typeface="Calibri"/>
                <a:cs typeface="Calibri"/>
              </a:rPr>
              <a:t>AURA PATCH  /  CONFIDENTIAL  /  OCTOBER 2026</a:t>
            </a:r>
          </a:p>
        </p:txBody>
      </p:sp>
      <p:sp>
        <p:nvSpPr>
          <p:cNvPr id="4" name="08">
            <a:extLst xmlns:a="http://schemas.openxmlformats.org/drawingml/2006/main">
              <a:ext uri="{FF2B5EF4-FFF2-40B4-BE49-F238E27FC236}">
                <a16:creationId xmlns:a16="http://schemas.microsoft.com/office/drawing/2014/main" id="{1BEB8F9A-29A3-4EEE-8ABF-1550E95B8B59}"/>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08</a:t>
            </a:r>
          </a:p>
        </p:txBody>
      </p:sp>
      <p:sp>
        <p:nvSpPr>
          <p:cNvPr id="5" name="Per monthly subscription, assuming a referral">
            <a:extLst xmlns:a="http://schemas.openxmlformats.org/drawingml/2006/main">
              <a:ext uri="{FF2B5EF4-FFF2-40B4-BE49-F238E27FC236}">
                <a16:creationId xmlns:a16="http://schemas.microsoft.com/office/drawing/2014/main" id="{86665D96-0EB7-4963-AB7E-A55C3F673367}"/>
              </a:ext>
            </a:extLst>
          </p:cNvPr>
          <p:cNvSpPr>
            <a:spLocks xmlns:a="http://schemas.openxmlformats.org/drawingml/2006/main" noGrp="1"/>
          </p:cNvSpPr>
          <p:nvPr/>
        </p:nvSpPr>
        <p:spPr>
          <a:xfrm xmlns:a="http://schemas.openxmlformats.org/drawingml/2006/main">
            <a:off x="609600" y="15621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CEC7"/>
                </a:solidFill>
                <a:latin typeface="Calibri"/>
                <a:ea typeface="Calibri"/>
                <a:cs typeface="Calibri"/>
              </a:defRPr>
            </a:defPPr>
            <a:lvl1pPr>
              <a:defRPr sz="1875" b="0">
                <a:solidFill>
                  <a:srgbClr val="B9CEC7"/>
                </a:solidFill>
                <a:latin typeface="Calibri"/>
                <a:ea typeface="Calibri"/>
                <a:cs typeface="Calibri"/>
              </a:defRPr>
            </a:lvl1pPr>
            <a:lvl2pPr>
              <a:defRPr sz="1875" b="0">
                <a:solidFill>
                  <a:srgbClr val="B9CEC7"/>
                </a:solidFill>
                <a:latin typeface="Calibri"/>
                <a:ea typeface="Calibri"/>
                <a:cs typeface="Calibri"/>
              </a:defRPr>
            </a:lvl2pPr>
            <a:lvl3pPr>
              <a:defRPr sz="1875" b="0">
                <a:solidFill>
                  <a:srgbClr val="B9CEC7"/>
                </a:solidFill>
                <a:latin typeface="Calibri"/>
                <a:ea typeface="Calibri"/>
                <a:cs typeface="Calibri"/>
              </a:defRPr>
            </a:lvl3pPr>
            <a:lvl4pPr>
              <a:defRPr sz="1875" b="0">
                <a:solidFill>
                  <a:srgbClr val="B9CEC7"/>
                </a:solidFill>
                <a:latin typeface="Calibri"/>
                <a:ea typeface="Calibri"/>
                <a:cs typeface="Calibri"/>
              </a:defRPr>
            </a:lvl4pPr>
            <a:lvl5pPr>
              <a:defRPr sz="1875" b="0">
                <a:solidFill>
                  <a:srgbClr val="B9CEC7"/>
                </a:solidFill>
                <a:latin typeface="Calibri"/>
                <a:ea typeface="Calibri"/>
                <a:cs typeface="Calibri"/>
              </a:defRPr>
            </a:lvl5pPr>
            <a:lvl6pPr>
              <a:defRPr sz="1875" b="0">
                <a:solidFill>
                  <a:srgbClr val="B9CEC7"/>
                </a:solidFill>
                <a:latin typeface="Calibri"/>
                <a:ea typeface="Calibri"/>
                <a:cs typeface="Calibri"/>
              </a:defRPr>
            </a:lvl6pPr>
            <a:lvl7pPr>
              <a:defRPr sz="1875" b="0">
                <a:solidFill>
                  <a:srgbClr val="B9CEC7"/>
                </a:solidFill>
                <a:latin typeface="Calibri"/>
                <a:ea typeface="Calibri"/>
                <a:cs typeface="Calibri"/>
              </a:defRPr>
            </a:lvl7pPr>
            <a:lvl8pPr>
              <a:defRPr sz="1875" b="0">
                <a:solidFill>
                  <a:srgbClr val="B9CEC7"/>
                </a:solidFill>
                <a:latin typeface="Calibri"/>
                <a:ea typeface="Calibri"/>
                <a:cs typeface="Calibri"/>
              </a:defRPr>
            </a:lvl8pPr>
            <a:lvl9pPr>
              <a:defRPr sz="1875" b="0">
                <a:solidFill>
                  <a:srgbClr val="B9CEC7"/>
                </a:solidFill>
                <a:latin typeface="Calibri"/>
                <a:ea typeface="Calibri"/>
                <a:cs typeface="Calibri"/>
              </a:defRPr>
            </a:lvl9pPr>
          </a:lstStyle>
          <a:p xmlns:a="http://schemas.openxmlformats.org/drawingml/2006/main">
            <a:pPr>
              <a:defRPr sz="1875" b="0">
                <a:solidFill>
                  <a:srgbClr val="B9CEC7"/>
                </a:solidFill>
                <a:latin typeface="Calibri"/>
                <a:ea typeface="Calibri"/>
                <a:cs typeface="Calibri"/>
              </a:defRPr>
            </a:pPr>
            <a:r>
              <a:rPr sz="1875" b="0">
                <a:solidFill>
                  <a:srgbClr val="B9CEC7"/>
                </a:solidFill>
                <a:latin typeface="Calibri"/>
                <a:ea typeface="Calibri"/>
                <a:cs typeface="Calibri"/>
              </a:rPr>
              <a:t>Per monthly subscription, assuming a referral fee on every order</a:t>
            </a:r>
          </a:p>
        </p:txBody>
      </p:sp>
      <p:graphicFrame>
        <p:nvGraphicFramePr>
          <p:cNvPr id="6" name="">
            <a:extLst xmlns:a="http://schemas.openxmlformats.org/drawingml/2006/main">
              <a:ext uri="{FF2B5EF4-FFF2-40B4-BE49-F238E27FC236}">
                <a16:creationId xmlns:a16="http://schemas.microsoft.com/office/drawing/2014/main" id="{73EF4DB8-9B51-4649-899D-4DCA8F931FC2}"/>
              </a:ext>
            </a:extLst>
          </p:cNvPr>
          <p:cNvGraphicFramePr/>
          <p:nvPr/>
        </p:nvGraphicFramePr>
        <p:xfrm>
          <a:off xmlns:a="http://schemas.openxmlformats.org/drawingml/2006/main" x="609600" y="2324100"/>
          <a:ext xmlns:a="http://schemas.openxmlformats.org/drawingml/2006/main" cx="7239000" cy="2857500"/>
        </p:xfrm>
        <a:graphic xmlns:a="http://schemas.openxmlformats.org/drawingml/2006/main">
          <a:graphicData uri="http://schemas.openxmlformats.org/drawingml/2006/table">
            <a:tbl>
              <a:tblPr/>
              <a:tblGrid>
                <a:gridCol w="5191125"/>
                <a:gridCol w="2047875"/>
              </a:tblGrid>
              <a:tr h="571500">
                <a:tc>
                  <a:txBody>
                    <a:bodyPr/>
                    <a:lstStyle/>
                    <a:p>
                      <a:r>
                        <a:rPr sz="1350" b="1">
                          <a:solidFill>
                            <a:srgbClr val="F5F0E7"/>
                          </a:solidFill>
                        </a:rPr>
                        <a:t>ITEM</a:t>
                      </a:r>
                    </a:p>
                  </a:txBody>
                  <a:tcPr marL="91440" marR="91440" marT="45720" marB="45720">
                    <a:lnL w="6668">
                      <a:solidFill>
                        <a:srgbClr val="3E6268"/>
                      </a:solidFill>
                    </a:lnL>
                    <a:lnR w="6668">
                      <a:solidFill>
                        <a:srgbClr val="3E6268"/>
                      </a:solidFill>
                    </a:lnR>
                    <a:lnT w="6668">
                      <a:solidFill>
                        <a:srgbClr val="3E6268"/>
                      </a:solidFill>
                    </a:lnT>
                    <a:lnB w="6668">
                      <a:solidFill>
                        <a:srgbClr val="3E6268"/>
                      </a:solidFill>
                    </a:lnB>
                    <a:solidFill>
                      <a:srgbClr val="073F48"/>
                    </a:solidFill>
                  </a:tcPr>
                </a:tc>
                <a:tc>
                  <a:txBody>
                    <a:bodyPr/>
                    <a:lstStyle/>
                    <a:p>
                      <a:r>
                        <a:rPr sz="1350" b="1">
                          <a:solidFill>
                            <a:srgbClr val="F5F0E7"/>
                          </a:solidFill>
                        </a:rPr>
                        <a:t>PER SUBSCRIPTION</a:t>
                      </a:r>
                    </a:p>
                  </a:txBody>
                  <a:tcPr marL="91440" marR="91440" marT="45720" marB="45720">
                    <a:lnR w="6668">
                      <a:solidFill>
                        <a:srgbClr val="3E6268"/>
                      </a:solidFill>
                    </a:lnR>
                    <a:lnT w="6668">
                      <a:solidFill>
                        <a:srgbClr val="3E6268"/>
                      </a:solidFill>
                    </a:lnT>
                    <a:lnB w="6668">
                      <a:solidFill>
                        <a:srgbClr val="3E6268"/>
                      </a:solidFill>
                    </a:lnB>
                    <a:solidFill>
                      <a:srgbClr val="073F48"/>
                    </a:solidFill>
                  </a:tcPr>
                </a:tc>
              </a:tr>
              <a:tr h="571500">
                <a:tc>
                  <a:txBody>
                    <a:bodyPr/>
                    <a:lstStyle/>
                    <a:p>
                      <a:r>
                        <a:rPr sz="1875" b="0">
                          <a:solidFill>
                            <a:srgbClr val="F5F0E7"/>
                          </a:solidFill>
                        </a:rPr>
                        <a:t>Subscription revenue</a:t>
                      </a:r>
                    </a:p>
                  </a:txBody>
                  <a:tcPr marL="91440" marR="91440" marT="45720" marB="45720">
                    <a:lnL w="6668">
                      <a:solidFill>
                        <a:srgbClr val="3E6268"/>
                      </a:solidFill>
                    </a:lnL>
                    <a:lnR w="6668">
                      <a:solidFill>
                        <a:srgbClr val="3E6268"/>
                      </a:solidFill>
                    </a:lnR>
                    <a:lnB w="6668">
                      <a:solidFill>
                        <a:srgbClr val="3E6268"/>
                      </a:solidFill>
                    </a:lnB>
                    <a:solidFill>
                      <a:srgbClr val="073F48"/>
                    </a:solidFill>
                  </a:tcPr>
                </a:tc>
                <a:tc>
                  <a:txBody>
                    <a:bodyPr/>
                    <a:lstStyle/>
                    <a:p>
                      <a:r>
                        <a:rPr sz="1875" b="0">
                          <a:solidFill>
                            <a:srgbClr val="F5F0E7"/>
                          </a:solidFill>
                        </a:rPr>
                        <a:t>$39.99</a:t>
                      </a:r>
                    </a:p>
                  </a:txBody>
                  <a:tcPr marL="91440" marR="91440" marT="45720" marB="45720">
                    <a:lnR w="6668">
                      <a:solidFill>
                        <a:srgbClr val="3E6268"/>
                      </a:solidFill>
                    </a:lnR>
                    <a:lnB w="6668">
                      <a:solidFill>
                        <a:srgbClr val="3E6268"/>
                      </a:solidFill>
                    </a:lnB>
                    <a:solidFill>
                      <a:srgbClr val="073F48"/>
                    </a:solidFill>
                  </a:tcPr>
                </a:tc>
              </a:tr>
              <a:tr h="571500">
                <a:tc>
                  <a:txBody>
                    <a:bodyPr/>
                    <a:lstStyle/>
                    <a:p>
                      <a:r>
                        <a:rPr sz="1875" b="0">
                          <a:solidFill>
                            <a:srgbClr val="F5F0E7"/>
                          </a:solidFill>
                        </a:rPr>
                        <a:t>Estimated product cost</a:t>
                      </a:r>
                    </a:p>
                  </a:txBody>
                  <a:tcPr marL="91440" marR="91440" marT="45720" marB="45720">
                    <a:lnL w="6668">
                      <a:solidFill>
                        <a:srgbClr val="3E6268"/>
                      </a:solidFill>
                    </a:lnL>
                    <a:lnR w="6668">
                      <a:solidFill>
                        <a:srgbClr val="3E6268"/>
                      </a:solidFill>
                    </a:lnR>
                    <a:lnB w="6668">
                      <a:solidFill>
                        <a:srgbClr val="3E6268"/>
                      </a:solidFill>
                    </a:lnB>
                    <a:solidFill>
                      <a:srgbClr val="073F48"/>
                    </a:solidFill>
                  </a:tcPr>
                </a:tc>
                <a:tc>
                  <a:txBody>
                    <a:bodyPr/>
                    <a:lstStyle/>
                    <a:p>
                      <a:r>
                        <a:rPr sz="1875" b="0">
                          <a:solidFill>
                            <a:srgbClr val="F5F0E7"/>
                          </a:solidFill>
                        </a:rPr>
                        <a:t>($2.00)</a:t>
                      </a:r>
                    </a:p>
                  </a:txBody>
                  <a:tcPr marL="91440" marR="91440" marT="45720" marB="45720">
                    <a:lnR w="6668">
                      <a:solidFill>
                        <a:srgbClr val="3E6268"/>
                      </a:solidFill>
                    </a:lnR>
                    <a:lnB w="6668">
                      <a:solidFill>
                        <a:srgbClr val="3E6268"/>
                      </a:solidFill>
                    </a:lnB>
                    <a:solidFill>
                      <a:srgbClr val="073F48"/>
                    </a:solidFill>
                  </a:tcPr>
                </a:tc>
              </a:tr>
              <a:tr h="571500">
                <a:tc>
                  <a:txBody>
                    <a:bodyPr/>
                    <a:lstStyle/>
                    <a:p>
                      <a:r>
                        <a:rPr sz="1875" b="0">
                          <a:solidFill>
                            <a:srgbClr val="F5F0E7"/>
                          </a:solidFill>
                        </a:rPr>
                        <a:t>Referral fee at 20%</a:t>
                      </a:r>
                    </a:p>
                  </a:txBody>
                  <a:tcPr marL="91440" marR="91440" marT="45720" marB="45720">
                    <a:lnL w="6668">
                      <a:solidFill>
                        <a:srgbClr val="3E6268"/>
                      </a:solidFill>
                    </a:lnL>
                    <a:lnR w="6668">
                      <a:solidFill>
                        <a:srgbClr val="3E6268"/>
                      </a:solidFill>
                    </a:lnR>
                    <a:lnB w="6668">
                      <a:solidFill>
                        <a:srgbClr val="3E6268"/>
                      </a:solidFill>
                    </a:lnB>
                    <a:solidFill>
                      <a:srgbClr val="073F48"/>
                    </a:solidFill>
                  </a:tcPr>
                </a:tc>
                <a:tc>
                  <a:txBody>
                    <a:bodyPr/>
                    <a:lstStyle/>
                    <a:p>
                      <a:r>
                        <a:rPr sz="1875" b="0">
                          <a:solidFill>
                            <a:srgbClr val="F5F0E7"/>
                          </a:solidFill>
                        </a:rPr>
                        <a:t>($8.00)</a:t>
                      </a:r>
                    </a:p>
                  </a:txBody>
                  <a:tcPr marL="91440" marR="91440" marT="45720" marB="45720">
                    <a:lnR w="6668">
                      <a:solidFill>
                        <a:srgbClr val="3E6268"/>
                      </a:solidFill>
                    </a:lnR>
                    <a:lnB w="6668">
                      <a:solidFill>
                        <a:srgbClr val="3E6268"/>
                      </a:solidFill>
                    </a:lnB>
                    <a:solidFill>
                      <a:srgbClr val="073F48"/>
                    </a:solidFill>
                  </a:tcPr>
                </a:tc>
              </a:tr>
              <a:tr h="571500">
                <a:tc>
                  <a:txBody>
                    <a:bodyPr/>
                    <a:lstStyle/>
                    <a:p>
                      <a:r>
                        <a:rPr sz="1875" b="0">
                          <a:solidFill>
                            <a:srgbClr val="F5F0E7"/>
                          </a:solidFill>
                        </a:rPr>
                        <a:t>Gross contribution before other costs</a:t>
                      </a:r>
                    </a:p>
                  </a:txBody>
                  <a:tcPr marL="91440" marR="91440" marT="45720" marB="45720">
                    <a:lnL w="6668">
                      <a:solidFill>
                        <a:srgbClr val="3E6268"/>
                      </a:solidFill>
                    </a:lnL>
                    <a:lnR w="6668">
                      <a:solidFill>
                        <a:srgbClr val="3E6268"/>
                      </a:solidFill>
                    </a:lnR>
                    <a:lnB w="6668">
                      <a:solidFill>
                        <a:srgbClr val="3E6268"/>
                      </a:solidFill>
                    </a:lnB>
                    <a:solidFill>
                      <a:srgbClr val="073F48"/>
                    </a:solidFill>
                  </a:tcPr>
                </a:tc>
                <a:tc>
                  <a:txBody>
                    <a:bodyPr/>
                    <a:lstStyle/>
                    <a:p>
                      <a:r>
                        <a:rPr sz="1875" b="0">
                          <a:solidFill>
                            <a:srgbClr val="F5F0E7"/>
                          </a:solidFill>
                        </a:rPr>
                        <a:t>$29.99</a:t>
                      </a:r>
                    </a:p>
                  </a:txBody>
                  <a:tcPr marL="91440" marR="91440" marT="45720" marB="45720">
                    <a:lnR w="6668">
                      <a:solidFill>
                        <a:srgbClr val="3E6268"/>
                      </a:solidFill>
                    </a:lnR>
                    <a:lnB w="6668">
                      <a:solidFill>
                        <a:srgbClr val="3E6268"/>
                      </a:solidFill>
                    </a:lnB>
                    <a:solidFill>
                      <a:srgbClr val="073F48"/>
                    </a:solidFill>
                  </a:tcPr>
                </a:tc>
              </a:tr>
            </a:tbl>
          </a:graphicData>
        </a:graphic>
      </p:graphicFrame>
      <p:sp>
        <p:nvSpPr>
          <p:cNvPr id="7" name="75.0%">
            <a:extLst xmlns:a="http://schemas.openxmlformats.org/drawingml/2006/main">
              <a:ext uri="{FF2B5EF4-FFF2-40B4-BE49-F238E27FC236}">
                <a16:creationId xmlns:a16="http://schemas.microsoft.com/office/drawing/2014/main" id="{8B2DBE13-A680-4DFB-A208-276575839C00}"/>
              </a:ext>
            </a:extLst>
          </p:cNvPr>
          <p:cNvSpPr>
            <a:spLocks xmlns:a="http://schemas.openxmlformats.org/drawingml/2006/main" noGrp="1"/>
          </p:cNvSpPr>
          <p:nvPr/>
        </p:nvSpPr>
        <p:spPr>
          <a:xfrm xmlns:a="http://schemas.openxmlformats.org/drawingml/2006/main">
            <a:off x="8620125" y="25908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950" b="0">
                <a:solidFill>
                  <a:srgbClr val="BF9A50"/>
                </a:solidFill>
                <a:latin typeface="Calibri"/>
                <a:ea typeface="Calibri"/>
                <a:cs typeface="Calibri"/>
              </a:defRPr>
            </a:defPPr>
            <a:lvl1pPr>
              <a:defRPr sz="4950" b="0">
                <a:solidFill>
                  <a:srgbClr val="BF9A50"/>
                </a:solidFill>
                <a:latin typeface="Calibri"/>
                <a:ea typeface="Calibri"/>
                <a:cs typeface="Calibri"/>
              </a:defRPr>
            </a:lvl1pPr>
            <a:lvl2pPr>
              <a:defRPr sz="4950" b="0">
                <a:solidFill>
                  <a:srgbClr val="BF9A50"/>
                </a:solidFill>
                <a:latin typeface="Calibri"/>
                <a:ea typeface="Calibri"/>
                <a:cs typeface="Calibri"/>
              </a:defRPr>
            </a:lvl2pPr>
            <a:lvl3pPr>
              <a:defRPr sz="4950" b="0">
                <a:solidFill>
                  <a:srgbClr val="BF9A50"/>
                </a:solidFill>
                <a:latin typeface="Calibri"/>
                <a:ea typeface="Calibri"/>
                <a:cs typeface="Calibri"/>
              </a:defRPr>
            </a:lvl3pPr>
            <a:lvl4pPr>
              <a:defRPr sz="4950" b="0">
                <a:solidFill>
                  <a:srgbClr val="BF9A50"/>
                </a:solidFill>
                <a:latin typeface="Calibri"/>
                <a:ea typeface="Calibri"/>
                <a:cs typeface="Calibri"/>
              </a:defRPr>
            </a:lvl4pPr>
            <a:lvl5pPr>
              <a:defRPr sz="4950" b="0">
                <a:solidFill>
                  <a:srgbClr val="BF9A50"/>
                </a:solidFill>
                <a:latin typeface="Calibri"/>
                <a:ea typeface="Calibri"/>
                <a:cs typeface="Calibri"/>
              </a:defRPr>
            </a:lvl5pPr>
            <a:lvl6pPr>
              <a:defRPr sz="4950" b="0">
                <a:solidFill>
                  <a:srgbClr val="BF9A50"/>
                </a:solidFill>
                <a:latin typeface="Calibri"/>
                <a:ea typeface="Calibri"/>
                <a:cs typeface="Calibri"/>
              </a:defRPr>
            </a:lvl6pPr>
            <a:lvl7pPr>
              <a:defRPr sz="4950" b="0">
                <a:solidFill>
                  <a:srgbClr val="BF9A50"/>
                </a:solidFill>
                <a:latin typeface="Calibri"/>
                <a:ea typeface="Calibri"/>
                <a:cs typeface="Calibri"/>
              </a:defRPr>
            </a:lvl7pPr>
            <a:lvl8pPr>
              <a:defRPr sz="4950" b="0">
                <a:solidFill>
                  <a:srgbClr val="BF9A50"/>
                </a:solidFill>
                <a:latin typeface="Calibri"/>
                <a:ea typeface="Calibri"/>
                <a:cs typeface="Calibri"/>
              </a:defRPr>
            </a:lvl8pPr>
            <a:lvl9pPr>
              <a:defRPr sz="4950" b="0">
                <a:solidFill>
                  <a:srgbClr val="BF9A50"/>
                </a:solidFill>
                <a:latin typeface="Calibri"/>
                <a:ea typeface="Calibri"/>
                <a:cs typeface="Calibri"/>
              </a:defRPr>
            </a:lvl9pPr>
          </a:lstStyle>
          <a:p xmlns:a="http://schemas.openxmlformats.org/drawingml/2006/main">
            <a:pPr>
              <a:defRPr sz="4950" b="0">
                <a:solidFill>
                  <a:srgbClr val="BF9A50"/>
                </a:solidFill>
                <a:latin typeface="Calibri"/>
                <a:ea typeface="Calibri"/>
                <a:cs typeface="Calibri"/>
              </a:defRPr>
            </a:pPr>
            <a:r>
              <a:rPr sz="4950" b="0">
                <a:solidFill>
                  <a:srgbClr val="BF9A50"/>
                </a:solidFill>
                <a:latin typeface="Calibri"/>
                <a:ea typeface="Calibri"/>
                <a:cs typeface="Calibri"/>
              </a:rPr>
              <a:t>75.0%</a:t>
            </a:r>
          </a:p>
        </p:txBody>
      </p:sp>
      <p:sp>
        <p:nvSpPr>
          <p:cNvPr id="8" name="Gross contribution&#10;as a share of revenue">
            <a:extLst xmlns:a="http://schemas.openxmlformats.org/drawingml/2006/main">
              <a:ext uri="{FF2B5EF4-FFF2-40B4-BE49-F238E27FC236}">
                <a16:creationId xmlns:a16="http://schemas.microsoft.com/office/drawing/2014/main" id="{188A116A-287D-4974-B3DF-34BE2F65B0AB}"/>
              </a:ext>
            </a:extLst>
          </p:cNvPr>
          <p:cNvSpPr>
            <a:spLocks xmlns:a="http://schemas.openxmlformats.org/drawingml/2006/main" noGrp="1"/>
          </p:cNvSpPr>
          <p:nvPr/>
        </p:nvSpPr>
        <p:spPr>
          <a:xfrm xmlns:a="http://schemas.openxmlformats.org/drawingml/2006/main">
            <a:off x="8620125" y="3695700"/>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CEC7"/>
                </a:solidFill>
                <a:latin typeface="Calibri"/>
                <a:ea typeface="Calibri"/>
                <a:cs typeface="Calibri"/>
              </a:defRPr>
            </a:defPPr>
            <a:lvl1pPr>
              <a:defRPr sz="1875" b="0">
                <a:solidFill>
                  <a:srgbClr val="B9CEC7"/>
                </a:solidFill>
                <a:latin typeface="Calibri"/>
                <a:ea typeface="Calibri"/>
                <a:cs typeface="Calibri"/>
              </a:defRPr>
            </a:lvl1pPr>
            <a:lvl2pPr>
              <a:defRPr sz="1875" b="0">
                <a:solidFill>
                  <a:srgbClr val="B9CEC7"/>
                </a:solidFill>
                <a:latin typeface="Calibri"/>
                <a:ea typeface="Calibri"/>
                <a:cs typeface="Calibri"/>
              </a:defRPr>
            </a:lvl2pPr>
            <a:lvl3pPr>
              <a:defRPr sz="1875" b="0">
                <a:solidFill>
                  <a:srgbClr val="B9CEC7"/>
                </a:solidFill>
                <a:latin typeface="Calibri"/>
                <a:ea typeface="Calibri"/>
                <a:cs typeface="Calibri"/>
              </a:defRPr>
            </a:lvl3pPr>
            <a:lvl4pPr>
              <a:defRPr sz="1875" b="0">
                <a:solidFill>
                  <a:srgbClr val="B9CEC7"/>
                </a:solidFill>
                <a:latin typeface="Calibri"/>
                <a:ea typeface="Calibri"/>
                <a:cs typeface="Calibri"/>
              </a:defRPr>
            </a:lvl4pPr>
            <a:lvl5pPr>
              <a:defRPr sz="1875" b="0">
                <a:solidFill>
                  <a:srgbClr val="B9CEC7"/>
                </a:solidFill>
                <a:latin typeface="Calibri"/>
                <a:ea typeface="Calibri"/>
                <a:cs typeface="Calibri"/>
              </a:defRPr>
            </a:lvl5pPr>
            <a:lvl6pPr>
              <a:defRPr sz="1875" b="0">
                <a:solidFill>
                  <a:srgbClr val="B9CEC7"/>
                </a:solidFill>
                <a:latin typeface="Calibri"/>
                <a:ea typeface="Calibri"/>
                <a:cs typeface="Calibri"/>
              </a:defRPr>
            </a:lvl6pPr>
            <a:lvl7pPr>
              <a:defRPr sz="1875" b="0">
                <a:solidFill>
                  <a:srgbClr val="B9CEC7"/>
                </a:solidFill>
                <a:latin typeface="Calibri"/>
                <a:ea typeface="Calibri"/>
                <a:cs typeface="Calibri"/>
              </a:defRPr>
            </a:lvl7pPr>
            <a:lvl8pPr>
              <a:defRPr sz="1875" b="0">
                <a:solidFill>
                  <a:srgbClr val="B9CEC7"/>
                </a:solidFill>
                <a:latin typeface="Calibri"/>
                <a:ea typeface="Calibri"/>
                <a:cs typeface="Calibri"/>
              </a:defRPr>
            </a:lvl8pPr>
            <a:lvl9pPr>
              <a:defRPr sz="1875" b="0">
                <a:solidFill>
                  <a:srgbClr val="B9CEC7"/>
                </a:solidFill>
                <a:latin typeface="Calibri"/>
                <a:ea typeface="Calibri"/>
                <a:cs typeface="Calibri"/>
              </a:defRPr>
            </a:lvl9pPr>
          </a:lstStyle>
          <a:p xmlns:a="http://schemas.openxmlformats.org/drawingml/2006/main">
            <a:pPr>
              <a:defRPr sz="1875" b="0">
                <a:solidFill>
                  <a:srgbClr val="B9CEC7"/>
                </a:solidFill>
                <a:latin typeface="Calibri"/>
                <a:ea typeface="Calibri"/>
                <a:cs typeface="Calibri"/>
              </a:defRPr>
            </a:pPr>
            <a:r>
              <a:rPr sz="1875" b="0">
                <a:solidFill>
                  <a:srgbClr val="B9CEC7"/>
                </a:solidFill>
                <a:latin typeface="Calibri"/>
                <a:ea typeface="Calibri"/>
                <a:cs typeface="Calibri"/>
              </a:rPr>
              <a:t>Gross contribution</a:t>
            </a:r>
          </a:p>
          <a:p xmlns:a="http://schemas.openxmlformats.org/drawingml/2006/main">
            <a:pPr>
              <a:defRPr sz="1875" b="0">
                <a:solidFill>
                  <a:srgbClr val="B9CEC7"/>
                </a:solidFill>
                <a:latin typeface="Calibri"/>
                <a:ea typeface="Calibri"/>
                <a:cs typeface="Calibri"/>
              </a:defRPr>
            </a:pPr>
            <a:r>
              <a:rPr sz="1875" b="0">
                <a:solidFill>
                  <a:srgbClr val="B9CEC7"/>
                </a:solidFill>
                <a:latin typeface="Calibri"/>
                <a:ea typeface="Calibri"/>
                <a:cs typeface="Calibri"/>
              </a:rPr>
              <a:t>as a share of revenue</a:t>
            </a:r>
          </a:p>
        </p:txBody>
      </p:sp>
      <p:sp>
        <p:nvSpPr>
          <p:cNvPr id="9" name="Management assumptions. Excludes shipping, fu">
            <a:extLst xmlns:a="http://schemas.openxmlformats.org/drawingml/2006/main">
              <a:ext uri="{FF2B5EF4-FFF2-40B4-BE49-F238E27FC236}">
                <a16:creationId xmlns:a16="http://schemas.microsoft.com/office/drawing/2014/main" id="{57E4B7F1-CE9B-423E-A794-42CF5F590241}"/>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B9CEC7"/>
                </a:solidFill>
                <a:latin typeface="Calibri"/>
                <a:ea typeface="Calibri"/>
                <a:cs typeface="Calibri"/>
              </a:defRPr>
            </a:defPPr>
            <a:lvl1pPr>
              <a:defRPr sz="1275" b="0">
                <a:solidFill>
                  <a:srgbClr val="B9CEC7"/>
                </a:solidFill>
                <a:latin typeface="Calibri"/>
                <a:ea typeface="Calibri"/>
                <a:cs typeface="Calibri"/>
              </a:defRPr>
            </a:lvl1pPr>
            <a:lvl2pPr>
              <a:defRPr sz="1275" b="0">
                <a:solidFill>
                  <a:srgbClr val="B9CEC7"/>
                </a:solidFill>
                <a:latin typeface="Calibri"/>
                <a:ea typeface="Calibri"/>
                <a:cs typeface="Calibri"/>
              </a:defRPr>
            </a:lvl2pPr>
            <a:lvl3pPr>
              <a:defRPr sz="1275" b="0">
                <a:solidFill>
                  <a:srgbClr val="B9CEC7"/>
                </a:solidFill>
                <a:latin typeface="Calibri"/>
                <a:ea typeface="Calibri"/>
                <a:cs typeface="Calibri"/>
              </a:defRPr>
            </a:lvl3pPr>
            <a:lvl4pPr>
              <a:defRPr sz="1275" b="0">
                <a:solidFill>
                  <a:srgbClr val="B9CEC7"/>
                </a:solidFill>
                <a:latin typeface="Calibri"/>
                <a:ea typeface="Calibri"/>
                <a:cs typeface="Calibri"/>
              </a:defRPr>
            </a:lvl4pPr>
            <a:lvl5pPr>
              <a:defRPr sz="1275" b="0">
                <a:solidFill>
                  <a:srgbClr val="B9CEC7"/>
                </a:solidFill>
                <a:latin typeface="Calibri"/>
                <a:ea typeface="Calibri"/>
                <a:cs typeface="Calibri"/>
              </a:defRPr>
            </a:lvl5pPr>
            <a:lvl6pPr>
              <a:defRPr sz="1275" b="0">
                <a:solidFill>
                  <a:srgbClr val="B9CEC7"/>
                </a:solidFill>
                <a:latin typeface="Calibri"/>
                <a:ea typeface="Calibri"/>
                <a:cs typeface="Calibri"/>
              </a:defRPr>
            </a:lvl6pPr>
            <a:lvl7pPr>
              <a:defRPr sz="1275" b="0">
                <a:solidFill>
                  <a:srgbClr val="B9CEC7"/>
                </a:solidFill>
                <a:latin typeface="Calibri"/>
                <a:ea typeface="Calibri"/>
                <a:cs typeface="Calibri"/>
              </a:defRPr>
            </a:lvl7pPr>
            <a:lvl8pPr>
              <a:defRPr sz="1275" b="0">
                <a:solidFill>
                  <a:srgbClr val="B9CEC7"/>
                </a:solidFill>
                <a:latin typeface="Calibri"/>
                <a:ea typeface="Calibri"/>
                <a:cs typeface="Calibri"/>
              </a:defRPr>
            </a:lvl8pPr>
            <a:lvl9pPr>
              <a:defRPr sz="1275" b="0">
                <a:solidFill>
                  <a:srgbClr val="B9CEC7"/>
                </a:solidFill>
                <a:latin typeface="Calibri"/>
                <a:ea typeface="Calibri"/>
                <a:cs typeface="Calibri"/>
              </a:defRPr>
            </a:lvl9pPr>
          </a:lstStyle>
          <a:p xmlns:a="http://schemas.openxmlformats.org/drawingml/2006/main">
            <a:pPr>
              <a:defRPr sz="1275" b="0">
                <a:solidFill>
                  <a:srgbClr val="B9CEC7"/>
                </a:solidFill>
                <a:latin typeface="Calibri"/>
                <a:ea typeface="Calibri"/>
                <a:cs typeface="Calibri"/>
              </a:defRPr>
            </a:pPr>
            <a:r>
              <a:rPr sz="1275" b="0">
                <a:solidFill>
                  <a:srgbClr val="B9CEC7"/>
                </a:solidFill>
                <a:latin typeface="Calibri"/>
                <a:ea typeface="Calibri"/>
                <a:cs typeface="Calibri"/>
              </a:rPr>
              <a:t>Management assumptions. Excludes shipping, fulfillment, payments, paid media, support, compliance, returns, taxes and overhead. Figures rounded. Gross contribution is not profit.</a:t>
            </a:r>
          </a:p>
        </p:txBody>
      </p:sp>
    </p:spTree>
    <p:extLst>
      <p:ext uri="{BB962C8B-B14F-4D97-AF65-F5344CB8AC3E}">
        <p14:creationId xmlns:p14="http://schemas.microsoft.com/office/powerpoint/2010/main" val="1577475824"/>
      </p:ext>
    </p:extLst>
  </p:cSld>
</p:sld>
</file>

<file path=ppt/slides/slide9.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 name="Subscription growth scenarios">
            <a:extLst xmlns:a="http://schemas.openxmlformats.org/drawingml/2006/main">
              <a:ext uri="{FF2B5EF4-FFF2-40B4-BE49-F238E27FC236}">
                <a16:creationId xmlns:a16="http://schemas.microsoft.com/office/drawing/2014/main" id="{EE346F9F-BE49-417A-88DF-77BEBFA8BAB7}"/>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73F48"/>
                </a:solidFill>
                <a:latin typeface="Calibri"/>
                <a:ea typeface="Calibri"/>
                <a:cs typeface="Calibri"/>
              </a:defRPr>
            </a:defPPr>
            <a:lvl1pPr>
              <a:defRPr sz="3300" b="0">
                <a:solidFill>
                  <a:srgbClr val="073F48"/>
                </a:solidFill>
                <a:latin typeface="Calibri"/>
                <a:ea typeface="Calibri"/>
                <a:cs typeface="Calibri"/>
              </a:defRPr>
            </a:lvl1pPr>
            <a:lvl2pPr>
              <a:defRPr sz="3300" b="0">
                <a:solidFill>
                  <a:srgbClr val="073F48"/>
                </a:solidFill>
                <a:latin typeface="Calibri"/>
                <a:ea typeface="Calibri"/>
                <a:cs typeface="Calibri"/>
              </a:defRPr>
            </a:lvl2pPr>
            <a:lvl3pPr>
              <a:defRPr sz="3300" b="0">
                <a:solidFill>
                  <a:srgbClr val="073F48"/>
                </a:solidFill>
                <a:latin typeface="Calibri"/>
                <a:ea typeface="Calibri"/>
                <a:cs typeface="Calibri"/>
              </a:defRPr>
            </a:lvl3pPr>
            <a:lvl4pPr>
              <a:defRPr sz="3300" b="0">
                <a:solidFill>
                  <a:srgbClr val="073F48"/>
                </a:solidFill>
                <a:latin typeface="Calibri"/>
                <a:ea typeface="Calibri"/>
                <a:cs typeface="Calibri"/>
              </a:defRPr>
            </a:lvl4pPr>
            <a:lvl5pPr>
              <a:defRPr sz="3300" b="0">
                <a:solidFill>
                  <a:srgbClr val="073F48"/>
                </a:solidFill>
                <a:latin typeface="Calibri"/>
                <a:ea typeface="Calibri"/>
                <a:cs typeface="Calibri"/>
              </a:defRPr>
            </a:lvl5pPr>
            <a:lvl6pPr>
              <a:defRPr sz="3300" b="0">
                <a:solidFill>
                  <a:srgbClr val="073F48"/>
                </a:solidFill>
                <a:latin typeface="Calibri"/>
                <a:ea typeface="Calibri"/>
                <a:cs typeface="Calibri"/>
              </a:defRPr>
            </a:lvl6pPr>
            <a:lvl7pPr>
              <a:defRPr sz="3300" b="0">
                <a:solidFill>
                  <a:srgbClr val="073F48"/>
                </a:solidFill>
                <a:latin typeface="Calibri"/>
                <a:ea typeface="Calibri"/>
                <a:cs typeface="Calibri"/>
              </a:defRPr>
            </a:lvl7pPr>
            <a:lvl8pPr>
              <a:defRPr sz="3300" b="0">
                <a:solidFill>
                  <a:srgbClr val="073F48"/>
                </a:solidFill>
                <a:latin typeface="Calibri"/>
                <a:ea typeface="Calibri"/>
                <a:cs typeface="Calibri"/>
              </a:defRPr>
            </a:lvl8pPr>
            <a:lvl9pPr>
              <a:defRPr sz="3300" b="0">
                <a:solidFill>
                  <a:srgbClr val="073F48"/>
                </a:solidFill>
                <a:latin typeface="Calibri"/>
                <a:ea typeface="Calibri"/>
                <a:cs typeface="Calibri"/>
              </a:defRPr>
            </a:lvl9pPr>
          </a:lstStyle>
          <a:p xmlns:a="http://schemas.openxmlformats.org/drawingml/2006/main">
            <a:pPr>
              <a:defRPr sz="3300" b="0">
                <a:solidFill>
                  <a:srgbClr val="073F48"/>
                </a:solidFill>
                <a:latin typeface="Calibri"/>
                <a:ea typeface="Calibri"/>
                <a:cs typeface="Calibri"/>
              </a:defRPr>
            </a:pPr>
            <a:r>
              <a:rPr sz="3300" b="0">
                <a:solidFill>
                  <a:srgbClr val="073F48"/>
                </a:solidFill>
                <a:latin typeface="Calibri"/>
                <a:ea typeface="Calibri"/>
                <a:cs typeface="Calibri"/>
              </a:rPr>
              <a:t>Subscription growth scenarios</a:t>
            </a:r>
          </a:p>
        </p:txBody>
      </p:sp>
      <p:sp>
        <p:nvSpPr>
          <p:cNvPr id="3" name="AURA PATCH  /  CONFIDENTIAL  /  OCTOBER 2026">
            <a:extLst xmlns:a="http://schemas.openxmlformats.org/drawingml/2006/main">
              <a:ext uri="{FF2B5EF4-FFF2-40B4-BE49-F238E27FC236}">
                <a16:creationId xmlns:a16="http://schemas.microsoft.com/office/drawing/2014/main" id="{2EC68B47-9E55-4DCA-89C5-5E447D62F1FC}"/>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567371"/>
                </a:solidFill>
                <a:latin typeface="Calibri"/>
                <a:ea typeface="Calibri"/>
                <a:cs typeface="Calibri"/>
              </a:defRPr>
            </a:defPPr>
            <a:lvl1pPr>
              <a:defRPr sz="900" b="0">
                <a:solidFill>
                  <a:srgbClr val="567371"/>
                </a:solidFill>
                <a:latin typeface="Calibri"/>
                <a:ea typeface="Calibri"/>
                <a:cs typeface="Calibri"/>
              </a:defRPr>
            </a:lvl1pPr>
            <a:lvl2pPr>
              <a:defRPr sz="900" b="0">
                <a:solidFill>
                  <a:srgbClr val="567371"/>
                </a:solidFill>
                <a:latin typeface="Calibri"/>
                <a:ea typeface="Calibri"/>
                <a:cs typeface="Calibri"/>
              </a:defRPr>
            </a:lvl2pPr>
            <a:lvl3pPr>
              <a:defRPr sz="900" b="0">
                <a:solidFill>
                  <a:srgbClr val="567371"/>
                </a:solidFill>
                <a:latin typeface="Calibri"/>
                <a:ea typeface="Calibri"/>
                <a:cs typeface="Calibri"/>
              </a:defRPr>
            </a:lvl3pPr>
            <a:lvl4pPr>
              <a:defRPr sz="900" b="0">
                <a:solidFill>
                  <a:srgbClr val="567371"/>
                </a:solidFill>
                <a:latin typeface="Calibri"/>
                <a:ea typeface="Calibri"/>
                <a:cs typeface="Calibri"/>
              </a:defRPr>
            </a:lvl4pPr>
            <a:lvl5pPr>
              <a:defRPr sz="900" b="0">
                <a:solidFill>
                  <a:srgbClr val="567371"/>
                </a:solidFill>
                <a:latin typeface="Calibri"/>
                <a:ea typeface="Calibri"/>
                <a:cs typeface="Calibri"/>
              </a:defRPr>
            </a:lvl5pPr>
            <a:lvl6pPr>
              <a:defRPr sz="900" b="0">
                <a:solidFill>
                  <a:srgbClr val="567371"/>
                </a:solidFill>
                <a:latin typeface="Calibri"/>
                <a:ea typeface="Calibri"/>
                <a:cs typeface="Calibri"/>
              </a:defRPr>
            </a:lvl6pPr>
            <a:lvl7pPr>
              <a:defRPr sz="900" b="0">
                <a:solidFill>
                  <a:srgbClr val="567371"/>
                </a:solidFill>
                <a:latin typeface="Calibri"/>
                <a:ea typeface="Calibri"/>
                <a:cs typeface="Calibri"/>
              </a:defRPr>
            </a:lvl7pPr>
            <a:lvl8pPr>
              <a:defRPr sz="900" b="0">
                <a:solidFill>
                  <a:srgbClr val="567371"/>
                </a:solidFill>
                <a:latin typeface="Calibri"/>
                <a:ea typeface="Calibri"/>
                <a:cs typeface="Calibri"/>
              </a:defRPr>
            </a:lvl8pPr>
            <a:lvl9pPr>
              <a:defRPr sz="900" b="0">
                <a:solidFill>
                  <a:srgbClr val="567371"/>
                </a:solidFill>
                <a:latin typeface="Calibri"/>
                <a:ea typeface="Calibri"/>
                <a:cs typeface="Calibri"/>
              </a:defRPr>
            </a:lvl9pPr>
          </a:lstStyle>
          <a:p xmlns:a="http://schemas.openxmlformats.org/drawingml/2006/main">
            <a:pPr>
              <a:defRPr sz="900" b="0">
                <a:solidFill>
                  <a:srgbClr val="567371"/>
                </a:solidFill>
                <a:latin typeface="Calibri"/>
                <a:ea typeface="Calibri"/>
                <a:cs typeface="Calibri"/>
              </a:defRPr>
            </a:pPr>
            <a:r>
              <a:rPr sz="900" b="0">
                <a:solidFill>
                  <a:srgbClr val="567371"/>
                </a:solidFill>
                <a:latin typeface="Calibri"/>
                <a:ea typeface="Calibri"/>
                <a:cs typeface="Calibri"/>
              </a:rPr>
              <a:t>AURA PATCH  /  CONFIDENTIAL  /  OCTOBER 2026</a:t>
            </a:r>
          </a:p>
        </p:txBody>
      </p:sp>
      <p:sp>
        <p:nvSpPr>
          <p:cNvPr id="4" name="09">
            <a:extLst xmlns:a="http://schemas.openxmlformats.org/drawingml/2006/main">
              <a:ext uri="{FF2B5EF4-FFF2-40B4-BE49-F238E27FC236}">
                <a16:creationId xmlns:a16="http://schemas.microsoft.com/office/drawing/2014/main" id="{467BED21-3C65-4D43-B0FE-7DF1DA2D16AE}"/>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09</a:t>
            </a:r>
          </a:p>
        </p:txBody>
      </p:sp>
      <p:sp>
        <p:nvSpPr>
          <p:cNvPr id="5" name="Illustrative revenue at $39.99 per active mon">
            <a:extLst xmlns:a="http://schemas.openxmlformats.org/drawingml/2006/main">
              <a:ext uri="{FF2B5EF4-FFF2-40B4-BE49-F238E27FC236}">
                <a16:creationId xmlns:a16="http://schemas.microsoft.com/office/drawing/2014/main" id="{962A6196-C1A2-4201-9A7D-A4DBB3B61C57}"/>
              </a:ext>
            </a:extLst>
          </p:cNvPr>
          <p:cNvSpPr>
            <a:spLocks xmlns:a="http://schemas.openxmlformats.org/drawingml/2006/main" noGrp="1"/>
          </p:cNvSpPr>
          <p:nvPr/>
        </p:nvSpPr>
        <p:spPr>
          <a:xfrm xmlns:a="http://schemas.openxmlformats.org/drawingml/2006/main">
            <a:off x="609600" y="1571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567371"/>
                </a:solidFill>
                <a:latin typeface="Calibri"/>
                <a:ea typeface="Calibri"/>
                <a:cs typeface="Calibri"/>
              </a:defRPr>
            </a:defPPr>
            <a:lvl1pPr>
              <a:defRPr sz="1950" b="0">
                <a:solidFill>
                  <a:srgbClr val="567371"/>
                </a:solidFill>
                <a:latin typeface="Calibri"/>
                <a:ea typeface="Calibri"/>
                <a:cs typeface="Calibri"/>
              </a:defRPr>
            </a:lvl1pPr>
            <a:lvl2pPr>
              <a:defRPr sz="1950" b="0">
                <a:solidFill>
                  <a:srgbClr val="567371"/>
                </a:solidFill>
                <a:latin typeface="Calibri"/>
                <a:ea typeface="Calibri"/>
                <a:cs typeface="Calibri"/>
              </a:defRPr>
            </a:lvl2pPr>
            <a:lvl3pPr>
              <a:defRPr sz="1950" b="0">
                <a:solidFill>
                  <a:srgbClr val="567371"/>
                </a:solidFill>
                <a:latin typeface="Calibri"/>
                <a:ea typeface="Calibri"/>
                <a:cs typeface="Calibri"/>
              </a:defRPr>
            </a:lvl3pPr>
            <a:lvl4pPr>
              <a:defRPr sz="1950" b="0">
                <a:solidFill>
                  <a:srgbClr val="567371"/>
                </a:solidFill>
                <a:latin typeface="Calibri"/>
                <a:ea typeface="Calibri"/>
                <a:cs typeface="Calibri"/>
              </a:defRPr>
            </a:lvl4pPr>
            <a:lvl5pPr>
              <a:defRPr sz="1950" b="0">
                <a:solidFill>
                  <a:srgbClr val="567371"/>
                </a:solidFill>
                <a:latin typeface="Calibri"/>
                <a:ea typeface="Calibri"/>
                <a:cs typeface="Calibri"/>
              </a:defRPr>
            </a:lvl5pPr>
            <a:lvl6pPr>
              <a:defRPr sz="1950" b="0">
                <a:solidFill>
                  <a:srgbClr val="567371"/>
                </a:solidFill>
                <a:latin typeface="Calibri"/>
                <a:ea typeface="Calibri"/>
                <a:cs typeface="Calibri"/>
              </a:defRPr>
            </a:lvl6pPr>
            <a:lvl7pPr>
              <a:defRPr sz="1950" b="0">
                <a:solidFill>
                  <a:srgbClr val="567371"/>
                </a:solidFill>
                <a:latin typeface="Calibri"/>
                <a:ea typeface="Calibri"/>
                <a:cs typeface="Calibri"/>
              </a:defRPr>
            </a:lvl7pPr>
            <a:lvl8pPr>
              <a:defRPr sz="1950" b="0">
                <a:solidFill>
                  <a:srgbClr val="567371"/>
                </a:solidFill>
                <a:latin typeface="Calibri"/>
                <a:ea typeface="Calibri"/>
                <a:cs typeface="Calibri"/>
              </a:defRPr>
            </a:lvl8pPr>
            <a:lvl9pPr>
              <a:defRPr sz="1950" b="0">
                <a:solidFill>
                  <a:srgbClr val="567371"/>
                </a:solidFill>
                <a:latin typeface="Calibri"/>
                <a:ea typeface="Calibri"/>
                <a:cs typeface="Calibri"/>
              </a:defRPr>
            </a:lvl9pPr>
          </a:lstStyle>
          <a:p xmlns:a="http://schemas.openxmlformats.org/drawingml/2006/main">
            <a:pPr>
              <a:defRPr sz="1950" b="0">
                <a:solidFill>
                  <a:srgbClr val="567371"/>
                </a:solidFill>
                <a:latin typeface="Calibri"/>
                <a:ea typeface="Calibri"/>
                <a:cs typeface="Calibri"/>
              </a:defRPr>
            </a:pPr>
            <a:r>
              <a:rPr sz="1950" b="0">
                <a:solidFill>
                  <a:srgbClr val="567371"/>
                </a:solidFill>
                <a:latin typeface="Calibri"/>
                <a:ea typeface="Calibri"/>
                <a:cs typeface="Calibri"/>
              </a:rPr>
              <a:t>Illustrative revenue at $39.99 per active monthly subscriber</a:t>
            </a:r>
          </a:p>
        </p:txBody>
      </p:sp>
      <p:graphicFrame>
        <p:nvGraphicFramePr>
          <p:cNvPr id="6" name="">
            <a:extLst xmlns:a="http://schemas.openxmlformats.org/drawingml/2006/main">
              <a:ext uri="{FF2B5EF4-FFF2-40B4-BE49-F238E27FC236}">
                <a16:creationId xmlns:a16="http://schemas.microsoft.com/office/drawing/2014/main" id="{E72DE1AE-9810-466B-9F4B-083786165D6B}"/>
              </a:ext>
            </a:extLst>
          </p:cNvPr>
          <p:cNvGraphicFramePr/>
          <p:nvPr/>
        </p:nvGraphicFramePr>
        <p:xfrm>
          <a:off xmlns:a="http://schemas.openxmlformats.org/drawingml/2006/main" x="609600" y="2286000"/>
          <a:ext xmlns:a="http://schemas.openxmlformats.org/drawingml/2006/main" cx="10972800" cy="3067050"/>
        </p:xfrm>
        <a:graphic xmlns:a="http://schemas.openxmlformats.org/drawingml/2006/main">
          <a:graphicData uri="http://schemas.openxmlformats.org/drawingml/2006/table">
            <a:tbl>
              <a:tblPr/>
              <a:tblGrid>
                <a:gridCol w="3657600"/>
                <a:gridCol w="3657600"/>
                <a:gridCol w="3657600"/>
              </a:tblGrid>
              <a:tr h="438150">
                <a:tc>
                  <a:txBody>
                    <a:bodyPr/>
                    <a:lstStyle/>
                    <a:p>
                      <a:r>
                        <a:rPr sz="1350" b="1">
                          <a:solidFill>
                            <a:srgbClr val="F5F0E7"/>
                          </a:solidFill>
                        </a:rPr>
                        <a:t>ACTIVE SUBSCRIBERS</a:t>
                      </a:r>
                    </a:p>
                  </a:txBody>
                  <a:tcPr marL="91440" marR="91440" marT="45720" marB="45720">
                    <a:lnL w="6668">
                      <a:solidFill>
                        <a:srgbClr val="D9D8CC"/>
                      </a:solidFill>
                    </a:lnL>
                    <a:lnR w="6668">
                      <a:solidFill>
                        <a:srgbClr val="D9D8CC"/>
                      </a:solidFill>
                    </a:lnR>
                    <a:lnT w="6668">
                      <a:solidFill>
                        <a:srgbClr val="D9D8CC"/>
                      </a:solidFill>
                    </a:lnT>
                    <a:lnB w="6668">
                      <a:solidFill>
                        <a:srgbClr val="D9D8CC"/>
                      </a:solidFill>
                    </a:lnB>
                    <a:solidFill>
                      <a:srgbClr val="073F48"/>
                    </a:solidFill>
                  </a:tcPr>
                </a:tc>
                <a:tc>
                  <a:txBody>
                    <a:bodyPr/>
                    <a:lstStyle/>
                    <a:p>
                      <a:r>
                        <a:rPr sz="1350" b="1">
                          <a:solidFill>
                            <a:srgbClr val="F5F0E7"/>
                          </a:solidFill>
                        </a:rPr>
                        <a:t>MONTHLY REVENUE</a:t>
                      </a:r>
                    </a:p>
                  </a:txBody>
                  <a:tcPr marL="91440" marR="91440" marT="45720" marB="45720">
                    <a:lnR w="6668">
                      <a:solidFill>
                        <a:srgbClr val="D9D8CC"/>
                      </a:solidFill>
                    </a:lnR>
                    <a:lnT w="6668">
                      <a:solidFill>
                        <a:srgbClr val="D9D8CC"/>
                      </a:solidFill>
                    </a:lnT>
                    <a:lnB w="6668">
                      <a:solidFill>
                        <a:srgbClr val="D9D8CC"/>
                      </a:solidFill>
                    </a:lnB>
                    <a:solidFill>
                      <a:srgbClr val="073F48"/>
                    </a:solidFill>
                  </a:tcPr>
                </a:tc>
                <a:tc>
                  <a:txBody>
                    <a:bodyPr/>
                    <a:lstStyle/>
                    <a:p>
                      <a:r>
                        <a:rPr sz="1350" b="1">
                          <a:solidFill>
                            <a:srgbClr val="F5F0E7"/>
                          </a:solidFill>
                        </a:rPr>
                        <a:t>ANNUALIZED REVENUE</a:t>
                      </a:r>
                    </a:p>
                  </a:txBody>
                  <a:tcPr marL="91440" marR="91440" marT="45720" marB="45720">
                    <a:lnR w="6668">
                      <a:solidFill>
                        <a:srgbClr val="D9D8CC"/>
                      </a:solidFill>
                    </a:lnR>
                    <a:lnT w="6668">
                      <a:solidFill>
                        <a:srgbClr val="D9D8CC"/>
                      </a:solidFill>
                    </a:lnT>
                    <a:lnB w="6668">
                      <a:solidFill>
                        <a:srgbClr val="D9D8CC"/>
                      </a:solidFill>
                    </a:lnB>
                    <a:solidFill>
                      <a:srgbClr val="073F48"/>
                    </a:solidFill>
                  </a:tcPr>
                </a:tc>
              </a:tr>
              <a:tr h="438150">
                <a:tc>
                  <a:txBody>
                    <a:bodyPr/>
                    <a:lstStyle/>
                    <a:p>
                      <a:r>
                        <a:rPr sz="1800" b="0">
                          <a:solidFill>
                            <a:srgbClr val="073F48"/>
                          </a:solidFill>
                        </a:rPr>
                        <a:t>500</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800" b="0">
                          <a:solidFill>
                            <a:srgbClr val="073F48"/>
                          </a:solidFill>
                        </a:rPr>
                        <a:t>$19,995</a:t>
                      </a:r>
                    </a:p>
                  </a:txBody>
                  <a:tcPr marL="91440" marR="91440" marT="45720" marB="45720">
                    <a:lnR w="6668">
                      <a:solidFill>
                        <a:srgbClr val="D9D8CC"/>
                      </a:solidFill>
                    </a:lnR>
                    <a:lnB w="6668">
                      <a:solidFill>
                        <a:srgbClr val="D9D8CC"/>
                      </a:solidFill>
                    </a:lnB>
                    <a:solidFill>
                      <a:srgbClr val="F5F0E7"/>
                    </a:solidFill>
                  </a:tcPr>
                </a:tc>
                <a:tc>
                  <a:txBody>
                    <a:bodyPr/>
                    <a:lstStyle/>
                    <a:p>
                      <a:r>
                        <a:rPr sz="1800" b="0">
                          <a:solidFill>
                            <a:srgbClr val="073F48"/>
                          </a:solidFill>
                        </a:rPr>
                        <a:t>$239,940</a:t>
                      </a:r>
                    </a:p>
                  </a:txBody>
                  <a:tcPr marL="91440" marR="91440" marT="45720" marB="45720">
                    <a:lnR w="6668">
                      <a:solidFill>
                        <a:srgbClr val="D9D8CC"/>
                      </a:solidFill>
                    </a:lnR>
                    <a:lnB w="6668">
                      <a:solidFill>
                        <a:srgbClr val="D9D8CC"/>
                      </a:solidFill>
                    </a:lnB>
                    <a:solidFill>
                      <a:srgbClr val="F5F0E7"/>
                    </a:solidFill>
                  </a:tcPr>
                </a:tc>
              </a:tr>
              <a:tr h="438150">
                <a:tc>
                  <a:txBody>
                    <a:bodyPr/>
                    <a:lstStyle/>
                    <a:p>
                      <a:r>
                        <a:rPr sz="1800" b="0">
                          <a:solidFill>
                            <a:srgbClr val="073F48"/>
                          </a:solidFill>
                        </a:rPr>
                        <a:t>1,000</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800" b="0">
                          <a:solidFill>
                            <a:srgbClr val="073F48"/>
                          </a:solidFill>
                        </a:rPr>
                        <a:t>$39,990</a:t>
                      </a:r>
                    </a:p>
                  </a:txBody>
                  <a:tcPr marL="91440" marR="91440" marT="45720" marB="45720">
                    <a:lnR w="6668">
                      <a:solidFill>
                        <a:srgbClr val="D9D8CC"/>
                      </a:solidFill>
                    </a:lnR>
                    <a:lnB w="6668">
                      <a:solidFill>
                        <a:srgbClr val="D9D8CC"/>
                      </a:solidFill>
                    </a:lnB>
                    <a:solidFill>
                      <a:srgbClr val="F5F0E7"/>
                    </a:solidFill>
                  </a:tcPr>
                </a:tc>
                <a:tc>
                  <a:txBody>
                    <a:bodyPr/>
                    <a:lstStyle/>
                    <a:p>
                      <a:r>
                        <a:rPr sz="1800" b="0">
                          <a:solidFill>
                            <a:srgbClr val="073F48"/>
                          </a:solidFill>
                        </a:rPr>
                        <a:t>$479,880</a:t>
                      </a:r>
                    </a:p>
                  </a:txBody>
                  <a:tcPr marL="91440" marR="91440" marT="45720" marB="45720">
                    <a:lnR w="6668">
                      <a:solidFill>
                        <a:srgbClr val="D9D8CC"/>
                      </a:solidFill>
                    </a:lnR>
                    <a:lnB w="6668">
                      <a:solidFill>
                        <a:srgbClr val="D9D8CC"/>
                      </a:solidFill>
                    </a:lnB>
                    <a:solidFill>
                      <a:srgbClr val="F5F0E7"/>
                    </a:solidFill>
                  </a:tcPr>
                </a:tc>
              </a:tr>
              <a:tr h="438150">
                <a:tc>
                  <a:txBody>
                    <a:bodyPr/>
                    <a:lstStyle/>
                    <a:p>
                      <a:r>
                        <a:rPr sz="1800" b="0">
                          <a:solidFill>
                            <a:srgbClr val="073F48"/>
                          </a:solidFill>
                        </a:rPr>
                        <a:t>2,500</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800" b="0">
                          <a:solidFill>
                            <a:srgbClr val="073F48"/>
                          </a:solidFill>
                        </a:rPr>
                        <a:t>$99,975</a:t>
                      </a:r>
                    </a:p>
                  </a:txBody>
                  <a:tcPr marL="91440" marR="91440" marT="45720" marB="45720">
                    <a:lnR w="6668">
                      <a:solidFill>
                        <a:srgbClr val="D9D8CC"/>
                      </a:solidFill>
                    </a:lnR>
                    <a:lnB w="6668">
                      <a:solidFill>
                        <a:srgbClr val="D9D8CC"/>
                      </a:solidFill>
                    </a:lnB>
                    <a:solidFill>
                      <a:srgbClr val="F5F0E7"/>
                    </a:solidFill>
                  </a:tcPr>
                </a:tc>
                <a:tc>
                  <a:txBody>
                    <a:bodyPr/>
                    <a:lstStyle/>
                    <a:p>
                      <a:r>
                        <a:rPr sz="1800" b="0">
                          <a:solidFill>
                            <a:srgbClr val="073F48"/>
                          </a:solidFill>
                        </a:rPr>
                        <a:t>$1,199,700</a:t>
                      </a:r>
                    </a:p>
                  </a:txBody>
                  <a:tcPr marL="91440" marR="91440" marT="45720" marB="45720">
                    <a:lnR w="6668">
                      <a:solidFill>
                        <a:srgbClr val="D9D8CC"/>
                      </a:solidFill>
                    </a:lnR>
                    <a:lnB w="6668">
                      <a:solidFill>
                        <a:srgbClr val="D9D8CC"/>
                      </a:solidFill>
                    </a:lnB>
                    <a:solidFill>
                      <a:srgbClr val="F5F0E7"/>
                    </a:solidFill>
                  </a:tcPr>
                </a:tc>
              </a:tr>
              <a:tr h="438150">
                <a:tc>
                  <a:txBody>
                    <a:bodyPr/>
                    <a:lstStyle/>
                    <a:p>
                      <a:r>
                        <a:rPr sz="1800" b="0">
                          <a:solidFill>
                            <a:srgbClr val="073F48"/>
                          </a:solidFill>
                        </a:rPr>
                        <a:t>5,000</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800" b="0">
                          <a:solidFill>
                            <a:srgbClr val="073F48"/>
                          </a:solidFill>
                        </a:rPr>
                        <a:t>$199,950</a:t>
                      </a:r>
                    </a:p>
                  </a:txBody>
                  <a:tcPr marL="91440" marR="91440" marT="45720" marB="45720">
                    <a:lnR w="6668">
                      <a:solidFill>
                        <a:srgbClr val="D9D8CC"/>
                      </a:solidFill>
                    </a:lnR>
                    <a:lnB w="6668">
                      <a:solidFill>
                        <a:srgbClr val="D9D8CC"/>
                      </a:solidFill>
                    </a:lnB>
                    <a:solidFill>
                      <a:srgbClr val="F5F0E7"/>
                    </a:solidFill>
                  </a:tcPr>
                </a:tc>
                <a:tc>
                  <a:txBody>
                    <a:bodyPr/>
                    <a:lstStyle/>
                    <a:p>
                      <a:r>
                        <a:rPr sz="1800" b="0">
                          <a:solidFill>
                            <a:srgbClr val="073F48"/>
                          </a:solidFill>
                        </a:rPr>
                        <a:t>$2,399,400</a:t>
                      </a:r>
                    </a:p>
                  </a:txBody>
                  <a:tcPr marL="91440" marR="91440" marT="45720" marB="45720">
                    <a:lnR w="6668">
                      <a:solidFill>
                        <a:srgbClr val="D9D8CC"/>
                      </a:solidFill>
                    </a:lnR>
                    <a:lnB w="6668">
                      <a:solidFill>
                        <a:srgbClr val="D9D8CC"/>
                      </a:solidFill>
                    </a:lnB>
                    <a:solidFill>
                      <a:srgbClr val="F5F0E7"/>
                    </a:solidFill>
                  </a:tcPr>
                </a:tc>
              </a:tr>
              <a:tr h="438150">
                <a:tc>
                  <a:txBody>
                    <a:bodyPr/>
                    <a:lstStyle/>
                    <a:p>
                      <a:r>
                        <a:rPr sz="1800" b="0">
                          <a:solidFill>
                            <a:srgbClr val="073F48"/>
                          </a:solidFill>
                        </a:rPr>
                        <a:t>10,000</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800" b="0">
                          <a:solidFill>
                            <a:srgbClr val="073F48"/>
                          </a:solidFill>
                        </a:rPr>
                        <a:t>$399,900</a:t>
                      </a:r>
                    </a:p>
                  </a:txBody>
                  <a:tcPr marL="91440" marR="91440" marT="45720" marB="45720">
                    <a:lnR w="6668">
                      <a:solidFill>
                        <a:srgbClr val="D9D8CC"/>
                      </a:solidFill>
                    </a:lnR>
                    <a:lnB w="6668">
                      <a:solidFill>
                        <a:srgbClr val="D9D8CC"/>
                      </a:solidFill>
                    </a:lnB>
                    <a:solidFill>
                      <a:srgbClr val="F5F0E7"/>
                    </a:solidFill>
                  </a:tcPr>
                </a:tc>
                <a:tc>
                  <a:txBody>
                    <a:bodyPr/>
                    <a:lstStyle/>
                    <a:p>
                      <a:r>
                        <a:rPr sz="1800" b="0">
                          <a:solidFill>
                            <a:srgbClr val="073F48"/>
                          </a:solidFill>
                        </a:rPr>
                        <a:t>$4,798,800</a:t>
                      </a:r>
                    </a:p>
                  </a:txBody>
                  <a:tcPr marL="91440" marR="91440" marT="45720" marB="45720">
                    <a:lnR w="6668">
                      <a:solidFill>
                        <a:srgbClr val="D9D8CC"/>
                      </a:solidFill>
                    </a:lnR>
                    <a:lnB w="6668">
                      <a:solidFill>
                        <a:srgbClr val="D9D8CC"/>
                      </a:solidFill>
                    </a:lnB>
                    <a:solidFill>
                      <a:srgbClr val="F5F0E7"/>
                    </a:solidFill>
                  </a:tcPr>
                </a:tc>
              </a:tr>
              <a:tr h="438150">
                <a:tc>
                  <a:txBody>
                    <a:bodyPr/>
                    <a:lstStyle/>
                    <a:p>
                      <a:r>
                        <a:rPr sz="1800" b="0">
                          <a:solidFill>
                            <a:srgbClr val="073F48"/>
                          </a:solidFill>
                        </a:rPr>
                        <a:t>20,000</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800" b="0">
                          <a:solidFill>
                            <a:srgbClr val="073F48"/>
                          </a:solidFill>
                        </a:rPr>
                        <a:t>$799,800</a:t>
                      </a:r>
                    </a:p>
                  </a:txBody>
                  <a:tcPr marL="91440" marR="91440" marT="45720" marB="45720">
                    <a:lnR w="6668">
                      <a:solidFill>
                        <a:srgbClr val="D9D8CC"/>
                      </a:solidFill>
                    </a:lnR>
                    <a:lnB w="6668">
                      <a:solidFill>
                        <a:srgbClr val="D9D8CC"/>
                      </a:solidFill>
                    </a:lnB>
                    <a:solidFill>
                      <a:srgbClr val="F5F0E7"/>
                    </a:solidFill>
                  </a:tcPr>
                </a:tc>
                <a:tc>
                  <a:txBody>
                    <a:bodyPr/>
                    <a:lstStyle/>
                    <a:p>
                      <a:r>
                        <a:rPr sz="1800" b="0">
                          <a:solidFill>
                            <a:srgbClr val="073F48"/>
                          </a:solidFill>
                        </a:rPr>
                        <a:t>$9,597,600</a:t>
                      </a:r>
                    </a:p>
                  </a:txBody>
                  <a:tcPr marL="91440" marR="91440" marT="45720" marB="45720">
                    <a:lnR w="6668">
                      <a:solidFill>
                        <a:srgbClr val="D9D8CC"/>
                      </a:solidFill>
                    </a:lnR>
                    <a:lnB w="6668">
                      <a:solidFill>
                        <a:srgbClr val="D9D8CC"/>
                      </a:solidFill>
                    </a:lnB>
                    <a:solidFill>
                      <a:srgbClr val="F5F0E7"/>
                    </a:solidFill>
                  </a:tcPr>
                </a:tc>
              </a:tr>
            </a:tbl>
          </a:graphicData>
        </a:graphic>
      </p:graphicFrame>
      <p:sp>
        <p:nvSpPr>
          <p:cNvPr id="7" name="Illustrative scenarios, not a forecast. Annua">
            <a:extLst xmlns:a="http://schemas.openxmlformats.org/drawingml/2006/main">
              <a:ext uri="{FF2B5EF4-FFF2-40B4-BE49-F238E27FC236}">
                <a16:creationId xmlns:a16="http://schemas.microsoft.com/office/drawing/2014/main" id="{BB11538E-2588-4F21-B917-E0B74A117D4D}"/>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7371"/>
                </a:solidFill>
                <a:latin typeface="Calibri"/>
                <a:ea typeface="Calibri"/>
                <a:cs typeface="Calibri"/>
              </a:defRPr>
            </a:defPPr>
            <a:lvl1pPr>
              <a:defRPr sz="1275" b="0">
                <a:solidFill>
                  <a:srgbClr val="567371"/>
                </a:solidFill>
                <a:latin typeface="Calibri"/>
                <a:ea typeface="Calibri"/>
                <a:cs typeface="Calibri"/>
              </a:defRPr>
            </a:lvl1pPr>
            <a:lvl2pPr>
              <a:defRPr sz="1275" b="0">
                <a:solidFill>
                  <a:srgbClr val="567371"/>
                </a:solidFill>
                <a:latin typeface="Calibri"/>
                <a:ea typeface="Calibri"/>
                <a:cs typeface="Calibri"/>
              </a:defRPr>
            </a:lvl2pPr>
            <a:lvl3pPr>
              <a:defRPr sz="1275" b="0">
                <a:solidFill>
                  <a:srgbClr val="567371"/>
                </a:solidFill>
                <a:latin typeface="Calibri"/>
                <a:ea typeface="Calibri"/>
                <a:cs typeface="Calibri"/>
              </a:defRPr>
            </a:lvl3pPr>
            <a:lvl4pPr>
              <a:defRPr sz="1275" b="0">
                <a:solidFill>
                  <a:srgbClr val="567371"/>
                </a:solidFill>
                <a:latin typeface="Calibri"/>
                <a:ea typeface="Calibri"/>
                <a:cs typeface="Calibri"/>
              </a:defRPr>
            </a:lvl4pPr>
            <a:lvl5pPr>
              <a:defRPr sz="1275" b="0">
                <a:solidFill>
                  <a:srgbClr val="567371"/>
                </a:solidFill>
                <a:latin typeface="Calibri"/>
                <a:ea typeface="Calibri"/>
                <a:cs typeface="Calibri"/>
              </a:defRPr>
            </a:lvl5pPr>
            <a:lvl6pPr>
              <a:defRPr sz="1275" b="0">
                <a:solidFill>
                  <a:srgbClr val="567371"/>
                </a:solidFill>
                <a:latin typeface="Calibri"/>
                <a:ea typeface="Calibri"/>
                <a:cs typeface="Calibri"/>
              </a:defRPr>
            </a:lvl6pPr>
            <a:lvl7pPr>
              <a:defRPr sz="1275" b="0">
                <a:solidFill>
                  <a:srgbClr val="567371"/>
                </a:solidFill>
                <a:latin typeface="Calibri"/>
                <a:ea typeface="Calibri"/>
                <a:cs typeface="Calibri"/>
              </a:defRPr>
            </a:lvl7pPr>
            <a:lvl8pPr>
              <a:defRPr sz="1275" b="0">
                <a:solidFill>
                  <a:srgbClr val="567371"/>
                </a:solidFill>
                <a:latin typeface="Calibri"/>
                <a:ea typeface="Calibri"/>
                <a:cs typeface="Calibri"/>
              </a:defRPr>
            </a:lvl8pPr>
            <a:lvl9pPr>
              <a:defRPr sz="1275" b="0">
                <a:solidFill>
                  <a:srgbClr val="567371"/>
                </a:solidFill>
                <a:latin typeface="Calibri"/>
                <a:ea typeface="Calibri"/>
                <a:cs typeface="Calibri"/>
              </a:defRPr>
            </a:lvl9pPr>
          </a:lstStyle>
          <a:p xmlns:a="http://schemas.openxmlformats.org/drawingml/2006/main">
            <a:pPr>
              <a:defRPr sz="1275" b="0">
                <a:solidFill>
                  <a:srgbClr val="567371"/>
                </a:solidFill>
                <a:latin typeface="Calibri"/>
                <a:ea typeface="Calibri"/>
                <a:cs typeface="Calibri"/>
              </a:defRPr>
            </a:pPr>
            <a:r>
              <a:rPr sz="1275" b="0">
                <a:solidFill>
                  <a:srgbClr val="567371"/>
                </a:solidFill>
                <a:latin typeface="Calibri"/>
                <a:ea typeface="Calibri"/>
                <a:cs typeface="Calibri"/>
              </a:rPr>
              <a:t>Illustrative scenarios, not a forecast. Annualized figures hold subscribers constant for 12 months and exclude churn, discounts, refunds and taxes.</a:t>
            </a:r>
          </a:p>
        </p:txBody>
      </p:sp>
    </p:spTree>
    <p:extLst>
      <p:ext uri="{BB962C8B-B14F-4D97-AF65-F5344CB8AC3E}">
        <p14:creationId xmlns:p14="http://schemas.microsoft.com/office/powerpoint/2010/main" val="344295406"/>
      </p:ext>
    </p:extLst>
  </p:cSld>
</p:sld>
</file>

<file path=ppt/slides/slide10.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 name="Expansion roadmap">
            <a:extLst xmlns:a="http://schemas.openxmlformats.org/drawingml/2006/main">
              <a:ext uri="{FF2B5EF4-FFF2-40B4-BE49-F238E27FC236}">
                <a16:creationId xmlns:a16="http://schemas.microsoft.com/office/drawing/2014/main" id="{DBA058C9-E4F4-43B4-A011-F84E358AD786}"/>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73F48"/>
                </a:solidFill>
                <a:latin typeface="Calibri"/>
                <a:ea typeface="Calibri"/>
                <a:cs typeface="Calibri"/>
              </a:defRPr>
            </a:defPPr>
            <a:lvl1pPr>
              <a:defRPr sz="3300" b="0">
                <a:solidFill>
                  <a:srgbClr val="073F48"/>
                </a:solidFill>
                <a:latin typeface="Calibri"/>
                <a:ea typeface="Calibri"/>
                <a:cs typeface="Calibri"/>
              </a:defRPr>
            </a:lvl1pPr>
            <a:lvl2pPr>
              <a:defRPr sz="3300" b="0">
                <a:solidFill>
                  <a:srgbClr val="073F48"/>
                </a:solidFill>
                <a:latin typeface="Calibri"/>
                <a:ea typeface="Calibri"/>
                <a:cs typeface="Calibri"/>
              </a:defRPr>
            </a:lvl2pPr>
            <a:lvl3pPr>
              <a:defRPr sz="3300" b="0">
                <a:solidFill>
                  <a:srgbClr val="073F48"/>
                </a:solidFill>
                <a:latin typeface="Calibri"/>
                <a:ea typeface="Calibri"/>
                <a:cs typeface="Calibri"/>
              </a:defRPr>
            </a:lvl3pPr>
            <a:lvl4pPr>
              <a:defRPr sz="3300" b="0">
                <a:solidFill>
                  <a:srgbClr val="073F48"/>
                </a:solidFill>
                <a:latin typeface="Calibri"/>
                <a:ea typeface="Calibri"/>
                <a:cs typeface="Calibri"/>
              </a:defRPr>
            </a:lvl4pPr>
            <a:lvl5pPr>
              <a:defRPr sz="3300" b="0">
                <a:solidFill>
                  <a:srgbClr val="073F48"/>
                </a:solidFill>
                <a:latin typeface="Calibri"/>
                <a:ea typeface="Calibri"/>
                <a:cs typeface="Calibri"/>
              </a:defRPr>
            </a:lvl5pPr>
            <a:lvl6pPr>
              <a:defRPr sz="3300" b="0">
                <a:solidFill>
                  <a:srgbClr val="073F48"/>
                </a:solidFill>
                <a:latin typeface="Calibri"/>
                <a:ea typeface="Calibri"/>
                <a:cs typeface="Calibri"/>
              </a:defRPr>
            </a:lvl6pPr>
            <a:lvl7pPr>
              <a:defRPr sz="3300" b="0">
                <a:solidFill>
                  <a:srgbClr val="073F48"/>
                </a:solidFill>
                <a:latin typeface="Calibri"/>
                <a:ea typeface="Calibri"/>
                <a:cs typeface="Calibri"/>
              </a:defRPr>
            </a:lvl7pPr>
            <a:lvl8pPr>
              <a:defRPr sz="3300" b="0">
                <a:solidFill>
                  <a:srgbClr val="073F48"/>
                </a:solidFill>
                <a:latin typeface="Calibri"/>
                <a:ea typeface="Calibri"/>
                <a:cs typeface="Calibri"/>
              </a:defRPr>
            </a:lvl8pPr>
            <a:lvl9pPr>
              <a:defRPr sz="3300" b="0">
                <a:solidFill>
                  <a:srgbClr val="073F48"/>
                </a:solidFill>
                <a:latin typeface="Calibri"/>
                <a:ea typeface="Calibri"/>
                <a:cs typeface="Calibri"/>
              </a:defRPr>
            </a:lvl9pPr>
          </a:lstStyle>
          <a:p xmlns:a="http://schemas.openxmlformats.org/drawingml/2006/main">
            <a:pPr>
              <a:defRPr sz="3300" b="0">
                <a:solidFill>
                  <a:srgbClr val="073F48"/>
                </a:solidFill>
                <a:latin typeface="Calibri"/>
                <a:ea typeface="Calibri"/>
                <a:cs typeface="Calibri"/>
              </a:defRPr>
            </a:pPr>
            <a:r>
              <a:rPr sz="3300" b="0">
                <a:solidFill>
                  <a:srgbClr val="073F48"/>
                </a:solidFill>
                <a:latin typeface="Calibri"/>
                <a:ea typeface="Calibri"/>
                <a:cs typeface="Calibri"/>
              </a:rPr>
              <a:t>Expansion roadmap</a:t>
            </a:r>
          </a:p>
        </p:txBody>
      </p:sp>
      <p:sp>
        <p:nvSpPr>
          <p:cNvPr id="3" name="AURA PATCH  /  CONFIDENTIAL  /  OCTOBER 2026">
            <a:extLst xmlns:a="http://schemas.openxmlformats.org/drawingml/2006/main">
              <a:ext uri="{FF2B5EF4-FFF2-40B4-BE49-F238E27FC236}">
                <a16:creationId xmlns:a16="http://schemas.microsoft.com/office/drawing/2014/main" id="{8450AFFC-2FF0-41BA-AE5D-B0542BE82B2D}"/>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567371"/>
                </a:solidFill>
                <a:latin typeface="Calibri"/>
                <a:ea typeface="Calibri"/>
                <a:cs typeface="Calibri"/>
              </a:defRPr>
            </a:defPPr>
            <a:lvl1pPr>
              <a:defRPr sz="900" b="0">
                <a:solidFill>
                  <a:srgbClr val="567371"/>
                </a:solidFill>
                <a:latin typeface="Calibri"/>
                <a:ea typeface="Calibri"/>
                <a:cs typeface="Calibri"/>
              </a:defRPr>
            </a:lvl1pPr>
            <a:lvl2pPr>
              <a:defRPr sz="900" b="0">
                <a:solidFill>
                  <a:srgbClr val="567371"/>
                </a:solidFill>
                <a:latin typeface="Calibri"/>
                <a:ea typeface="Calibri"/>
                <a:cs typeface="Calibri"/>
              </a:defRPr>
            </a:lvl2pPr>
            <a:lvl3pPr>
              <a:defRPr sz="900" b="0">
                <a:solidFill>
                  <a:srgbClr val="567371"/>
                </a:solidFill>
                <a:latin typeface="Calibri"/>
                <a:ea typeface="Calibri"/>
                <a:cs typeface="Calibri"/>
              </a:defRPr>
            </a:lvl3pPr>
            <a:lvl4pPr>
              <a:defRPr sz="900" b="0">
                <a:solidFill>
                  <a:srgbClr val="567371"/>
                </a:solidFill>
                <a:latin typeface="Calibri"/>
                <a:ea typeface="Calibri"/>
                <a:cs typeface="Calibri"/>
              </a:defRPr>
            </a:lvl4pPr>
            <a:lvl5pPr>
              <a:defRPr sz="900" b="0">
                <a:solidFill>
                  <a:srgbClr val="567371"/>
                </a:solidFill>
                <a:latin typeface="Calibri"/>
                <a:ea typeface="Calibri"/>
                <a:cs typeface="Calibri"/>
              </a:defRPr>
            </a:lvl5pPr>
            <a:lvl6pPr>
              <a:defRPr sz="900" b="0">
                <a:solidFill>
                  <a:srgbClr val="567371"/>
                </a:solidFill>
                <a:latin typeface="Calibri"/>
                <a:ea typeface="Calibri"/>
                <a:cs typeface="Calibri"/>
              </a:defRPr>
            </a:lvl6pPr>
            <a:lvl7pPr>
              <a:defRPr sz="900" b="0">
                <a:solidFill>
                  <a:srgbClr val="567371"/>
                </a:solidFill>
                <a:latin typeface="Calibri"/>
                <a:ea typeface="Calibri"/>
                <a:cs typeface="Calibri"/>
              </a:defRPr>
            </a:lvl7pPr>
            <a:lvl8pPr>
              <a:defRPr sz="900" b="0">
                <a:solidFill>
                  <a:srgbClr val="567371"/>
                </a:solidFill>
                <a:latin typeface="Calibri"/>
                <a:ea typeface="Calibri"/>
                <a:cs typeface="Calibri"/>
              </a:defRPr>
            </a:lvl8pPr>
            <a:lvl9pPr>
              <a:defRPr sz="900" b="0">
                <a:solidFill>
                  <a:srgbClr val="567371"/>
                </a:solidFill>
                <a:latin typeface="Calibri"/>
                <a:ea typeface="Calibri"/>
                <a:cs typeface="Calibri"/>
              </a:defRPr>
            </a:lvl9pPr>
          </a:lstStyle>
          <a:p xmlns:a="http://schemas.openxmlformats.org/drawingml/2006/main">
            <a:pPr>
              <a:defRPr sz="900" b="0">
                <a:solidFill>
                  <a:srgbClr val="567371"/>
                </a:solidFill>
                <a:latin typeface="Calibri"/>
                <a:ea typeface="Calibri"/>
                <a:cs typeface="Calibri"/>
              </a:defRPr>
            </a:pPr>
            <a:r>
              <a:rPr sz="900" b="0">
                <a:solidFill>
                  <a:srgbClr val="567371"/>
                </a:solidFill>
                <a:latin typeface="Calibri"/>
                <a:ea typeface="Calibri"/>
                <a:cs typeface="Calibri"/>
              </a:rPr>
              <a:t>AURA PATCH  /  CONFIDENTIAL  /  OCTOBER 2026</a:t>
            </a:r>
          </a:p>
        </p:txBody>
      </p:sp>
      <p:sp>
        <p:nvSpPr>
          <p:cNvPr id="4" name="10">
            <a:extLst xmlns:a="http://schemas.openxmlformats.org/drawingml/2006/main">
              <a:ext uri="{FF2B5EF4-FFF2-40B4-BE49-F238E27FC236}">
                <a16:creationId xmlns:a16="http://schemas.microsoft.com/office/drawing/2014/main" id="{76358CA9-0E2D-4ACF-8809-BE8372E96D66}"/>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10</a:t>
            </a:r>
          </a:p>
        </p:txBody>
      </p:sp>
      <p:sp>
        <p:nvSpPr>
          <p:cNvPr id="5" name="01">
            <a:extLst xmlns:a="http://schemas.openxmlformats.org/drawingml/2006/main">
              <a:ext uri="{FF2B5EF4-FFF2-40B4-BE49-F238E27FC236}">
                <a16:creationId xmlns:a16="http://schemas.microsoft.com/office/drawing/2014/main" id="{53814BCA-874C-43ED-B389-D5D62297FA7F}"/>
              </a:ext>
            </a:extLst>
          </p:cNvPr>
          <p:cNvSpPr>
            <a:spLocks xmlns:a="http://schemas.openxmlformats.org/drawingml/2006/main" noGrp="1"/>
          </p:cNvSpPr>
          <p:nvPr/>
        </p:nvSpPr>
        <p:spPr>
          <a:xfrm xmlns:a="http://schemas.openxmlformats.org/drawingml/2006/main">
            <a:off x="609600" y="20383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BF9A50"/>
                </a:solidFill>
                <a:latin typeface="Calibri"/>
                <a:ea typeface="Calibri"/>
                <a:cs typeface="Calibri"/>
              </a:defRPr>
            </a:defPPr>
            <a:lvl1pPr>
              <a:defRPr sz="2100" b="0">
                <a:solidFill>
                  <a:srgbClr val="BF9A50"/>
                </a:solidFill>
                <a:latin typeface="Calibri"/>
                <a:ea typeface="Calibri"/>
                <a:cs typeface="Calibri"/>
              </a:defRPr>
            </a:lvl1pPr>
            <a:lvl2pPr>
              <a:defRPr sz="2100" b="0">
                <a:solidFill>
                  <a:srgbClr val="BF9A50"/>
                </a:solidFill>
                <a:latin typeface="Calibri"/>
                <a:ea typeface="Calibri"/>
                <a:cs typeface="Calibri"/>
              </a:defRPr>
            </a:lvl2pPr>
            <a:lvl3pPr>
              <a:defRPr sz="2100" b="0">
                <a:solidFill>
                  <a:srgbClr val="BF9A50"/>
                </a:solidFill>
                <a:latin typeface="Calibri"/>
                <a:ea typeface="Calibri"/>
                <a:cs typeface="Calibri"/>
              </a:defRPr>
            </a:lvl3pPr>
            <a:lvl4pPr>
              <a:defRPr sz="2100" b="0">
                <a:solidFill>
                  <a:srgbClr val="BF9A50"/>
                </a:solidFill>
                <a:latin typeface="Calibri"/>
                <a:ea typeface="Calibri"/>
                <a:cs typeface="Calibri"/>
              </a:defRPr>
            </a:lvl4pPr>
            <a:lvl5pPr>
              <a:defRPr sz="2100" b="0">
                <a:solidFill>
                  <a:srgbClr val="BF9A50"/>
                </a:solidFill>
                <a:latin typeface="Calibri"/>
                <a:ea typeface="Calibri"/>
                <a:cs typeface="Calibri"/>
              </a:defRPr>
            </a:lvl5pPr>
            <a:lvl6pPr>
              <a:defRPr sz="2100" b="0">
                <a:solidFill>
                  <a:srgbClr val="BF9A50"/>
                </a:solidFill>
                <a:latin typeface="Calibri"/>
                <a:ea typeface="Calibri"/>
                <a:cs typeface="Calibri"/>
              </a:defRPr>
            </a:lvl6pPr>
            <a:lvl7pPr>
              <a:defRPr sz="2100" b="0">
                <a:solidFill>
                  <a:srgbClr val="BF9A50"/>
                </a:solidFill>
                <a:latin typeface="Calibri"/>
                <a:ea typeface="Calibri"/>
                <a:cs typeface="Calibri"/>
              </a:defRPr>
            </a:lvl7pPr>
            <a:lvl8pPr>
              <a:defRPr sz="2100" b="0">
                <a:solidFill>
                  <a:srgbClr val="BF9A50"/>
                </a:solidFill>
                <a:latin typeface="Calibri"/>
                <a:ea typeface="Calibri"/>
                <a:cs typeface="Calibri"/>
              </a:defRPr>
            </a:lvl8pPr>
            <a:lvl9pPr>
              <a:defRPr sz="2100" b="0">
                <a:solidFill>
                  <a:srgbClr val="BF9A50"/>
                </a:solidFill>
                <a:latin typeface="Calibri"/>
                <a:ea typeface="Calibri"/>
                <a:cs typeface="Calibri"/>
              </a:defRPr>
            </a:lvl9pPr>
          </a:lstStyle>
          <a:p xmlns:a="http://schemas.openxmlformats.org/drawingml/2006/main">
            <a:pPr>
              <a:defRPr sz="2100" b="0">
                <a:solidFill>
                  <a:srgbClr val="BF9A50"/>
                </a:solidFill>
                <a:latin typeface="Calibri"/>
                <a:ea typeface="Calibri"/>
                <a:cs typeface="Calibri"/>
              </a:defRPr>
            </a:pPr>
            <a:r>
              <a:rPr sz="2100" b="0">
                <a:solidFill>
                  <a:srgbClr val="BF9A50"/>
                </a:solidFill>
                <a:latin typeface="Calibri"/>
                <a:ea typeface="Calibri"/>
                <a:cs typeface="Calibri"/>
              </a:rPr>
              <a:t>01</a:t>
            </a:r>
          </a:p>
        </p:txBody>
      </p:sp>
      <p:sp>
        <p:nvSpPr>
          <p:cNvPr id="6" name="Aura">
            <a:extLst xmlns:a="http://schemas.openxmlformats.org/drawingml/2006/main">
              <a:ext uri="{FF2B5EF4-FFF2-40B4-BE49-F238E27FC236}">
                <a16:creationId xmlns:a16="http://schemas.microsoft.com/office/drawing/2014/main" id="{D24F2403-F44C-43C5-A987-22C2FA562868}"/>
              </a:ext>
            </a:extLst>
          </p:cNvPr>
          <p:cNvSpPr>
            <a:spLocks xmlns:a="http://schemas.openxmlformats.org/drawingml/2006/main" noGrp="1"/>
          </p:cNvSpPr>
          <p:nvPr/>
        </p:nvSpPr>
        <p:spPr>
          <a:xfrm xmlns:a="http://schemas.openxmlformats.org/drawingml/2006/main">
            <a:off x="609600" y="27527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73F48"/>
                </a:solidFill>
                <a:latin typeface="Calibri"/>
                <a:ea typeface="Calibri"/>
                <a:cs typeface="Calibri"/>
              </a:defRPr>
            </a:defPPr>
            <a:lvl1pPr>
              <a:defRPr sz="2550" b="1">
                <a:solidFill>
                  <a:srgbClr val="073F48"/>
                </a:solidFill>
                <a:latin typeface="Calibri"/>
                <a:ea typeface="Calibri"/>
                <a:cs typeface="Calibri"/>
              </a:defRPr>
            </a:lvl1pPr>
            <a:lvl2pPr>
              <a:defRPr sz="2550" b="1">
                <a:solidFill>
                  <a:srgbClr val="073F48"/>
                </a:solidFill>
                <a:latin typeface="Calibri"/>
                <a:ea typeface="Calibri"/>
                <a:cs typeface="Calibri"/>
              </a:defRPr>
            </a:lvl2pPr>
            <a:lvl3pPr>
              <a:defRPr sz="2550" b="1">
                <a:solidFill>
                  <a:srgbClr val="073F48"/>
                </a:solidFill>
                <a:latin typeface="Calibri"/>
                <a:ea typeface="Calibri"/>
                <a:cs typeface="Calibri"/>
              </a:defRPr>
            </a:lvl3pPr>
            <a:lvl4pPr>
              <a:defRPr sz="2550" b="1">
                <a:solidFill>
                  <a:srgbClr val="073F48"/>
                </a:solidFill>
                <a:latin typeface="Calibri"/>
                <a:ea typeface="Calibri"/>
                <a:cs typeface="Calibri"/>
              </a:defRPr>
            </a:lvl4pPr>
            <a:lvl5pPr>
              <a:defRPr sz="2550" b="1">
                <a:solidFill>
                  <a:srgbClr val="073F48"/>
                </a:solidFill>
                <a:latin typeface="Calibri"/>
                <a:ea typeface="Calibri"/>
                <a:cs typeface="Calibri"/>
              </a:defRPr>
            </a:lvl5pPr>
            <a:lvl6pPr>
              <a:defRPr sz="2550" b="1">
                <a:solidFill>
                  <a:srgbClr val="073F48"/>
                </a:solidFill>
                <a:latin typeface="Calibri"/>
                <a:ea typeface="Calibri"/>
                <a:cs typeface="Calibri"/>
              </a:defRPr>
            </a:lvl6pPr>
            <a:lvl7pPr>
              <a:defRPr sz="2550" b="1">
                <a:solidFill>
                  <a:srgbClr val="073F48"/>
                </a:solidFill>
                <a:latin typeface="Calibri"/>
                <a:ea typeface="Calibri"/>
                <a:cs typeface="Calibri"/>
              </a:defRPr>
            </a:lvl7pPr>
            <a:lvl8pPr>
              <a:defRPr sz="2550" b="1">
                <a:solidFill>
                  <a:srgbClr val="073F48"/>
                </a:solidFill>
                <a:latin typeface="Calibri"/>
                <a:ea typeface="Calibri"/>
                <a:cs typeface="Calibri"/>
              </a:defRPr>
            </a:lvl8pPr>
            <a:lvl9pPr>
              <a:defRPr sz="2550" b="1">
                <a:solidFill>
                  <a:srgbClr val="073F48"/>
                </a:solidFill>
                <a:latin typeface="Calibri"/>
                <a:ea typeface="Calibri"/>
                <a:cs typeface="Calibri"/>
              </a:defRPr>
            </a:lvl9pPr>
          </a:lstStyle>
          <a:p xmlns:a="http://schemas.openxmlformats.org/drawingml/2006/main">
            <a:pPr>
              <a:defRPr sz="2550" b="1">
                <a:solidFill>
                  <a:srgbClr val="073F48"/>
                </a:solidFill>
                <a:latin typeface="Calibri"/>
                <a:ea typeface="Calibri"/>
                <a:cs typeface="Calibri"/>
              </a:defRPr>
            </a:pPr>
            <a:r>
              <a:rPr sz="2550" b="1">
                <a:solidFill>
                  <a:srgbClr val="073F48"/>
                </a:solidFill>
                <a:latin typeface="Calibri"/>
                <a:ea typeface="Calibri"/>
                <a:cs typeface="Calibri"/>
              </a:rPr>
              <a:t>Aura</a:t>
            </a:r>
          </a:p>
        </p:txBody>
      </p:sp>
      <p:sp>
        <p:nvSpPr>
          <p:cNvPr id="7" name="Flagship launch">
            <a:extLst xmlns:a="http://schemas.openxmlformats.org/drawingml/2006/main">
              <a:ext uri="{FF2B5EF4-FFF2-40B4-BE49-F238E27FC236}">
                <a16:creationId xmlns:a16="http://schemas.microsoft.com/office/drawing/2014/main" id="{82B263CD-7B2C-4A67-A88C-4ABA418C16C8}"/>
              </a:ext>
            </a:extLst>
          </p:cNvPr>
          <p:cNvSpPr>
            <a:spLocks xmlns:a="http://schemas.openxmlformats.org/drawingml/2006/main" noGrp="1"/>
          </p:cNvSpPr>
          <p:nvPr/>
        </p:nvSpPr>
        <p:spPr>
          <a:xfrm xmlns:a="http://schemas.openxmlformats.org/drawingml/2006/main">
            <a:off x="609600" y="34671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73F48"/>
                </a:solidFill>
                <a:latin typeface="Calibri"/>
                <a:ea typeface="Calibri"/>
                <a:cs typeface="Calibri"/>
              </a:defRPr>
            </a:defPPr>
            <a:lvl1pPr>
              <a:defRPr sz="1800" b="1">
                <a:solidFill>
                  <a:srgbClr val="073F48"/>
                </a:solidFill>
                <a:latin typeface="Calibri"/>
                <a:ea typeface="Calibri"/>
                <a:cs typeface="Calibri"/>
              </a:defRPr>
            </a:lvl1pPr>
            <a:lvl2pPr>
              <a:defRPr sz="1800" b="1">
                <a:solidFill>
                  <a:srgbClr val="073F48"/>
                </a:solidFill>
                <a:latin typeface="Calibri"/>
                <a:ea typeface="Calibri"/>
                <a:cs typeface="Calibri"/>
              </a:defRPr>
            </a:lvl2pPr>
            <a:lvl3pPr>
              <a:defRPr sz="1800" b="1">
                <a:solidFill>
                  <a:srgbClr val="073F48"/>
                </a:solidFill>
                <a:latin typeface="Calibri"/>
                <a:ea typeface="Calibri"/>
                <a:cs typeface="Calibri"/>
              </a:defRPr>
            </a:lvl3pPr>
            <a:lvl4pPr>
              <a:defRPr sz="1800" b="1">
                <a:solidFill>
                  <a:srgbClr val="073F48"/>
                </a:solidFill>
                <a:latin typeface="Calibri"/>
                <a:ea typeface="Calibri"/>
                <a:cs typeface="Calibri"/>
              </a:defRPr>
            </a:lvl4pPr>
            <a:lvl5pPr>
              <a:defRPr sz="1800" b="1">
                <a:solidFill>
                  <a:srgbClr val="073F48"/>
                </a:solidFill>
                <a:latin typeface="Calibri"/>
                <a:ea typeface="Calibri"/>
                <a:cs typeface="Calibri"/>
              </a:defRPr>
            </a:lvl5pPr>
            <a:lvl6pPr>
              <a:defRPr sz="1800" b="1">
                <a:solidFill>
                  <a:srgbClr val="073F48"/>
                </a:solidFill>
                <a:latin typeface="Calibri"/>
                <a:ea typeface="Calibri"/>
                <a:cs typeface="Calibri"/>
              </a:defRPr>
            </a:lvl6pPr>
            <a:lvl7pPr>
              <a:defRPr sz="1800" b="1">
                <a:solidFill>
                  <a:srgbClr val="073F48"/>
                </a:solidFill>
                <a:latin typeface="Calibri"/>
                <a:ea typeface="Calibri"/>
                <a:cs typeface="Calibri"/>
              </a:defRPr>
            </a:lvl7pPr>
            <a:lvl8pPr>
              <a:defRPr sz="1800" b="1">
                <a:solidFill>
                  <a:srgbClr val="073F48"/>
                </a:solidFill>
                <a:latin typeface="Calibri"/>
                <a:ea typeface="Calibri"/>
                <a:cs typeface="Calibri"/>
              </a:defRPr>
            </a:lvl8pPr>
            <a:lvl9pPr>
              <a:defRPr sz="1800" b="1">
                <a:solidFill>
                  <a:srgbClr val="073F48"/>
                </a:solidFill>
                <a:latin typeface="Calibri"/>
                <a:ea typeface="Calibri"/>
                <a:cs typeface="Calibri"/>
              </a:defRPr>
            </a:lvl9pPr>
          </a:lstStyle>
          <a:p xmlns:a="http://schemas.openxmlformats.org/drawingml/2006/main">
            <a:pPr>
              <a:defRPr sz="1800" b="1">
                <a:solidFill>
                  <a:srgbClr val="073F48"/>
                </a:solidFill>
                <a:latin typeface="Calibri"/>
                <a:ea typeface="Calibri"/>
                <a:cs typeface="Calibri"/>
              </a:defRPr>
            </a:pPr>
            <a:r>
              <a:rPr sz="1800" b="1">
                <a:solidFill>
                  <a:srgbClr val="073F48"/>
                </a:solidFill>
                <a:latin typeface="Calibri"/>
                <a:ea typeface="Calibri"/>
                <a:cs typeface="Calibri"/>
              </a:rPr>
              <a:t>Flagship launch</a:t>
            </a:r>
          </a:p>
        </p:txBody>
      </p:sp>
      <p:sp>
        <p:nvSpPr>
          <p:cNvPr id="8" name="Daily wellness positioning. Establish convers">
            <a:extLst xmlns:a="http://schemas.openxmlformats.org/drawingml/2006/main">
              <a:ext uri="{FF2B5EF4-FFF2-40B4-BE49-F238E27FC236}">
                <a16:creationId xmlns:a16="http://schemas.microsoft.com/office/drawing/2014/main" id="{7037AD60-EDF5-4C41-9170-16A96123948A}"/>
              </a:ext>
            </a:extLst>
          </p:cNvPr>
          <p:cNvSpPr>
            <a:spLocks xmlns:a="http://schemas.openxmlformats.org/drawingml/2006/main" noGrp="1"/>
          </p:cNvSpPr>
          <p:nvPr/>
        </p:nvSpPr>
        <p:spPr>
          <a:xfrm xmlns:a="http://schemas.openxmlformats.org/drawingml/2006/main">
            <a:off x="609600" y="4162425"/>
            <a:ext cx="3095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7371"/>
                </a:solidFill>
                <a:latin typeface="Calibri"/>
                <a:ea typeface="Calibri"/>
                <a:cs typeface="Calibri"/>
              </a:defRPr>
            </a:defPPr>
            <a:lvl1pPr>
              <a:defRPr sz="1875" b="0">
                <a:solidFill>
                  <a:srgbClr val="567371"/>
                </a:solidFill>
                <a:latin typeface="Calibri"/>
                <a:ea typeface="Calibri"/>
                <a:cs typeface="Calibri"/>
              </a:defRPr>
            </a:lvl1pPr>
            <a:lvl2pPr>
              <a:defRPr sz="1875" b="0">
                <a:solidFill>
                  <a:srgbClr val="567371"/>
                </a:solidFill>
                <a:latin typeface="Calibri"/>
                <a:ea typeface="Calibri"/>
                <a:cs typeface="Calibri"/>
              </a:defRPr>
            </a:lvl2pPr>
            <a:lvl3pPr>
              <a:defRPr sz="1875" b="0">
                <a:solidFill>
                  <a:srgbClr val="567371"/>
                </a:solidFill>
                <a:latin typeface="Calibri"/>
                <a:ea typeface="Calibri"/>
                <a:cs typeface="Calibri"/>
              </a:defRPr>
            </a:lvl3pPr>
            <a:lvl4pPr>
              <a:defRPr sz="1875" b="0">
                <a:solidFill>
                  <a:srgbClr val="567371"/>
                </a:solidFill>
                <a:latin typeface="Calibri"/>
                <a:ea typeface="Calibri"/>
                <a:cs typeface="Calibri"/>
              </a:defRPr>
            </a:lvl4pPr>
            <a:lvl5pPr>
              <a:defRPr sz="1875" b="0">
                <a:solidFill>
                  <a:srgbClr val="567371"/>
                </a:solidFill>
                <a:latin typeface="Calibri"/>
                <a:ea typeface="Calibri"/>
                <a:cs typeface="Calibri"/>
              </a:defRPr>
            </a:lvl5pPr>
            <a:lvl6pPr>
              <a:defRPr sz="1875" b="0">
                <a:solidFill>
                  <a:srgbClr val="567371"/>
                </a:solidFill>
                <a:latin typeface="Calibri"/>
                <a:ea typeface="Calibri"/>
                <a:cs typeface="Calibri"/>
              </a:defRPr>
            </a:lvl6pPr>
            <a:lvl7pPr>
              <a:defRPr sz="1875" b="0">
                <a:solidFill>
                  <a:srgbClr val="567371"/>
                </a:solidFill>
                <a:latin typeface="Calibri"/>
                <a:ea typeface="Calibri"/>
                <a:cs typeface="Calibri"/>
              </a:defRPr>
            </a:lvl7pPr>
            <a:lvl8pPr>
              <a:defRPr sz="1875" b="0">
                <a:solidFill>
                  <a:srgbClr val="567371"/>
                </a:solidFill>
                <a:latin typeface="Calibri"/>
                <a:ea typeface="Calibri"/>
                <a:cs typeface="Calibri"/>
              </a:defRPr>
            </a:lvl8pPr>
            <a:lvl9pPr>
              <a:defRPr sz="1875" b="0">
                <a:solidFill>
                  <a:srgbClr val="567371"/>
                </a:solidFill>
                <a:latin typeface="Calibri"/>
                <a:ea typeface="Calibri"/>
                <a:cs typeface="Calibri"/>
              </a:defRPr>
            </a:lvl9pPr>
          </a:lstStyle>
          <a:p xmlns:a="http://schemas.openxmlformats.org/drawingml/2006/main">
            <a:pPr>
              <a:defRPr sz="1875" b="0">
                <a:solidFill>
                  <a:srgbClr val="567371"/>
                </a:solidFill>
                <a:latin typeface="Calibri"/>
                <a:ea typeface="Calibri"/>
                <a:cs typeface="Calibri"/>
              </a:defRPr>
            </a:pPr>
            <a:r>
              <a:rPr sz="1875" b="0">
                <a:solidFill>
                  <a:srgbClr val="567371"/>
                </a:solidFill>
                <a:latin typeface="Calibri"/>
                <a:ea typeface="Calibri"/>
                <a:cs typeface="Calibri"/>
              </a:rPr>
              <a:t>Daily wellness positioning. Establish conversion and repeat purchase.</a:t>
            </a:r>
          </a:p>
        </p:txBody>
      </p:sp>
      <p:sp>
        <p:nvSpPr>
          <p:cNvPr id="9" name="02">
            <a:extLst xmlns:a="http://schemas.openxmlformats.org/drawingml/2006/main">
              <a:ext uri="{FF2B5EF4-FFF2-40B4-BE49-F238E27FC236}">
                <a16:creationId xmlns:a16="http://schemas.microsoft.com/office/drawing/2014/main" id="{71D8EB64-07CB-4773-8C5D-77ED47F8674D}"/>
              </a:ext>
            </a:extLst>
          </p:cNvPr>
          <p:cNvSpPr>
            <a:spLocks xmlns:a="http://schemas.openxmlformats.org/drawingml/2006/main" noGrp="1"/>
          </p:cNvSpPr>
          <p:nvPr/>
        </p:nvSpPr>
        <p:spPr>
          <a:xfrm xmlns:a="http://schemas.openxmlformats.org/drawingml/2006/main">
            <a:off x="4324350" y="20383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BF9A50"/>
                </a:solidFill>
                <a:latin typeface="Calibri"/>
                <a:ea typeface="Calibri"/>
                <a:cs typeface="Calibri"/>
              </a:defRPr>
            </a:defPPr>
            <a:lvl1pPr>
              <a:defRPr sz="2100" b="0">
                <a:solidFill>
                  <a:srgbClr val="BF9A50"/>
                </a:solidFill>
                <a:latin typeface="Calibri"/>
                <a:ea typeface="Calibri"/>
                <a:cs typeface="Calibri"/>
              </a:defRPr>
            </a:lvl1pPr>
            <a:lvl2pPr>
              <a:defRPr sz="2100" b="0">
                <a:solidFill>
                  <a:srgbClr val="BF9A50"/>
                </a:solidFill>
                <a:latin typeface="Calibri"/>
                <a:ea typeface="Calibri"/>
                <a:cs typeface="Calibri"/>
              </a:defRPr>
            </a:lvl2pPr>
            <a:lvl3pPr>
              <a:defRPr sz="2100" b="0">
                <a:solidFill>
                  <a:srgbClr val="BF9A50"/>
                </a:solidFill>
                <a:latin typeface="Calibri"/>
                <a:ea typeface="Calibri"/>
                <a:cs typeface="Calibri"/>
              </a:defRPr>
            </a:lvl3pPr>
            <a:lvl4pPr>
              <a:defRPr sz="2100" b="0">
                <a:solidFill>
                  <a:srgbClr val="BF9A50"/>
                </a:solidFill>
                <a:latin typeface="Calibri"/>
                <a:ea typeface="Calibri"/>
                <a:cs typeface="Calibri"/>
              </a:defRPr>
            </a:lvl4pPr>
            <a:lvl5pPr>
              <a:defRPr sz="2100" b="0">
                <a:solidFill>
                  <a:srgbClr val="BF9A50"/>
                </a:solidFill>
                <a:latin typeface="Calibri"/>
                <a:ea typeface="Calibri"/>
                <a:cs typeface="Calibri"/>
              </a:defRPr>
            </a:lvl5pPr>
            <a:lvl6pPr>
              <a:defRPr sz="2100" b="0">
                <a:solidFill>
                  <a:srgbClr val="BF9A50"/>
                </a:solidFill>
                <a:latin typeface="Calibri"/>
                <a:ea typeface="Calibri"/>
                <a:cs typeface="Calibri"/>
              </a:defRPr>
            </a:lvl6pPr>
            <a:lvl7pPr>
              <a:defRPr sz="2100" b="0">
                <a:solidFill>
                  <a:srgbClr val="BF9A50"/>
                </a:solidFill>
                <a:latin typeface="Calibri"/>
                <a:ea typeface="Calibri"/>
                <a:cs typeface="Calibri"/>
              </a:defRPr>
            </a:lvl7pPr>
            <a:lvl8pPr>
              <a:defRPr sz="2100" b="0">
                <a:solidFill>
                  <a:srgbClr val="BF9A50"/>
                </a:solidFill>
                <a:latin typeface="Calibri"/>
                <a:ea typeface="Calibri"/>
                <a:cs typeface="Calibri"/>
              </a:defRPr>
            </a:lvl8pPr>
            <a:lvl9pPr>
              <a:defRPr sz="2100" b="0">
                <a:solidFill>
                  <a:srgbClr val="BF9A50"/>
                </a:solidFill>
                <a:latin typeface="Calibri"/>
                <a:ea typeface="Calibri"/>
                <a:cs typeface="Calibri"/>
              </a:defRPr>
            </a:lvl9pPr>
          </a:lstStyle>
          <a:p xmlns:a="http://schemas.openxmlformats.org/drawingml/2006/main">
            <a:pPr>
              <a:defRPr sz="2100" b="0">
                <a:solidFill>
                  <a:srgbClr val="BF9A50"/>
                </a:solidFill>
                <a:latin typeface="Calibri"/>
                <a:ea typeface="Calibri"/>
                <a:cs typeface="Calibri"/>
              </a:defRPr>
            </a:pPr>
            <a:r>
              <a:rPr sz="2100" b="0">
                <a:solidFill>
                  <a:srgbClr val="BF9A50"/>
                </a:solidFill>
                <a:latin typeface="Calibri"/>
                <a:ea typeface="Calibri"/>
                <a:cs typeface="Calibri"/>
              </a:rPr>
              <a:t>02</a:t>
            </a:r>
          </a:p>
        </p:txBody>
      </p:sp>
      <p:sp>
        <p:nvSpPr>
          <p:cNvPr id="10" name="Aura Energy">
            <a:extLst xmlns:a="http://schemas.openxmlformats.org/drawingml/2006/main">
              <a:ext uri="{FF2B5EF4-FFF2-40B4-BE49-F238E27FC236}">
                <a16:creationId xmlns:a16="http://schemas.microsoft.com/office/drawing/2014/main" id="{1124759A-98FE-4730-80F4-6977F23E1896}"/>
              </a:ext>
            </a:extLst>
          </p:cNvPr>
          <p:cNvSpPr>
            <a:spLocks xmlns:a="http://schemas.openxmlformats.org/drawingml/2006/main" noGrp="1"/>
          </p:cNvSpPr>
          <p:nvPr/>
        </p:nvSpPr>
        <p:spPr>
          <a:xfrm xmlns:a="http://schemas.openxmlformats.org/drawingml/2006/main">
            <a:off x="4324350" y="27527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73F48"/>
                </a:solidFill>
                <a:latin typeface="Calibri"/>
                <a:ea typeface="Calibri"/>
                <a:cs typeface="Calibri"/>
              </a:defRPr>
            </a:defPPr>
            <a:lvl1pPr>
              <a:defRPr sz="2550" b="1">
                <a:solidFill>
                  <a:srgbClr val="073F48"/>
                </a:solidFill>
                <a:latin typeface="Calibri"/>
                <a:ea typeface="Calibri"/>
                <a:cs typeface="Calibri"/>
              </a:defRPr>
            </a:lvl1pPr>
            <a:lvl2pPr>
              <a:defRPr sz="2550" b="1">
                <a:solidFill>
                  <a:srgbClr val="073F48"/>
                </a:solidFill>
                <a:latin typeface="Calibri"/>
                <a:ea typeface="Calibri"/>
                <a:cs typeface="Calibri"/>
              </a:defRPr>
            </a:lvl2pPr>
            <a:lvl3pPr>
              <a:defRPr sz="2550" b="1">
                <a:solidFill>
                  <a:srgbClr val="073F48"/>
                </a:solidFill>
                <a:latin typeface="Calibri"/>
                <a:ea typeface="Calibri"/>
                <a:cs typeface="Calibri"/>
              </a:defRPr>
            </a:lvl3pPr>
            <a:lvl4pPr>
              <a:defRPr sz="2550" b="1">
                <a:solidFill>
                  <a:srgbClr val="073F48"/>
                </a:solidFill>
                <a:latin typeface="Calibri"/>
                <a:ea typeface="Calibri"/>
                <a:cs typeface="Calibri"/>
              </a:defRPr>
            </a:lvl4pPr>
            <a:lvl5pPr>
              <a:defRPr sz="2550" b="1">
                <a:solidFill>
                  <a:srgbClr val="073F48"/>
                </a:solidFill>
                <a:latin typeface="Calibri"/>
                <a:ea typeface="Calibri"/>
                <a:cs typeface="Calibri"/>
              </a:defRPr>
            </a:lvl5pPr>
            <a:lvl6pPr>
              <a:defRPr sz="2550" b="1">
                <a:solidFill>
                  <a:srgbClr val="073F48"/>
                </a:solidFill>
                <a:latin typeface="Calibri"/>
                <a:ea typeface="Calibri"/>
                <a:cs typeface="Calibri"/>
              </a:defRPr>
            </a:lvl6pPr>
            <a:lvl7pPr>
              <a:defRPr sz="2550" b="1">
                <a:solidFill>
                  <a:srgbClr val="073F48"/>
                </a:solidFill>
                <a:latin typeface="Calibri"/>
                <a:ea typeface="Calibri"/>
                <a:cs typeface="Calibri"/>
              </a:defRPr>
            </a:lvl7pPr>
            <a:lvl8pPr>
              <a:defRPr sz="2550" b="1">
                <a:solidFill>
                  <a:srgbClr val="073F48"/>
                </a:solidFill>
                <a:latin typeface="Calibri"/>
                <a:ea typeface="Calibri"/>
                <a:cs typeface="Calibri"/>
              </a:defRPr>
            </a:lvl8pPr>
            <a:lvl9pPr>
              <a:defRPr sz="2550" b="1">
                <a:solidFill>
                  <a:srgbClr val="073F48"/>
                </a:solidFill>
                <a:latin typeface="Calibri"/>
                <a:ea typeface="Calibri"/>
                <a:cs typeface="Calibri"/>
              </a:defRPr>
            </a:lvl9pPr>
          </a:lstStyle>
          <a:p xmlns:a="http://schemas.openxmlformats.org/drawingml/2006/main">
            <a:pPr>
              <a:defRPr sz="2550" b="1">
                <a:solidFill>
                  <a:srgbClr val="073F48"/>
                </a:solidFill>
                <a:latin typeface="Calibri"/>
                <a:ea typeface="Calibri"/>
                <a:cs typeface="Calibri"/>
              </a:defRPr>
            </a:pPr>
            <a:r>
              <a:rPr sz="2550" b="1">
                <a:solidFill>
                  <a:srgbClr val="073F48"/>
                </a:solidFill>
                <a:latin typeface="Calibri"/>
                <a:ea typeface="Calibri"/>
                <a:cs typeface="Calibri"/>
              </a:rPr>
              <a:t>Aura Energy</a:t>
            </a:r>
          </a:p>
        </p:txBody>
      </p:sp>
      <p:sp>
        <p:nvSpPr>
          <p:cNvPr id="11" name="Planned development">
            <a:extLst xmlns:a="http://schemas.openxmlformats.org/drawingml/2006/main">
              <a:ext uri="{FF2B5EF4-FFF2-40B4-BE49-F238E27FC236}">
                <a16:creationId xmlns:a16="http://schemas.microsoft.com/office/drawing/2014/main" id="{0E305C69-8F41-405A-A935-BBBDB3AED007}"/>
              </a:ext>
            </a:extLst>
          </p:cNvPr>
          <p:cNvSpPr>
            <a:spLocks xmlns:a="http://schemas.openxmlformats.org/drawingml/2006/main" noGrp="1"/>
          </p:cNvSpPr>
          <p:nvPr/>
        </p:nvSpPr>
        <p:spPr>
          <a:xfrm xmlns:a="http://schemas.openxmlformats.org/drawingml/2006/main">
            <a:off x="4324350" y="34671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73F48"/>
                </a:solidFill>
                <a:latin typeface="Calibri"/>
                <a:ea typeface="Calibri"/>
                <a:cs typeface="Calibri"/>
              </a:defRPr>
            </a:defPPr>
            <a:lvl1pPr>
              <a:defRPr sz="1800" b="1">
                <a:solidFill>
                  <a:srgbClr val="073F48"/>
                </a:solidFill>
                <a:latin typeface="Calibri"/>
                <a:ea typeface="Calibri"/>
                <a:cs typeface="Calibri"/>
              </a:defRPr>
            </a:lvl1pPr>
            <a:lvl2pPr>
              <a:defRPr sz="1800" b="1">
                <a:solidFill>
                  <a:srgbClr val="073F48"/>
                </a:solidFill>
                <a:latin typeface="Calibri"/>
                <a:ea typeface="Calibri"/>
                <a:cs typeface="Calibri"/>
              </a:defRPr>
            </a:lvl2pPr>
            <a:lvl3pPr>
              <a:defRPr sz="1800" b="1">
                <a:solidFill>
                  <a:srgbClr val="073F48"/>
                </a:solidFill>
                <a:latin typeface="Calibri"/>
                <a:ea typeface="Calibri"/>
                <a:cs typeface="Calibri"/>
              </a:defRPr>
            </a:lvl3pPr>
            <a:lvl4pPr>
              <a:defRPr sz="1800" b="1">
                <a:solidFill>
                  <a:srgbClr val="073F48"/>
                </a:solidFill>
                <a:latin typeface="Calibri"/>
                <a:ea typeface="Calibri"/>
                <a:cs typeface="Calibri"/>
              </a:defRPr>
            </a:lvl4pPr>
            <a:lvl5pPr>
              <a:defRPr sz="1800" b="1">
                <a:solidFill>
                  <a:srgbClr val="073F48"/>
                </a:solidFill>
                <a:latin typeface="Calibri"/>
                <a:ea typeface="Calibri"/>
                <a:cs typeface="Calibri"/>
              </a:defRPr>
            </a:lvl5pPr>
            <a:lvl6pPr>
              <a:defRPr sz="1800" b="1">
                <a:solidFill>
                  <a:srgbClr val="073F48"/>
                </a:solidFill>
                <a:latin typeface="Calibri"/>
                <a:ea typeface="Calibri"/>
                <a:cs typeface="Calibri"/>
              </a:defRPr>
            </a:lvl6pPr>
            <a:lvl7pPr>
              <a:defRPr sz="1800" b="1">
                <a:solidFill>
                  <a:srgbClr val="073F48"/>
                </a:solidFill>
                <a:latin typeface="Calibri"/>
                <a:ea typeface="Calibri"/>
                <a:cs typeface="Calibri"/>
              </a:defRPr>
            </a:lvl7pPr>
            <a:lvl8pPr>
              <a:defRPr sz="1800" b="1">
                <a:solidFill>
                  <a:srgbClr val="073F48"/>
                </a:solidFill>
                <a:latin typeface="Calibri"/>
                <a:ea typeface="Calibri"/>
                <a:cs typeface="Calibri"/>
              </a:defRPr>
            </a:lvl8pPr>
            <a:lvl9pPr>
              <a:defRPr sz="1800" b="1">
                <a:solidFill>
                  <a:srgbClr val="073F48"/>
                </a:solidFill>
                <a:latin typeface="Calibri"/>
                <a:ea typeface="Calibri"/>
                <a:cs typeface="Calibri"/>
              </a:defRPr>
            </a:lvl9pPr>
          </a:lstStyle>
          <a:p xmlns:a="http://schemas.openxmlformats.org/drawingml/2006/main">
            <a:pPr>
              <a:defRPr sz="1800" b="1">
                <a:solidFill>
                  <a:srgbClr val="073F48"/>
                </a:solidFill>
                <a:latin typeface="Calibri"/>
                <a:ea typeface="Calibri"/>
                <a:cs typeface="Calibri"/>
              </a:defRPr>
            </a:pPr>
            <a:r>
              <a:rPr sz="1800" b="1">
                <a:solidFill>
                  <a:srgbClr val="073F48"/>
                </a:solidFill>
                <a:latin typeface="Calibri"/>
                <a:ea typeface="Calibri"/>
                <a:cs typeface="Calibri"/>
              </a:rPr>
              <a:t>Planned development</a:t>
            </a:r>
          </a:p>
        </p:txBody>
      </p:sp>
      <p:sp>
        <p:nvSpPr>
          <p:cNvPr id="12" name="Focus, energy and vitality positioning. Advan">
            <a:extLst xmlns:a="http://schemas.openxmlformats.org/drawingml/2006/main">
              <a:ext uri="{FF2B5EF4-FFF2-40B4-BE49-F238E27FC236}">
                <a16:creationId xmlns:a16="http://schemas.microsoft.com/office/drawing/2014/main" id="{06B64DDE-E99D-44E7-BB33-B67D128CF35C}"/>
              </a:ext>
            </a:extLst>
          </p:cNvPr>
          <p:cNvSpPr>
            <a:spLocks xmlns:a="http://schemas.openxmlformats.org/drawingml/2006/main" noGrp="1"/>
          </p:cNvSpPr>
          <p:nvPr/>
        </p:nvSpPr>
        <p:spPr>
          <a:xfrm xmlns:a="http://schemas.openxmlformats.org/drawingml/2006/main">
            <a:off x="4324350" y="4162425"/>
            <a:ext cx="3095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7371"/>
                </a:solidFill>
                <a:latin typeface="Calibri"/>
                <a:ea typeface="Calibri"/>
                <a:cs typeface="Calibri"/>
              </a:defRPr>
            </a:defPPr>
            <a:lvl1pPr>
              <a:defRPr sz="1875" b="0">
                <a:solidFill>
                  <a:srgbClr val="567371"/>
                </a:solidFill>
                <a:latin typeface="Calibri"/>
                <a:ea typeface="Calibri"/>
                <a:cs typeface="Calibri"/>
              </a:defRPr>
            </a:lvl1pPr>
            <a:lvl2pPr>
              <a:defRPr sz="1875" b="0">
                <a:solidFill>
                  <a:srgbClr val="567371"/>
                </a:solidFill>
                <a:latin typeface="Calibri"/>
                <a:ea typeface="Calibri"/>
                <a:cs typeface="Calibri"/>
              </a:defRPr>
            </a:lvl2pPr>
            <a:lvl3pPr>
              <a:defRPr sz="1875" b="0">
                <a:solidFill>
                  <a:srgbClr val="567371"/>
                </a:solidFill>
                <a:latin typeface="Calibri"/>
                <a:ea typeface="Calibri"/>
                <a:cs typeface="Calibri"/>
              </a:defRPr>
            </a:lvl3pPr>
            <a:lvl4pPr>
              <a:defRPr sz="1875" b="0">
                <a:solidFill>
                  <a:srgbClr val="567371"/>
                </a:solidFill>
                <a:latin typeface="Calibri"/>
                <a:ea typeface="Calibri"/>
                <a:cs typeface="Calibri"/>
              </a:defRPr>
            </a:lvl4pPr>
            <a:lvl5pPr>
              <a:defRPr sz="1875" b="0">
                <a:solidFill>
                  <a:srgbClr val="567371"/>
                </a:solidFill>
                <a:latin typeface="Calibri"/>
                <a:ea typeface="Calibri"/>
                <a:cs typeface="Calibri"/>
              </a:defRPr>
            </a:lvl5pPr>
            <a:lvl6pPr>
              <a:defRPr sz="1875" b="0">
                <a:solidFill>
                  <a:srgbClr val="567371"/>
                </a:solidFill>
                <a:latin typeface="Calibri"/>
                <a:ea typeface="Calibri"/>
                <a:cs typeface="Calibri"/>
              </a:defRPr>
            </a:lvl6pPr>
            <a:lvl7pPr>
              <a:defRPr sz="1875" b="0">
                <a:solidFill>
                  <a:srgbClr val="567371"/>
                </a:solidFill>
                <a:latin typeface="Calibri"/>
                <a:ea typeface="Calibri"/>
                <a:cs typeface="Calibri"/>
              </a:defRPr>
            </a:lvl7pPr>
            <a:lvl8pPr>
              <a:defRPr sz="1875" b="0">
                <a:solidFill>
                  <a:srgbClr val="567371"/>
                </a:solidFill>
                <a:latin typeface="Calibri"/>
                <a:ea typeface="Calibri"/>
                <a:cs typeface="Calibri"/>
              </a:defRPr>
            </a:lvl8pPr>
            <a:lvl9pPr>
              <a:defRPr sz="1875" b="0">
                <a:solidFill>
                  <a:srgbClr val="567371"/>
                </a:solidFill>
                <a:latin typeface="Calibri"/>
                <a:ea typeface="Calibri"/>
                <a:cs typeface="Calibri"/>
              </a:defRPr>
            </a:lvl9pPr>
          </a:lstStyle>
          <a:p xmlns:a="http://schemas.openxmlformats.org/drawingml/2006/main">
            <a:pPr>
              <a:defRPr sz="1875" b="0">
                <a:solidFill>
                  <a:srgbClr val="567371"/>
                </a:solidFill>
                <a:latin typeface="Calibri"/>
                <a:ea typeface="Calibri"/>
                <a:cs typeface="Calibri"/>
              </a:defRPr>
            </a:pPr>
            <a:r>
              <a:rPr sz="1875" b="0">
                <a:solidFill>
                  <a:srgbClr val="567371"/>
                </a:solidFill>
                <a:latin typeface="Calibri"/>
                <a:ea typeface="Calibri"/>
                <a:cs typeface="Calibri"/>
              </a:rPr>
              <a:t>Focus, energy and vitality positioning. Advance after flagship market signals.</a:t>
            </a:r>
          </a:p>
        </p:txBody>
      </p:sp>
      <p:sp>
        <p:nvSpPr>
          <p:cNvPr id="13" name="03">
            <a:extLst xmlns:a="http://schemas.openxmlformats.org/drawingml/2006/main">
              <a:ext uri="{FF2B5EF4-FFF2-40B4-BE49-F238E27FC236}">
                <a16:creationId xmlns:a16="http://schemas.microsoft.com/office/drawing/2014/main" id="{9D84A509-6EA2-4C24-AC35-F9E98FFF19E4}"/>
              </a:ext>
            </a:extLst>
          </p:cNvPr>
          <p:cNvSpPr>
            <a:spLocks xmlns:a="http://schemas.openxmlformats.org/drawingml/2006/main" noGrp="1"/>
          </p:cNvSpPr>
          <p:nvPr/>
        </p:nvSpPr>
        <p:spPr>
          <a:xfrm xmlns:a="http://schemas.openxmlformats.org/drawingml/2006/main">
            <a:off x="8039100" y="203835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BF9A50"/>
                </a:solidFill>
                <a:latin typeface="Calibri"/>
                <a:ea typeface="Calibri"/>
                <a:cs typeface="Calibri"/>
              </a:defRPr>
            </a:defPPr>
            <a:lvl1pPr>
              <a:defRPr sz="2100" b="0">
                <a:solidFill>
                  <a:srgbClr val="BF9A50"/>
                </a:solidFill>
                <a:latin typeface="Calibri"/>
                <a:ea typeface="Calibri"/>
                <a:cs typeface="Calibri"/>
              </a:defRPr>
            </a:lvl1pPr>
            <a:lvl2pPr>
              <a:defRPr sz="2100" b="0">
                <a:solidFill>
                  <a:srgbClr val="BF9A50"/>
                </a:solidFill>
                <a:latin typeface="Calibri"/>
                <a:ea typeface="Calibri"/>
                <a:cs typeface="Calibri"/>
              </a:defRPr>
            </a:lvl2pPr>
            <a:lvl3pPr>
              <a:defRPr sz="2100" b="0">
                <a:solidFill>
                  <a:srgbClr val="BF9A50"/>
                </a:solidFill>
                <a:latin typeface="Calibri"/>
                <a:ea typeface="Calibri"/>
                <a:cs typeface="Calibri"/>
              </a:defRPr>
            </a:lvl3pPr>
            <a:lvl4pPr>
              <a:defRPr sz="2100" b="0">
                <a:solidFill>
                  <a:srgbClr val="BF9A50"/>
                </a:solidFill>
                <a:latin typeface="Calibri"/>
                <a:ea typeface="Calibri"/>
                <a:cs typeface="Calibri"/>
              </a:defRPr>
            </a:lvl4pPr>
            <a:lvl5pPr>
              <a:defRPr sz="2100" b="0">
                <a:solidFill>
                  <a:srgbClr val="BF9A50"/>
                </a:solidFill>
                <a:latin typeface="Calibri"/>
                <a:ea typeface="Calibri"/>
                <a:cs typeface="Calibri"/>
              </a:defRPr>
            </a:lvl5pPr>
            <a:lvl6pPr>
              <a:defRPr sz="2100" b="0">
                <a:solidFill>
                  <a:srgbClr val="BF9A50"/>
                </a:solidFill>
                <a:latin typeface="Calibri"/>
                <a:ea typeface="Calibri"/>
                <a:cs typeface="Calibri"/>
              </a:defRPr>
            </a:lvl6pPr>
            <a:lvl7pPr>
              <a:defRPr sz="2100" b="0">
                <a:solidFill>
                  <a:srgbClr val="BF9A50"/>
                </a:solidFill>
                <a:latin typeface="Calibri"/>
                <a:ea typeface="Calibri"/>
                <a:cs typeface="Calibri"/>
              </a:defRPr>
            </a:lvl7pPr>
            <a:lvl8pPr>
              <a:defRPr sz="2100" b="0">
                <a:solidFill>
                  <a:srgbClr val="BF9A50"/>
                </a:solidFill>
                <a:latin typeface="Calibri"/>
                <a:ea typeface="Calibri"/>
                <a:cs typeface="Calibri"/>
              </a:defRPr>
            </a:lvl8pPr>
            <a:lvl9pPr>
              <a:defRPr sz="2100" b="0">
                <a:solidFill>
                  <a:srgbClr val="BF9A50"/>
                </a:solidFill>
                <a:latin typeface="Calibri"/>
                <a:ea typeface="Calibri"/>
                <a:cs typeface="Calibri"/>
              </a:defRPr>
            </a:lvl9pPr>
          </a:lstStyle>
          <a:p xmlns:a="http://schemas.openxmlformats.org/drawingml/2006/main">
            <a:pPr>
              <a:defRPr sz="2100" b="0">
                <a:solidFill>
                  <a:srgbClr val="BF9A50"/>
                </a:solidFill>
                <a:latin typeface="Calibri"/>
                <a:ea typeface="Calibri"/>
                <a:cs typeface="Calibri"/>
              </a:defRPr>
            </a:pPr>
            <a:r>
              <a:rPr sz="2100" b="0">
                <a:solidFill>
                  <a:srgbClr val="BF9A50"/>
                </a:solidFill>
                <a:latin typeface="Calibri"/>
                <a:ea typeface="Calibri"/>
                <a:cs typeface="Calibri"/>
              </a:rPr>
              <a:t>03</a:t>
            </a:r>
          </a:p>
        </p:txBody>
      </p:sp>
      <p:sp>
        <p:nvSpPr>
          <p:cNvPr id="14" name="Aura Recover">
            <a:extLst xmlns:a="http://schemas.openxmlformats.org/drawingml/2006/main">
              <a:ext uri="{FF2B5EF4-FFF2-40B4-BE49-F238E27FC236}">
                <a16:creationId xmlns:a16="http://schemas.microsoft.com/office/drawing/2014/main" id="{8F886ECF-F779-473C-A301-4742219A8A99}"/>
              </a:ext>
            </a:extLst>
          </p:cNvPr>
          <p:cNvSpPr>
            <a:spLocks xmlns:a="http://schemas.openxmlformats.org/drawingml/2006/main" noGrp="1"/>
          </p:cNvSpPr>
          <p:nvPr/>
        </p:nvSpPr>
        <p:spPr>
          <a:xfrm xmlns:a="http://schemas.openxmlformats.org/drawingml/2006/main">
            <a:off x="8039100" y="27527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073F48"/>
                </a:solidFill>
                <a:latin typeface="Calibri"/>
                <a:ea typeface="Calibri"/>
                <a:cs typeface="Calibri"/>
              </a:defRPr>
            </a:defPPr>
            <a:lvl1pPr>
              <a:defRPr sz="2550" b="1">
                <a:solidFill>
                  <a:srgbClr val="073F48"/>
                </a:solidFill>
                <a:latin typeface="Calibri"/>
                <a:ea typeface="Calibri"/>
                <a:cs typeface="Calibri"/>
              </a:defRPr>
            </a:lvl1pPr>
            <a:lvl2pPr>
              <a:defRPr sz="2550" b="1">
                <a:solidFill>
                  <a:srgbClr val="073F48"/>
                </a:solidFill>
                <a:latin typeface="Calibri"/>
                <a:ea typeface="Calibri"/>
                <a:cs typeface="Calibri"/>
              </a:defRPr>
            </a:lvl2pPr>
            <a:lvl3pPr>
              <a:defRPr sz="2550" b="1">
                <a:solidFill>
                  <a:srgbClr val="073F48"/>
                </a:solidFill>
                <a:latin typeface="Calibri"/>
                <a:ea typeface="Calibri"/>
                <a:cs typeface="Calibri"/>
              </a:defRPr>
            </a:lvl3pPr>
            <a:lvl4pPr>
              <a:defRPr sz="2550" b="1">
                <a:solidFill>
                  <a:srgbClr val="073F48"/>
                </a:solidFill>
                <a:latin typeface="Calibri"/>
                <a:ea typeface="Calibri"/>
                <a:cs typeface="Calibri"/>
              </a:defRPr>
            </a:lvl4pPr>
            <a:lvl5pPr>
              <a:defRPr sz="2550" b="1">
                <a:solidFill>
                  <a:srgbClr val="073F48"/>
                </a:solidFill>
                <a:latin typeface="Calibri"/>
                <a:ea typeface="Calibri"/>
                <a:cs typeface="Calibri"/>
              </a:defRPr>
            </a:lvl5pPr>
            <a:lvl6pPr>
              <a:defRPr sz="2550" b="1">
                <a:solidFill>
                  <a:srgbClr val="073F48"/>
                </a:solidFill>
                <a:latin typeface="Calibri"/>
                <a:ea typeface="Calibri"/>
                <a:cs typeface="Calibri"/>
              </a:defRPr>
            </a:lvl6pPr>
            <a:lvl7pPr>
              <a:defRPr sz="2550" b="1">
                <a:solidFill>
                  <a:srgbClr val="073F48"/>
                </a:solidFill>
                <a:latin typeface="Calibri"/>
                <a:ea typeface="Calibri"/>
                <a:cs typeface="Calibri"/>
              </a:defRPr>
            </a:lvl7pPr>
            <a:lvl8pPr>
              <a:defRPr sz="2550" b="1">
                <a:solidFill>
                  <a:srgbClr val="073F48"/>
                </a:solidFill>
                <a:latin typeface="Calibri"/>
                <a:ea typeface="Calibri"/>
                <a:cs typeface="Calibri"/>
              </a:defRPr>
            </a:lvl8pPr>
            <a:lvl9pPr>
              <a:defRPr sz="2550" b="1">
                <a:solidFill>
                  <a:srgbClr val="073F48"/>
                </a:solidFill>
                <a:latin typeface="Calibri"/>
                <a:ea typeface="Calibri"/>
                <a:cs typeface="Calibri"/>
              </a:defRPr>
            </a:lvl9pPr>
          </a:lstStyle>
          <a:p xmlns:a="http://schemas.openxmlformats.org/drawingml/2006/main">
            <a:pPr>
              <a:defRPr sz="2550" b="1">
                <a:solidFill>
                  <a:srgbClr val="073F48"/>
                </a:solidFill>
                <a:latin typeface="Calibri"/>
                <a:ea typeface="Calibri"/>
                <a:cs typeface="Calibri"/>
              </a:defRPr>
            </a:pPr>
            <a:r>
              <a:rPr sz="2550" b="1">
                <a:solidFill>
                  <a:srgbClr val="073F48"/>
                </a:solidFill>
                <a:latin typeface="Calibri"/>
                <a:ea typeface="Calibri"/>
                <a:cs typeface="Calibri"/>
              </a:rPr>
              <a:t>Aura Recover</a:t>
            </a:r>
          </a:p>
        </p:txBody>
      </p:sp>
      <p:sp>
        <p:nvSpPr>
          <p:cNvPr id="15" name="Planned development">
            <a:extLst xmlns:a="http://schemas.openxmlformats.org/drawingml/2006/main">
              <a:ext uri="{FF2B5EF4-FFF2-40B4-BE49-F238E27FC236}">
                <a16:creationId xmlns:a16="http://schemas.microsoft.com/office/drawing/2014/main" id="{0201F9D9-62E0-41F4-8CFB-AF6725B584D5}"/>
              </a:ext>
            </a:extLst>
          </p:cNvPr>
          <p:cNvSpPr>
            <a:spLocks xmlns:a="http://schemas.openxmlformats.org/drawingml/2006/main" noGrp="1"/>
          </p:cNvSpPr>
          <p:nvPr/>
        </p:nvSpPr>
        <p:spPr>
          <a:xfrm xmlns:a="http://schemas.openxmlformats.org/drawingml/2006/main">
            <a:off x="8039100" y="34671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073F48"/>
                </a:solidFill>
                <a:latin typeface="Calibri"/>
                <a:ea typeface="Calibri"/>
                <a:cs typeface="Calibri"/>
              </a:defRPr>
            </a:defPPr>
            <a:lvl1pPr>
              <a:defRPr sz="1800" b="1">
                <a:solidFill>
                  <a:srgbClr val="073F48"/>
                </a:solidFill>
                <a:latin typeface="Calibri"/>
                <a:ea typeface="Calibri"/>
                <a:cs typeface="Calibri"/>
              </a:defRPr>
            </a:lvl1pPr>
            <a:lvl2pPr>
              <a:defRPr sz="1800" b="1">
                <a:solidFill>
                  <a:srgbClr val="073F48"/>
                </a:solidFill>
                <a:latin typeface="Calibri"/>
                <a:ea typeface="Calibri"/>
                <a:cs typeface="Calibri"/>
              </a:defRPr>
            </a:lvl2pPr>
            <a:lvl3pPr>
              <a:defRPr sz="1800" b="1">
                <a:solidFill>
                  <a:srgbClr val="073F48"/>
                </a:solidFill>
                <a:latin typeface="Calibri"/>
                <a:ea typeface="Calibri"/>
                <a:cs typeface="Calibri"/>
              </a:defRPr>
            </a:lvl3pPr>
            <a:lvl4pPr>
              <a:defRPr sz="1800" b="1">
                <a:solidFill>
                  <a:srgbClr val="073F48"/>
                </a:solidFill>
                <a:latin typeface="Calibri"/>
                <a:ea typeface="Calibri"/>
                <a:cs typeface="Calibri"/>
              </a:defRPr>
            </a:lvl4pPr>
            <a:lvl5pPr>
              <a:defRPr sz="1800" b="1">
                <a:solidFill>
                  <a:srgbClr val="073F48"/>
                </a:solidFill>
                <a:latin typeface="Calibri"/>
                <a:ea typeface="Calibri"/>
                <a:cs typeface="Calibri"/>
              </a:defRPr>
            </a:lvl5pPr>
            <a:lvl6pPr>
              <a:defRPr sz="1800" b="1">
                <a:solidFill>
                  <a:srgbClr val="073F48"/>
                </a:solidFill>
                <a:latin typeface="Calibri"/>
                <a:ea typeface="Calibri"/>
                <a:cs typeface="Calibri"/>
              </a:defRPr>
            </a:lvl6pPr>
            <a:lvl7pPr>
              <a:defRPr sz="1800" b="1">
                <a:solidFill>
                  <a:srgbClr val="073F48"/>
                </a:solidFill>
                <a:latin typeface="Calibri"/>
                <a:ea typeface="Calibri"/>
                <a:cs typeface="Calibri"/>
              </a:defRPr>
            </a:lvl7pPr>
            <a:lvl8pPr>
              <a:defRPr sz="1800" b="1">
                <a:solidFill>
                  <a:srgbClr val="073F48"/>
                </a:solidFill>
                <a:latin typeface="Calibri"/>
                <a:ea typeface="Calibri"/>
                <a:cs typeface="Calibri"/>
              </a:defRPr>
            </a:lvl8pPr>
            <a:lvl9pPr>
              <a:defRPr sz="1800" b="1">
                <a:solidFill>
                  <a:srgbClr val="073F48"/>
                </a:solidFill>
                <a:latin typeface="Calibri"/>
                <a:ea typeface="Calibri"/>
                <a:cs typeface="Calibri"/>
              </a:defRPr>
            </a:lvl9pPr>
          </a:lstStyle>
          <a:p xmlns:a="http://schemas.openxmlformats.org/drawingml/2006/main">
            <a:pPr>
              <a:defRPr sz="1800" b="1">
                <a:solidFill>
                  <a:srgbClr val="073F48"/>
                </a:solidFill>
                <a:latin typeface="Calibri"/>
                <a:ea typeface="Calibri"/>
                <a:cs typeface="Calibri"/>
              </a:defRPr>
            </a:pPr>
            <a:r>
              <a:rPr sz="1800" b="1">
                <a:solidFill>
                  <a:srgbClr val="073F48"/>
                </a:solidFill>
                <a:latin typeface="Calibri"/>
                <a:ea typeface="Calibri"/>
                <a:cs typeface="Calibri"/>
              </a:rPr>
              <a:t>Planned development</a:t>
            </a:r>
          </a:p>
        </p:txBody>
      </p:sp>
      <p:sp>
        <p:nvSpPr>
          <p:cNvPr id="16" name="Recovery positioning. Formulate and test befo">
            <a:extLst xmlns:a="http://schemas.openxmlformats.org/drawingml/2006/main">
              <a:ext uri="{FF2B5EF4-FFF2-40B4-BE49-F238E27FC236}">
                <a16:creationId xmlns:a16="http://schemas.microsoft.com/office/drawing/2014/main" id="{E822CC5C-0B19-4C11-A642-92C0D7F4DBDA}"/>
              </a:ext>
            </a:extLst>
          </p:cNvPr>
          <p:cNvSpPr>
            <a:spLocks xmlns:a="http://schemas.openxmlformats.org/drawingml/2006/main" noGrp="1"/>
          </p:cNvSpPr>
          <p:nvPr/>
        </p:nvSpPr>
        <p:spPr>
          <a:xfrm xmlns:a="http://schemas.openxmlformats.org/drawingml/2006/main">
            <a:off x="8039100" y="4162425"/>
            <a:ext cx="3095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67371"/>
                </a:solidFill>
                <a:latin typeface="Calibri"/>
                <a:ea typeface="Calibri"/>
                <a:cs typeface="Calibri"/>
              </a:defRPr>
            </a:defPPr>
            <a:lvl1pPr>
              <a:defRPr sz="1875" b="0">
                <a:solidFill>
                  <a:srgbClr val="567371"/>
                </a:solidFill>
                <a:latin typeface="Calibri"/>
                <a:ea typeface="Calibri"/>
                <a:cs typeface="Calibri"/>
              </a:defRPr>
            </a:lvl1pPr>
            <a:lvl2pPr>
              <a:defRPr sz="1875" b="0">
                <a:solidFill>
                  <a:srgbClr val="567371"/>
                </a:solidFill>
                <a:latin typeface="Calibri"/>
                <a:ea typeface="Calibri"/>
                <a:cs typeface="Calibri"/>
              </a:defRPr>
            </a:lvl2pPr>
            <a:lvl3pPr>
              <a:defRPr sz="1875" b="0">
                <a:solidFill>
                  <a:srgbClr val="567371"/>
                </a:solidFill>
                <a:latin typeface="Calibri"/>
                <a:ea typeface="Calibri"/>
                <a:cs typeface="Calibri"/>
              </a:defRPr>
            </a:lvl3pPr>
            <a:lvl4pPr>
              <a:defRPr sz="1875" b="0">
                <a:solidFill>
                  <a:srgbClr val="567371"/>
                </a:solidFill>
                <a:latin typeface="Calibri"/>
                <a:ea typeface="Calibri"/>
                <a:cs typeface="Calibri"/>
              </a:defRPr>
            </a:lvl4pPr>
            <a:lvl5pPr>
              <a:defRPr sz="1875" b="0">
                <a:solidFill>
                  <a:srgbClr val="567371"/>
                </a:solidFill>
                <a:latin typeface="Calibri"/>
                <a:ea typeface="Calibri"/>
                <a:cs typeface="Calibri"/>
              </a:defRPr>
            </a:lvl5pPr>
            <a:lvl6pPr>
              <a:defRPr sz="1875" b="0">
                <a:solidFill>
                  <a:srgbClr val="567371"/>
                </a:solidFill>
                <a:latin typeface="Calibri"/>
                <a:ea typeface="Calibri"/>
                <a:cs typeface="Calibri"/>
              </a:defRPr>
            </a:lvl6pPr>
            <a:lvl7pPr>
              <a:defRPr sz="1875" b="0">
                <a:solidFill>
                  <a:srgbClr val="567371"/>
                </a:solidFill>
                <a:latin typeface="Calibri"/>
                <a:ea typeface="Calibri"/>
                <a:cs typeface="Calibri"/>
              </a:defRPr>
            </a:lvl7pPr>
            <a:lvl8pPr>
              <a:defRPr sz="1875" b="0">
                <a:solidFill>
                  <a:srgbClr val="567371"/>
                </a:solidFill>
                <a:latin typeface="Calibri"/>
                <a:ea typeface="Calibri"/>
                <a:cs typeface="Calibri"/>
              </a:defRPr>
            </a:lvl8pPr>
            <a:lvl9pPr>
              <a:defRPr sz="1875" b="0">
                <a:solidFill>
                  <a:srgbClr val="567371"/>
                </a:solidFill>
                <a:latin typeface="Calibri"/>
                <a:ea typeface="Calibri"/>
                <a:cs typeface="Calibri"/>
              </a:defRPr>
            </a:lvl9pPr>
          </a:lstStyle>
          <a:p xmlns:a="http://schemas.openxmlformats.org/drawingml/2006/main">
            <a:pPr>
              <a:defRPr sz="1875" b="0">
                <a:solidFill>
                  <a:srgbClr val="567371"/>
                </a:solidFill>
                <a:latin typeface="Calibri"/>
                <a:ea typeface="Calibri"/>
                <a:cs typeface="Calibri"/>
              </a:defRPr>
            </a:pPr>
            <a:r>
              <a:rPr sz="1875" b="0">
                <a:solidFill>
                  <a:srgbClr val="567371"/>
                </a:solidFill>
                <a:latin typeface="Calibri"/>
                <a:ea typeface="Calibri"/>
                <a:cs typeface="Calibri"/>
              </a:rPr>
              <a:t>Recovery positioning. Formulate and test before commercialization.</a:t>
            </a:r>
          </a:p>
        </p:txBody>
      </p:sp>
      <p:sp>
        <p:nvSpPr>
          <p:cNvPr id="17" name="Expansion depends on acquisition efficiency, ">
            <a:extLst xmlns:a="http://schemas.openxmlformats.org/drawingml/2006/main">
              <a:ext uri="{FF2B5EF4-FFF2-40B4-BE49-F238E27FC236}">
                <a16:creationId xmlns:a16="http://schemas.microsoft.com/office/drawing/2014/main" id="{0B6C0035-7574-4F82-ABCD-7ED398BC013E}"/>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7371"/>
                </a:solidFill>
                <a:latin typeface="Calibri"/>
                <a:ea typeface="Calibri"/>
                <a:cs typeface="Calibri"/>
              </a:defRPr>
            </a:defPPr>
            <a:lvl1pPr>
              <a:defRPr sz="1275" b="0">
                <a:solidFill>
                  <a:srgbClr val="567371"/>
                </a:solidFill>
                <a:latin typeface="Calibri"/>
                <a:ea typeface="Calibri"/>
                <a:cs typeface="Calibri"/>
              </a:defRPr>
            </a:lvl1pPr>
            <a:lvl2pPr>
              <a:defRPr sz="1275" b="0">
                <a:solidFill>
                  <a:srgbClr val="567371"/>
                </a:solidFill>
                <a:latin typeface="Calibri"/>
                <a:ea typeface="Calibri"/>
                <a:cs typeface="Calibri"/>
              </a:defRPr>
            </a:lvl2pPr>
            <a:lvl3pPr>
              <a:defRPr sz="1275" b="0">
                <a:solidFill>
                  <a:srgbClr val="567371"/>
                </a:solidFill>
                <a:latin typeface="Calibri"/>
                <a:ea typeface="Calibri"/>
                <a:cs typeface="Calibri"/>
              </a:defRPr>
            </a:lvl3pPr>
            <a:lvl4pPr>
              <a:defRPr sz="1275" b="0">
                <a:solidFill>
                  <a:srgbClr val="567371"/>
                </a:solidFill>
                <a:latin typeface="Calibri"/>
                <a:ea typeface="Calibri"/>
                <a:cs typeface="Calibri"/>
              </a:defRPr>
            </a:lvl4pPr>
            <a:lvl5pPr>
              <a:defRPr sz="1275" b="0">
                <a:solidFill>
                  <a:srgbClr val="567371"/>
                </a:solidFill>
                <a:latin typeface="Calibri"/>
                <a:ea typeface="Calibri"/>
                <a:cs typeface="Calibri"/>
              </a:defRPr>
            </a:lvl5pPr>
            <a:lvl6pPr>
              <a:defRPr sz="1275" b="0">
                <a:solidFill>
                  <a:srgbClr val="567371"/>
                </a:solidFill>
                <a:latin typeface="Calibri"/>
                <a:ea typeface="Calibri"/>
                <a:cs typeface="Calibri"/>
              </a:defRPr>
            </a:lvl6pPr>
            <a:lvl7pPr>
              <a:defRPr sz="1275" b="0">
                <a:solidFill>
                  <a:srgbClr val="567371"/>
                </a:solidFill>
                <a:latin typeface="Calibri"/>
                <a:ea typeface="Calibri"/>
                <a:cs typeface="Calibri"/>
              </a:defRPr>
            </a:lvl7pPr>
            <a:lvl8pPr>
              <a:defRPr sz="1275" b="0">
                <a:solidFill>
                  <a:srgbClr val="567371"/>
                </a:solidFill>
                <a:latin typeface="Calibri"/>
                <a:ea typeface="Calibri"/>
                <a:cs typeface="Calibri"/>
              </a:defRPr>
            </a:lvl8pPr>
            <a:lvl9pPr>
              <a:defRPr sz="1275" b="0">
                <a:solidFill>
                  <a:srgbClr val="567371"/>
                </a:solidFill>
                <a:latin typeface="Calibri"/>
                <a:ea typeface="Calibri"/>
                <a:cs typeface="Calibri"/>
              </a:defRPr>
            </a:lvl9pPr>
          </a:lstStyle>
          <a:p xmlns:a="http://schemas.openxmlformats.org/drawingml/2006/main">
            <a:pPr>
              <a:defRPr sz="1275" b="0">
                <a:solidFill>
                  <a:srgbClr val="567371"/>
                </a:solidFill>
                <a:latin typeface="Calibri"/>
                <a:ea typeface="Calibri"/>
                <a:cs typeface="Calibri"/>
              </a:defRPr>
            </a:pPr>
            <a:r>
              <a:rPr sz="1275" b="0">
                <a:solidFill>
                  <a:srgbClr val="567371"/>
                </a:solidFill>
                <a:latin typeface="Calibri"/>
                <a:ea typeface="Calibri"/>
                <a:cs typeface="Calibri"/>
              </a:rPr>
              <a:t>Expansion depends on acquisition efficiency, retention, repeat purchase and inventory velocity.</a:t>
            </a:r>
          </a:p>
        </p:txBody>
      </p:sp>
    </p:spTree>
    <p:extLst>
      <p:ext uri="{BB962C8B-B14F-4D97-AF65-F5344CB8AC3E}">
        <p14:creationId xmlns:p14="http://schemas.microsoft.com/office/powerpoint/2010/main" val="964318951"/>
      </p:ext>
    </p:extLst>
  </p:cSld>
</p:sld>
</file>

<file path=ppt/slides/slide11.xml><?xml version="1.0" encoding="utf-8"?>
<p:sld xmlns:p="http://schemas.openxmlformats.org/presentationml/2006/main">
  <p:cSld>
    <p:bg>
      <p:bgPr>
        <a:solidFill xmlns:a="http://schemas.openxmlformats.org/drawingml/2006/main">
          <a:srgbClr val="073F48"/>
        </a:solidFill>
      </p:bgPr>
    </p:bg>
    <p:spTree>
      <p:nvGrpSpPr>
        <p:cNvPr id="1" name=""/>
        <p:cNvGrpSpPr/>
        <p:nvPr/>
      </p:nvGrpSpPr>
      <p:grpSpPr>
        <a:xfrm xmlns:a="http://schemas.openxmlformats.org/drawingml/2006/main"/>
      </p:grpSpPr>
      <p:sp>
        <p:nvSpPr>
          <p:cNvPr id="2" name="Investment opportunity: $500K–$1.5M">
            <a:extLst xmlns:a="http://schemas.openxmlformats.org/drawingml/2006/main">
              <a:ext uri="{FF2B5EF4-FFF2-40B4-BE49-F238E27FC236}">
                <a16:creationId xmlns:a16="http://schemas.microsoft.com/office/drawing/2014/main" id="{764FA621-4411-472E-9EC8-0B24A5A7F477}"/>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F5F0E7"/>
                </a:solidFill>
                <a:latin typeface="Calibri"/>
                <a:ea typeface="Calibri"/>
                <a:cs typeface="Calibri"/>
              </a:defRPr>
            </a:defPPr>
            <a:lvl1pPr>
              <a:defRPr sz="3300" b="0">
                <a:solidFill>
                  <a:srgbClr val="F5F0E7"/>
                </a:solidFill>
                <a:latin typeface="Calibri"/>
                <a:ea typeface="Calibri"/>
                <a:cs typeface="Calibri"/>
              </a:defRPr>
            </a:lvl1pPr>
            <a:lvl2pPr>
              <a:defRPr sz="3300" b="0">
                <a:solidFill>
                  <a:srgbClr val="F5F0E7"/>
                </a:solidFill>
                <a:latin typeface="Calibri"/>
                <a:ea typeface="Calibri"/>
                <a:cs typeface="Calibri"/>
              </a:defRPr>
            </a:lvl2pPr>
            <a:lvl3pPr>
              <a:defRPr sz="3300" b="0">
                <a:solidFill>
                  <a:srgbClr val="F5F0E7"/>
                </a:solidFill>
                <a:latin typeface="Calibri"/>
                <a:ea typeface="Calibri"/>
                <a:cs typeface="Calibri"/>
              </a:defRPr>
            </a:lvl3pPr>
            <a:lvl4pPr>
              <a:defRPr sz="3300" b="0">
                <a:solidFill>
                  <a:srgbClr val="F5F0E7"/>
                </a:solidFill>
                <a:latin typeface="Calibri"/>
                <a:ea typeface="Calibri"/>
                <a:cs typeface="Calibri"/>
              </a:defRPr>
            </a:lvl4pPr>
            <a:lvl5pPr>
              <a:defRPr sz="3300" b="0">
                <a:solidFill>
                  <a:srgbClr val="F5F0E7"/>
                </a:solidFill>
                <a:latin typeface="Calibri"/>
                <a:ea typeface="Calibri"/>
                <a:cs typeface="Calibri"/>
              </a:defRPr>
            </a:lvl5pPr>
            <a:lvl6pPr>
              <a:defRPr sz="3300" b="0">
                <a:solidFill>
                  <a:srgbClr val="F5F0E7"/>
                </a:solidFill>
                <a:latin typeface="Calibri"/>
                <a:ea typeface="Calibri"/>
                <a:cs typeface="Calibri"/>
              </a:defRPr>
            </a:lvl6pPr>
            <a:lvl7pPr>
              <a:defRPr sz="3300" b="0">
                <a:solidFill>
                  <a:srgbClr val="F5F0E7"/>
                </a:solidFill>
                <a:latin typeface="Calibri"/>
                <a:ea typeface="Calibri"/>
                <a:cs typeface="Calibri"/>
              </a:defRPr>
            </a:lvl7pPr>
            <a:lvl8pPr>
              <a:defRPr sz="3300" b="0">
                <a:solidFill>
                  <a:srgbClr val="F5F0E7"/>
                </a:solidFill>
                <a:latin typeface="Calibri"/>
                <a:ea typeface="Calibri"/>
                <a:cs typeface="Calibri"/>
              </a:defRPr>
            </a:lvl8pPr>
            <a:lvl9pPr>
              <a:defRPr sz="3300" b="0">
                <a:solidFill>
                  <a:srgbClr val="F5F0E7"/>
                </a:solidFill>
                <a:latin typeface="Calibri"/>
                <a:ea typeface="Calibri"/>
                <a:cs typeface="Calibri"/>
              </a:defRPr>
            </a:lvl9pPr>
          </a:lstStyle>
          <a:p xmlns:a="http://schemas.openxmlformats.org/drawingml/2006/main">
            <a:pPr>
              <a:defRPr sz="3300" b="0">
                <a:solidFill>
                  <a:srgbClr val="F5F0E7"/>
                </a:solidFill>
                <a:latin typeface="Calibri"/>
                <a:ea typeface="Calibri"/>
                <a:cs typeface="Calibri"/>
              </a:defRPr>
            </a:pPr>
            <a:r>
              <a:rPr sz="3300" b="0">
                <a:solidFill>
                  <a:srgbClr val="F5F0E7"/>
                </a:solidFill>
                <a:latin typeface="Calibri"/>
                <a:ea typeface="Calibri"/>
                <a:cs typeface="Calibri"/>
              </a:rPr>
              <a:t>Investment opportunity: $500K–$1.5M</a:t>
            </a:r>
          </a:p>
        </p:txBody>
      </p:sp>
      <p:sp>
        <p:nvSpPr>
          <p:cNvPr id="3" name="AURA PATCH  /  CONFIDENTIAL  /  OCTOBER 2026">
            <a:extLst xmlns:a="http://schemas.openxmlformats.org/drawingml/2006/main">
              <a:ext uri="{FF2B5EF4-FFF2-40B4-BE49-F238E27FC236}">
                <a16:creationId xmlns:a16="http://schemas.microsoft.com/office/drawing/2014/main" id="{72C2E5E2-1165-43A6-A387-D6C127C4F915}"/>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B9CEC7"/>
                </a:solidFill>
                <a:latin typeface="Calibri"/>
                <a:ea typeface="Calibri"/>
                <a:cs typeface="Calibri"/>
              </a:defRPr>
            </a:defPPr>
            <a:lvl1pPr>
              <a:defRPr sz="900" b="0">
                <a:solidFill>
                  <a:srgbClr val="B9CEC7"/>
                </a:solidFill>
                <a:latin typeface="Calibri"/>
                <a:ea typeface="Calibri"/>
                <a:cs typeface="Calibri"/>
              </a:defRPr>
            </a:lvl1pPr>
            <a:lvl2pPr>
              <a:defRPr sz="900" b="0">
                <a:solidFill>
                  <a:srgbClr val="B9CEC7"/>
                </a:solidFill>
                <a:latin typeface="Calibri"/>
                <a:ea typeface="Calibri"/>
                <a:cs typeface="Calibri"/>
              </a:defRPr>
            </a:lvl2pPr>
            <a:lvl3pPr>
              <a:defRPr sz="900" b="0">
                <a:solidFill>
                  <a:srgbClr val="B9CEC7"/>
                </a:solidFill>
                <a:latin typeface="Calibri"/>
                <a:ea typeface="Calibri"/>
                <a:cs typeface="Calibri"/>
              </a:defRPr>
            </a:lvl3pPr>
            <a:lvl4pPr>
              <a:defRPr sz="900" b="0">
                <a:solidFill>
                  <a:srgbClr val="B9CEC7"/>
                </a:solidFill>
                <a:latin typeface="Calibri"/>
                <a:ea typeface="Calibri"/>
                <a:cs typeface="Calibri"/>
              </a:defRPr>
            </a:lvl4pPr>
            <a:lvl5pPr>
              <a:defRPr sz="900" b="0">
                <a:solidFill>
                  <a:srgbClr val="B9CEC7"/>
                </a:solidFill>
                <a:latin typeface="Calibri"/>
                <a:ea typeface="Calibri"/>
                <a:cs typeface="Calibri"/>
              </a:defRPr>
            </a:lvl5pPr>
            <a:lvl6pPr>
              <a:defRPr sz="900" b="0">
                <a:solidFill>
                  <a:srgbClr val="B9CEC7"/>
                </a:solidFill>
                <a:latin typeface="Calibri"/>
                <a:ea typeface="Calibri"/>
                <a:cs typeface="Calibri"/>
              </a:defRPr>
            </a:lvl6pPr>
            <a:lvl7pPr>
              <a:defRPr sz="900" b="0">
                <a:solidFill>
                  <a:srgbClr val="B9CEC7"/>
                </a:solidFill>
                <a:latin typeface="Calibri"/>
                <a:ea typeface="Calibri"/>
                <a:cs typeface="Calibri"/>
              </a:defRPr>
            </a:lvl7pPr>
            <a:lvl8pPr>
              <a:defRPr sz="900" b="0">
                <a:solidFill>
                  <a:srgbClr val="B9CEC7"/>
                </a:solidFill>
                <a:latin typeface="Calibri"/>
                <a:ea typeface="Calibri"/>
                <a:cs typeface="Calibri"/>
              </a:defRPr>
            </a:lvl8pPr>
            <a:lvl9pPr>
              <a:defRPr sz="900" b="0">
                <a:solidFill>
                  <a:srgbClr val="B9CEC7"/>
                </a:solidFill>
                <a:latin typeface="Calibri"/>
                <a:ea typeface="Calibri"/>
                <a:cs typeface="Calibri"/>
              </a:defRPr>
            </a:lvl9pPr>
          </a:lstStyle>
          <a:p xmlns:a="http://schemas.openxmlformats.org/drawingml/2006/main">
            <a:pPr>
              <a:defRPr sz="900" b="0">
                <a:solidFill>
                  <a:srgbClr val="B9CEC7"/>
                </a:solidFill>
                <a:latin typeface="Calibri"/>
                <a:ea typeface="Calibri"/>
                <a:cs typeface="Calibri"/>
              </a:defRPr>
            </a:pPr>
            <a:r>
              <a:rPr sz="900" b="0">
                <a:solidFill>
                  <a:srgbClr val="B9CEC7"/>
                </a:solidFill>
                <a:latin typeface="Calibri"/>
                <a:ea typeface="Calibri"/>
                <a:cs typeface="Calibri"/>
              </a:rPr>
              <a:t>AURA PATCH  /  CONFIDENTIAL  /  OCTOBER 2026</a:t>
            </a:r>
          </a:p>
        </p:txBody>
      </p:sp>
      <p:sp>
        <p:nvSpPr>
          <p:cNvPr id="4" name="11">
            <a:extLst xmlns:a="http://schemas.openxmlformats.org/drawingml/2006/main">
              <a:ext uri="{FF2B5EF4-FFF2-40B4-BE49-F238E27FC236}">
                <a16:creationId xmlns:a16="http://schemas.microsoft.com/office/drawing/2014/main" id="{3C4B9109-5A4A-45A9-945A-5C4CEB6CC0C0}"/>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11</a:t>
            </a:r>
          </a:p>
        </p:txBody>
      </p:sp>
      <p:sp>
        <p:nvSpPr>
          <p:cNvPr id="5" name="Strategic seed capital to launch the flagship">
            <a:extLst xmlns:a="http://schemas.openxmlformats.org/drawingml/2006/main">
              <a:ext uri="{FF2B5EF4-FFF2-40B4-BE49-F238E27FC236}">
                <a16:creationId xmlns:a16="http://schemas.microsoft.com/office/drawing/2014/main" id="{B47B6B41-AD73-49A0-9F6F-C096096DF50F}"/>
              </a:ext>
            </a:extLst>
          </p:cNvPr>
          <p:cNvSpPr>
            <a:spLocks xmlns:a="http://schemas.openxmlformats.org/drawingml/2006/main" noGrp="1"/>
          </p:cNvSpPr>
          <p:nvPr/>
        </p:nvSpPr>
        <p:spPr>
          <a:xfrm xmlns:a="http://schemas.openxmlformats.org/drawingml/2006/main">
            <a:off x="609600" y="15621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9CEC7"/>
                </a:solidFill>
                <a:latin typeface="Calibri"/>
                <a:ea typeface="Calibri"/>
                <a:cs typeface="Calibri"/>
              </a:defRPr>
            </a:defPPr>
            <a:lvl1pPr>
              <a:defRPr sz="2025" b="0">
                <a:solidFill>
                  <a:srgbClr val="B9CEC7"/>
                </a:solidFill>
                <a:latin typeface="Calibri"/>
                <a:ea typeface="Calibri"/>
                <a:cs typeface="Calibri"/>
              </a:defRPr>
            </a:lvl1pPr>
            <a:lvl2pPr>
              <a:defRPr sz="2025" b="0">
                <a:solidFill>
                  <a:srgbClr val="B9CEC7"/>
                </a:solidFill>
                <a:latin typeface="Calibri"/>
                <a:ea typeface="Calibri"/>
                <a:cs typeface="Calibri"/>
              </a:defRPr>
            </a:lvl2pPr>
            <a:lvl3pPr>
              <a:defRPr sz="2025" b="0">
                <a:solidFill>
                  <a:srgbClr val="B9CEC7"/>
                </a:solidFill>
                <a:latin typeface="Calibri"/>
                <a:ea typeface="Calibri"/>
                <a:cs typeface="Calibri"/>
              </a:defRPr>
            </a:lvl3pPr>
            <a:lvl4pPr>
              <a:defRPr sz="2025" b="0">
                <a:solidFill>
                  <a:srgbClr val="B9CEC7"/>
                </a:solidFill>
                <a:latin typeface="Calibri"/>
                <a:ea typeface="Calibri"/>
                <a:cs typeface="Calibri"/>
              </a:defRPr>
            </a:lvl4pPr>
            <a:lvl5pPr>
              <a:defRPr sz="2025" b="0">
                <a:solidFill>
                  <a:srgbClr val="B9CEC7"/>
                </a:solidFill>
                <a:latin typeface="Calibri"/>
                <a:ea typeface="Calibri"/>
                <a:cs typeface="Calibri"/>
              </a:defRPr>
            </a:lvl5pPr>
            <a:lvl6pPr>
              <a:defRPr sz="2025" b="0">
                <a:solidFill>
                  <a:srgbClr val="B9CEC7"/>
                </a:solidFill>
                <a:latin typeface="Calibri"/>
                <a:ea typeface="Calibri"/>
                <a:cs typeface="Calibri"/>
              </a:defRPr>
            </a:lvl6pPr>
            <a:lvl7pPr>
              <a:defRPr sz="2025" b="0">
                <a:solidFill>
                  <a:srgbClr val="B9CEC7"/>
                </a:solidFill>
                <a:latin typeface="Calibri"/>
                <a:ea typeface="Calibri"/>
                <a:cs typeface="Calibri"/>
              </a:defRPr>
            </a:lvl7pPr>
            <a:lvl8pPr>
              <a:defRPr sz="2025" b="0">
                <a:solidFill>
                  <a:srgbClr val="B9CEC7"/>
                </a:solidFill>
                <a:latin typeface="Calibri"/>
                <a:ea typeface="Calibri"/>
                <a:cs typeface="Calibri"/>
              </a:defRPr>
            </a:lvl8pPr>
            <a:lvl9pPr>
              <a:defRPr sz="2025" b="0">
                <a:solidFill>
                  <a:srgbClr val="B9CEC7"/>
                </a:solidFill>
                <a:latin typeface="Calibri"/>
                <a:ea typeface="Calibri"/>
                <a:cs typeface="Calibri"/>
              </a:defRPr>
            </a:lvl9pPr>
          </a:lstStyle>
          <a:p xmlns:a="http://schemas.openxmlformats.org/drawingml/2006/main">
            <a:pPr>
              <a:defRPr sz="2025" b="0">
                <a:solidFill>
                  <a:srgbClr val="B9CEC7"/>
                </a:solidFill>
                <a:latin typeface="Calibri"/>
                <a:ea typeface="Calibri"/>
                <a:cs typeface="Calibri"/>
              </a:defRPr>
            </a:pPr>
            <a:r>
              <a:rPr sz="2025" b="0">
                <a:solidFill>
                  <a:srgbClr val="B9CEC7"/>
                </a:solidFill>
                <a:latin typeface="Calibri"/>
                <a:ea typeface="Calibri"/>
                <a:cs typeface="Calibri"/>
              </a:rPr>
              <a:t>Strategic seed capital to launch the flagship and measure commercial performance</a:t>
            </a:r>
          </a:p>
        </p:txBody>
      </p:sp>
      <p:sp>
        <p:nvSpPr>
          <p:cNvPr id="6" name="$500K">
            <a:extLst xmlns:a="http://schemas.openxmlformats.org/drawingml/2006/main">
              <a:ext uri="{FF2B5EF4-FFF2-40B4-BE49-F238E27FC236}">
                <a16:creationId xmlns:a16="http://schemas.microsoft.com/office/drawing/2014/main" id="{160FF051-22E3-4484-B995-2FFB6F9F7627}"/>
              </a:ext>
            </a:extLst>
          </p:cNvPr>
          <p:cNvSpPr>
            <a:spLocks xmlns:a="http://schemas.openxmlformats.org/drawingml/2006/main" noGrp="1"/>
          </p:cNvSpPr>
          <p:nvPr/>
        </p:nvSpPr>
        <p:spPr>
          <a:xfrm xmlns:a="http://schemas.openxmlformats.org/drawingml/2006/main">
            <a:off x="609600" y="26860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425" b="0">
                <a:solidFill>
                  <a:srgbClr val="BF9A50"/>
                </a:solidFill>
                <a:latin typeface="Calibri"/>
                <a:ea typeface="Calibri"/>
                <a:cs typeface="Calibri"/>
              </a:defRPr>
            </a:defPPr>
            <a:lvl1pPr>
              <a:defRPr sz="4425" b="0">
                <a:solidFill>
                  <a:srgbClr val="BF9A50"/>
                </a:solidFill>
                <a:latin typeface="Calibri"/>
                <a:ea typeface="Calibri"/>
                <a:cs typeface="Calibri"/>
              </a:defRPr>
            </a:lvl1pPr>
            <a:lvl2pPr>
              <a:defRPr sz="4425" b="0">
                <a:solidFill>
                  <a:srgbClr val="BF9A50"/>
                </a:solidFill>
                <a:latin typeface="Calibri"/>
                <a:ea typeface="Calibri"/>
                <a:cs typeface="Calibri"/>
              </a:defRPr>
            </a:lvl2pPr>
            <a:lvl3pPr>
              <a:defRPr sz="4425" b="0">
                <a:solidFill>
                  <a:srgbClr val="BF9A50"/>
                </a:solidFill>
                <a:latin typeface="Calibri"/>
                <a:ea typeface="Calibri"/>
                <a:cs typeface="Calibri"/>
              </a:defRPr>
            </a:lvl3pPr>
            <a:lvl4pPr>
              <a:defRPr sz="4425" b="0">
                <a:solidFill>
                  <a:srgbClr val="BF9A50"/>
                </a:solidFill>
                <a:latin typeface="Calibri"/>
                <a:ea typeface="Calibri"/>
                <a:cs typeface="Calibri"/>
              </a:defRPr>
            </a:lvl4pPr>
            <a:lvl5pPr>
              <a:defRPr sz="4425" b="0">
                <a:solidFill>
                  <a:srgbClr val="BF9A50"/>
                </a:solidFill>
                <a:latin typeface="Calibri"/>
                <a:ea typeface="Calibri"/>
                <a:cs typeface="Calibri"/>
              </a:defRPr>
            </a:lvl5pPr>
            <a:lvl6pPr>
              <a:defRPr sz="4425" b="0">
                <a:solidFill>
                  <a:srgbClr val="BF9A50"/>
                </a:solidFill>
                <a:latin typeface="Calibri"/>
                <a:ea typeface="Calibri"/>
                <a:cs typeface="Calibri"/>
              </a:defRPr>
            </a:lvl6pPr>
            <a:lvl7pPr>
              <a:defRPr sz="4425" b="0">
                <a:solidFill>
                  <a:srgbClr val="BF9A50"/>
                </a:solidFill>
                <a:latin typeface="Calibri"/>
                <a:ea typeface="Calibri"/>
                <a:cs typeface="Calibri"/>
              </a:defRPr>
            </a:lvl7pPr>
            <a:lvl8pPr>
              <a:defRPr sz="4425" b="0">
                <a:solidFill>
                  <a:srgbClr val="BF9A50"/>
                </a:solidFill>
                <a:latin typeface="Calibri"/>
                <a:ea typeface="Calibri"/>
                <a:cs typeface="Calibri"/>
              </a:defRPr>
            </a:lvl8pPr>
            <a:lvl9pPr>
              <a:defRPr sz="4425" b="0">
                <a:solidFill>
                  <a:srgbClr val="BF9A50"/>
                </a:solidFill>
                <a:latin typeface="Calibri"/>
                <a:ea typeface="Calibri"/>
                <a:cs typeface="Calibri"/>
              </a:defRPr>
            </a:lvl9pPr>
          </a:lstStyle>
          <a:p xmlns:a="http://schemas.openxmlformats.org/drawingml/2006/main">
            <a:pPr>
              <a:defRPr sz="4425" b="0">
                <a:solidFill>
                  <a:srgbClr val="BF9A50"/>
                </a:solidFill>
                <a:latin typeface="Calibri"/>
                <a:ea typeface="Calibri"/>
                <a:cs typeface="Calibri"/>
              </a:defRPr>
            </a:pPr>
            <a:r>
              <a:rPr sz="4425" b="0">
                <a:solidFill>
                  <a:srgbClr val="BF9A50"/>
                </a:solidFill>
                <a:latin typeface="Calibri"/>
                <a:ea typeface="Calibri"/>
                <a:cs typeface="Calibri"/>
              </a:rPr>
              <a:t>$500K</a:t>
            </a:r>
          </a:p>
        </p:txBody>
      </p:sp>
      <p:sp>
        <p:nvSpPr>
          <p:cNvPr id="7" name="Launch">
            <a:extLst xmlns:a="http://schemas.openxmlformats.org/drawingml/2006/main">
              <a:ext uri="{FF2B5EF4-FFF2-40B4-BE49-F238E27FC236}">
                <a16:creationId xmlns:a16="http://schemas.microsoft.com/office/drawing/2014/main" id="{586DE3B2-723E-4633-A3F1-501AC938C1E6}"/>
              </a:ext>
            </a:extLst>
          </p:cNvPr>
          <p:cNvSpPr>
            <a:spLocks xmlns:a="http://schemas.openxmlformats.org/drawingml/2006/main" noGrp="1"/>
          </p:cNvSpPr>
          <p:nvPr/>
        </p:nvSpPr>
        <p:spPr>
          <a:xfrm xmlns:a="http://schemas.openxmlformats.org/drawingml/2006/main">
            <a:off x="609600" y="36766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5F0E7"/>
                </a:solidFill>
                <a:latin typeface="Calibri"/>
                <a:ea typeface="Calibri"/>
                <a:cs typeface="Calibri"/>
              </a:defRPr>
            </a:defPPr>
            <a:lvl1pPr>
              <a:defRPr sz="2175" b="1">
                <a:solidFill>
                  <a:srgbClr val="F5F0E7"/>
                </a:solidFill>
                <a:latin typeface="Calibri"/>
                <a:ea typeface="Calibri"/>
                <a:cs typeface="Calibri"/>
              </a:defRPr>
            </a:lvl1pPr>
            <a:lvl2pPr>
              <a:defRPr sz="2175" b="1">
                <a:solidFill>
                  <a:srgbClr val="F5F0E7"/>
                </a:solidFill>
                <a:latin typeface="Calibri"/>
                <a:ea typeface="Calibri"/>
                <a:cs typeface="Calibri"/>
              </a:defRPr>
            </a:lvl2pPr>
            <a:lvl3pPr>
              <a:defRPr sz="2175" b="1">
                <a:solidFill>
                  <a:srgbClr val="F5F0E7"/>
                </a:solidFill>
                <a:latin typeface="Calibri"/>
                <a:ea typeface="Calibri"/>
                <a:cs typeface="Calibri"/>
              </a:defRPr>
            </a:lvl3pPr>
            <a:lvl4pPr>
              <a:defRPr sz="2175" b="1">
                <a:solidFill>
                  <a:srgbClr val="F5F0E7"/>
                </a:solidFill>
                <a:latin typeface="Calibri"/>
                <a:ea typeface="Calibri"/>
                <a:cs typeface="Calibri"/>
              </a:defRPr>
            </a:lvl4pPr>
            <a:lvl5pPr>
              <a:defRPr sz="2175" b="1">
                <a:solidFill>
                  <a:srgbClr val="F5F0E7"/>
                </a:solidFill>
                <a:latin typeface="Calibri"/>
                <a:ea typeface="Calibri"/>
                <a:cs typeface="Calibri"/>
              </a:defRPr>
            </a:lvl5pPr>
            <a:lvl6pPr>
              <a:defRPr sz="2175" b="1">
                <a:solidFill>
                  <a:srgbClr val="F5F0E7"/>
                </a:solidFill>
                <a:latin typeface="Calibri"/>
                <a:ea typeface="Calibri"/>
                <a:cs typeface="Calibri"/>
              </a:defRPr>
            </a:lvl6pPr>
            <a:lvl7pPr>
              <a:defRPr sz="2175" b="1">
                <a:solidFill>
                  <a:srgbClr val="F5F0E7"/>
                </a:solidFill>
                <a:latin typeface="Calibri"/>
                <a:ea typeface="Calibri"/>
                <a:cs typeface="Calibri"/>
              </a:defRPr>
            </a:lvl7pPr>
            <a:lvl8pPr>
              <a:defRPr sz="2175" b="1">
                <a:solidFill>
                  <a:srgbClr val="F5F0E7"/>
                </a:solidFill>
                <a:latin typeface="Calibri"/>
                <a:ea typeface="Calibri"/>
                <a:cs typeface="Calibri"/>
              </a:defRPr>
            </a:lvl8pPr>
            <a:lvl9pPr>
              <a:defRPr sz="2175" b="1">
                <a:solidFill>
                  <a:srgbClr val="F5F0E7"/>
                </a:solidFill>
                <a:latin typeface="Calibri"/>
                <a:ea typeface="Calibri"/>
                <a:cs typeface="Calibri"/>
              </a:defRPr>
            </a:lvl9pPr>
          </a:lstStyle>
          <a:p xmlns:a="http://schemas.openxmlformats.org/drawingml/2006/main">
            <a:pPr>
              <a:defRPr sz="2175" b="1">
                <a:solidFill>
                  <a:srgbClr val="F5F0E7"/>
                </a:solidFill>
                <a:latin typeface="Calibri"/>
                <a:ea typeface="Calibri"/>
                <a:cs typeface="Calibri"/>
              </a:defRPr>
            </a:pPr>
            <a:r>
              <a:rPr sz="2175" b="1">
                <a:solidFill>
                  <a:srgbClr val="F5F0E7"/>
                </a:solidFill>
                <a:latin typeface="Calibri"/>
                <a:ea typeface="Calibri"/>
                <a:cs typeface="Calibri"/>
              </a:rPr>
              <a:t>Launch</a:t>
            </a:r>
          </a:p>
        </p:txBody>
      </p:sp>
      <p:sp>
        <p:nvSpPr>
          <p:cNvPr id="8" name="Initial inventory, claims review, subscriptio">
            <a:extLst xmlns:a="http://schemas.openxmlformats.org/drawingml/2006/main">
              <a:ext uri="{FF2B5EF4-FFF2-40B4-BE49-F238E27FC236}">
                <a16:creationId xmlns:a16="http://schemas.microsoft.com/office/drawing/2014/main" id="{2479685A-0895-46AF-9135-B17C37767487}"/>
              </a:ext>
            </a:extLst>
          </p:cNvPr>
          <p:cNvSpPr>
            <a:spLocks xmlns:a="http://schemas.openxmlformats.org/drawingml/2006/main" noGrp="1"/>
          </p:cNvSpPr>
          <p:nvPr/>
        </p:nvSpPr>
        <p:spPr>
          <a:xfrm xmlns:a="http://schemas.openxmlformats.org/drawingml/2006/main">
            <a:off x="609600" y="4333875"/>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CEC7"/>
                </a:solidFill>
                <a:latin typeface="Calibri"/>
                <a:ea typeface="Calibri"/>
                <a:cs typeface="Calibri"/>
              </a:defRPr>
            </a:defPPr>
            <a:lvl1pPr>
              <a:defRPr sz="1875" b="0">
                <a:solidFill>
                  <a:srgbClr val="B9CEC7"/>
                </a:solidFill>
                <a:latin typeface="Calibri"/>
                <a:ea typeface="Calibri"/>
                <a:cs typeface="Calibri"/>
              </a:defRPr>
            </a:lvl1pPr>
            <a:lvl2pPr>
              <a:defRPr sz="1875" b="0">
                <a:solidFill>
                  <a:srgbClr val="B9CEC7"/>
                </a:solidFill>
                <a:latin typeface="Calibri"/>
                <a:ea typeface="Calibri"/>
                <a:cs typeface="Calibri"/>
              </a:defRPr>
            </a:lvl2pPr>
            <a:lvl3pPr>
              <a:defRPr sz="1875" b="0">
                <a:solidFill>
                  <a:srgbClr val="B9CEC7"/>
                </a:solidFill>
                <a:latin typeface="Calibri"/>
                <a:ea typeface="Calibri"/>
                <a:cs typeface="Calibri"/>
              </a:defRPr>
            </a:lvl3pPr>
            <a:lvl4pPr>
              <a:defRPr sz="1875" b="0">
                <a:solidFill>
                  <a:srgbClr val="B9CEC7"/>
                </a:solidFill>
                <a:latin typeface="Calibri"/>
                <a:ea typeface="Calibri"/>
                <a:cs typeface="Calibri"/>
              </a:defRPr>
            </a:lvl4pPr>
            <a:lvl5pPr>
              <a:defRPr sz="1875" b="0">
                <a:solidFill>
                  <a:srgbClr val="B9CEC7"/>
                </a:solidFill>
                <a:latin typeface="Calibri"/>
                <a:ea typeface="Calibri"/>
                <a:cs typeface="Calibri"/>
              </a:defRPr>
            </a:lvl5pPr>
            <a:lvl6pPr>
              <a:defRPr sz="1875" b="0">
                <a:solidFill>
                  <a:srgbClr val="B9CEC7"/>
                </a:solidFill>
                <a:latin typeface="Calibri"/>
                <a:ea typeface="Calibri"/>
                <a:cs typeface="Calibri"/>
              </a:defRPr>
            </a:lvl6pPr>
            <a:lvl7pPr>
              <a:defRPr sz="1875" b="0">
                <a:solidFill>
                  <a:srgbClr val="B9CEC7"/>
                </a:solidFill>
                <a:latin typeface="Calibri"/>
                <a:ea typeface="Calibri"/>
                <a:cs typeface="Calibri"/>
              </a:defRPr>
            </a:lvl7pPr>
            <a:lvl8pPr>
              <a:defRPr sz="1875" b="0">
                <a:solidFill>
                  <a:srgbClr val="B9CEC7"/>
                </a:solidFill>
                <a:latin typeface="Calibri"/>
                <a:ea typeface="Calibri"/>
                <a:cs typeface="Calibri"/>
              </a:defRPr>
            </a:lvl8pPr>
            <a:lvl9pPr>
              <a:defRPr sz="1875" b="0">
                <a:solidFill>
                  <a:srgbClr val="B9CEC7"/>
                </a:solidFill>
                <a:latin typeface="Calibri"/>
                <a:ea typeface="Calibri"/>
                <a:cs typeface="Calibri"/>
              </a:defRPr>
            </a:lvl9pPr>
          </a:lstStyle>
          <a:p xmlns:a="http://schemas.openxmlformats.org/drawingml/2006/main">
            <a:pPr>
              <a:defRPr sz="1875" b="0">
                <a:solidFill>
                  <a:srgbClr val="B9CEC7"/>
                </a:solidFill>
                <a:latin typeface="Calibri"/>
                <a:ea typeface="Calibri"/>
                <a:cs typeface="Calibri"/>
              </a:defRPr>
            </a:pPr>
            <a:r>
              <a:rPr sz="1875" b="0">
                <a:solidFill>
                  <a:srgbClr val="B9CEC7"/>
                </a:solidFill>
                <a:latin typeface="Calibri"/>
                <a:ea typeface="Calibri"/>
                <a:cs typeface="Calibri"/>
              </a:rPr>
              <a:t>Initial inventory, claims review, subscription setup and acquisition tests.</a:t>
            </a:r>
          </a:p>
        </p:txBody>
      </p:sp>
      <p:sp>
        <p:nvSpPr>
          <p:cNvPr id="9" name="$1M">
            <a:extLst xmlns:a="http://schemas.openxmlformats.org/drawingml/2006/main">
              <a:ext uri="{FF2B5EF4-FFF2-40B4-BE49-F238E27FC236}">
                <a16:creationId xmlns:a16="http://schemas.microsoft.com/office/drawing/2014/main" id="{0D2B4E9A-B874-467F-A852-E66C6F70ACA0}"/>
              </a:ext>
            </a:extLst>
          </p:cNvPr>
          <p:cNvSpPr>
            <a:spLocks xmlns:a="http://schemas.openxmlformats.org/drawingml/2006/main" noGrp="1"/>
          </p:cNvSpPr>
          <p:nvPr/>
        </p:nvSpPr>
        <p:spPr>
          <a:xfrm xmlns:a="http://schemas.openxmlformats.org/drawingml/2006/main">
            <a:off x="4324350" y="26860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425" b="0">
                <a:solidFill>
                  <a:srgbClr val="BF9A50"/>
                </a:solidFill>
                <a:latin typeface="Calibri"/>
                <a:ea typeface="Calibri"/>
                <a:cs typeface="Calibri"/>
              </a:defRPr>
            </a:defPPr>
            <a:lvl1pPr>
              <a:defRPr sz="4425" b="0">
                <a:solidFill>
                  <a:srgbClr val="BF9A50"/>
                </a:solidFill>
                <a:latin typeface="Calibri"/>
                <a:ea typeface="Calibri"/>
                <a:cs typeface="Calibri"/>
              </a:defRPr>
            </a:lvl1pPr>
            <a:lvl2pPr>
              <a:defRPr sz="4425" b="0">
                <a:solidFill>
                  <a:srgbClr val="BF9A50"/>
                </a:solidFill>
                <a:latin typeface="Calibri"/>
                <a:ea typeface="Calibri"/>
                <a:cs typeface="Calibri"/>
              </a:defRPr>
            </a:lvl2pPr>
            <a:lvl3pPr>
              <a:defRPr sz="4425" b="0">
                <a:solidFill>
                  <a:srgbClr val="BF9A50"/>
                </a:solidFill>
                <a:latin typeface="Calibri"/>
                <a:ea typeface="Calibri"/>
                <a:cs typeface="Calibri"/>
              </a:defRPr>
            </a:lvl3pPr>
            <a:lvl4pPr>
              <a:defRPr sz="4425" b="0">
                <a:solidFill>
                  <a:srgbClr val="BF9A50"/>
                </a:solidFill>
                <a:latin typeface="Calibri"/>
                <a:ea typeface="Calibri"/>
                <a:cs typeface="Calibri"/>
              </a:defRPr>
            </a:lvl4pPr>
            <a:lvl5pPr>
              <a:defRPr sz="4425" b="0">
                <a:solidFill>
                  <a:srgbClr val="BF9A50"/>
                </a:solidFill>
                <a:latin typeface="Calibri"/>
                <a:ea typeface="Calibri"/>
                <a:cs typeface="Calibri"/>
              </a:defRPr>
            </a:lvl5pPr>
            <a:lvl6pPr>
              <a:defRPr sz="4425" b="0">
                <a:solidFill>
                  <a:srgbClr val="BF9A50"/>
                </a:solidFill>
                <a:latin typeface="Calibri"/>
                <a:ea typeface="Calibri"/>
                <a:cs typeface="Calibri"/>
              </a:defRPr>
            </a:lvl6pPr>
            <a:lvl7pPr>
              <a:defRPr sz="4425" b="0">
                <a:solidFill>
                  <a:srgbClr val="BF9A50"/>
                </a:solidFill>
                <a:latin typeface="Calibri"/>
                <a:ea typeface="Calibri"/>
                <a:cs typeface="Calibri"/>
              </a:defRPr>
            </a:lvl7pPr>
            <a:lvl8pPr>
              <a:defRPr sz="4425" b="0">
                <a:solidFill>
                  <a:srgbClr val="BF9A50"/>
                </a:solidFill>
                <a:latin typeface="Calibri"/>
                <a:ea typeface="Calibri"/>
                <a:cs typeface="Calibri"/>
              </a:defRPr>
            </a:lvl8pPr>
            <a:lvl9pPr>
              <a:defRPr sz="4425" b="0">
                <a:solidFill>
                  <a:srgbClr val="BF9A50"/>
                </a:solidFill>
                <a:latin typeface="Calibri"/>
                <a:ea typeface="Calibri"/>
                <a:cs typeface="Calibri"/>
              </a:defRPr>
            </a:lvl9pPr>
          </a:lstStyle>
          <a:p xmlns:a="http://schemas.openxmlformats.org/drawingml/2006/main">
            <a:pPr>
              <a:defRPr sz="4425" b="0">
                <a:solidFill>
                  <a:srgbClr val="BF9A50"/>
                </a:solidFill>
                <a:latin typeface="Calibri"/>
                <a:ea typeface="Calibri"/>
                <a:cs typeface="Calibri"/>
              </a:defRPr>
            </a:pPr>
            <a:r>
              <a:rPr sz="4425" b="0">
                <a:solidFill>
                  <a:srgbClr val="BF9A50"/>
                </a:solidFill>
                <a:latin typeface="Calibri"/>
                <a:ea typeface="Calibri"/>
                <a:cs typeface="Calibri"/>
              </a:rPr>
              <a:t>$1M</a:t>
            </a:r>
          </a:p>
        </p:txBody>
      </p:sp>
      <p:sp>
        <p:nvSpPr>
          <p:cNvPr id="10" name="Prove and expand">
            <a:extLst xmlns:a="http://schemas.openxmlformats.org/drawingml/2006/main">
              <a:ext uri="{FF2B5EF4-FFF2-40B4-BE49-F238E27FC236}">
                <a16:creationId xmlns:a16="http://schemas.microsoft.com/office/drawing/2014/main" id="{03940888-047C-48D5-93D2-04275788AED4}"/>
              </a:ext>
            </a:extLst>
          </p:cNvPr>
          <p:cNvSpPr>
            <a:spLocks xmlns:a="http://schemas.openxmlformats.org/drawingml/2006/main" noGrp="1"/>
          </p:cNvSpPr>
          <p:nvPr/>
        </p:nvSpPr>
        <p:spPr>
          <a:xfrm xmlns:a="http://schemas.openxmlformats.org/drawingml/2006/main">
            <a:off x="4324350" y="36766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5F0E7"/>
                </a:solidFill>
                <a:latin typeface="Calibri"/>
                <a:ea typeface="Calibri"/>
                <a:cs typeface="Calibri"/>
              </a:defRPr>
            </a:defPPr>
            <a:lvl1pPr>
              <a:defRPr sz="2175" b="1">
                <a:solidFill>
                  <a:srgbClr val="F5F0E7"/>
                </a:solidFill>
                <a:latin typeface="Calibri"/>
                <a:ea typeface="Calibri"/>
                <a:cs typeface="Calibri"/>
              </a:defRPr>
            </a:lvl1pPr>
            <a:lvl2pPr>
              <a:defRPr sz="2175" b="1">
                <a:solidFill>
                  <a:srgbClr val="F5F0E7"/>
                </a:solidFill>
                <a:latin typeface="Calibri"/>
                <a:ea typeface="Calibri"/>
                <a:cs typeface="Calibri"/>
              </a:defRPr>
            </a:lvl2pPr>
            <a:lvl3pPr>
              <a:defRPr sz="2175" b="1">
                <a:solidFill>
                  <a:srgbClr val="F5F0E7"/>
                </a:solidFill>
                <a:latin typeface="Calibri"/>
                <a:ea typeface="Calibri"/>
                <a:cs typeface="Calibri"/>
              </a:defRPr>
            </a:lvl3pPr>
            <a:lvl4pPr>
              <a:defRPr sz="2175" b="1">
                <a:solidFill>
                  <a:srgbClr val="F5F0E7"/>
                </a:solidFill>
                <a:latin typeface="Calibri"/>
                <a:ea typeface="Calibri"/>
                <a:cs typeface="Calibri"/>
              </a:defRPr>
            </a:lvl4pPr>
            <a:lvl5pPr>
              <a:defRPr sz="2175" b="1">
                <a:solidFill>
                  <a:srgbClr val="F5F0E7"/>
                </a:solidFill>
                <a:latin typeface="Calibri"/>
                <a:ea typeface="Calibri"/>
                <a:cs typeface="Calibri"/>
              </a:defRPr>
            </a:lvl5pPr>
            <a:lvl6pPr>
              <a:defRPr sz="2175" b="1">
                <a:solidFill>
                  <a:srgbClr val="F5F0E7"/>
                </a:solidFill>
                <a:latin typeface="Calibri"/>
                <a:ea typeface="Calibri"/>
                <a:cs typeface="Calibri"/>
              </a:defRPr>
            </a:lvl6pPr>
            <a:lvl7pPr>
              <a:defRPr sz="2175" b="1">
                <a:solidFill>
                  <a:srgbClr val="F5F0E7"/>
                </a:solidFill>
                <a:latin typeface="Calibri"/>
                <a:ea typeface="Calibri"/>
                <a:cs typeface="Calibri"/>
              </a:defRPr>
            </a:lvl7pPr>
            <a:lvl8pPr>
              <a:defRPr sz="2175" b="1">
                <a:solidFill>
                  <a:srgbClr val="F5F0E7"/>
                </a:solidFill>
                <a:latin typeface="Calibri"/>
                <a:ea typeface="Calibri"/>
                <a:cs typeface="Calibri"/>
              </a:defRPr>
            </a:lvl8pPr>
            <a:lvl9pPr>
              <a:defRPr sz="2175" b="1">
                <a:solidFill>
                  <a:srgbClr val="F5F0E7"/>
                </a:solidFill>
                <a:latin typeface="Calibri"/>
                <a:ea typeface="Calibri"/>
                <a:cs typeface="Calibri"/>
              </a:defRPr>
            </a:lvl9pPr>
          </a:lstStyle>
          <a:p xmlns:a="http://schemas.openxmlformats.org/drawingml/2006/main">
            <a:pPr>
              <a:defRPr sz="2175" b="1">
                <a:solidFill>
                  <a:srgbClr val="F5F0E7"/>
                </a:solidFill>
                <a:latin typeface="Calibri"/>
                <a:ea typeface="Calibri"/>
                <a:cs typeface="Calibri"/>
              </a:defRPr>
            </a:pPr>
            <a:r>
              <a:rPr sz="2175" b="1">
                <a:solidFill>
                  <a:srgbClr val="F5F0E7"/>
                </a:solidFill>
                <a:latin typeface="Calibri"/>
                <a:ea typeface="Calibri"/>
                <a:cs typeface="Calibri"/>
              </a:rPr>
              <a:t>Prove and expand</a:t>
            </a:r>
          </a:p>
        </p:txBody>
      </p:sp>
      <p:sp>
        <p:nvSpPr>
          <p:cNvPr id="11" name="Broader channel tests, retention work and sta">
            <a:extLst xmlns:a="http://schemas.openxmlformats.org/drawingml/2006/main">
              <a:ext uri="{FF2B5EF4-FFF2-40B4-BE49-F238E27FC236}">
                <a16:creationId xmlns:a16="http://schemas.microsoft.com/office/drawing/2014/main" id="{B6FEF8C0-5621-4F92-9F0C-352FEBD0ACDC}"/>
              </a:ext>
            </a:extLst>
          </p:cNvPr>
          <p:cNvSpPr>
            <a:spLocks xmlns:a="http://schemas.openxmlformats.org/drawingml/2006/main" noGrp="1"/>
          </p:cNvSpPr>
          <p:nvPr/>
        </p:nvSpPr>
        <p:spPr>
          <a:xfrm xmlns:a="http://schemas.openxmlformats.org/drawingml/2006/main">
            <a:off x="4324350" y="4333875"/>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CEC7"/>
                </a:solidFill>
                <a:latin typeface="Calibri"/>
                <a:ea typeface="Calibri"/>
                <a:cs typeface="Calibri"/>
              </a:defRPr>
            </a:defPPr>
            <a:lvl1pPr>
              <a:defRPr sz="1875" b="0">
                <a:solidFill>
                  <a:srgbClr val="B9CEC7"/>
                </a:solidFill>
                <a:latin typeface="Calibri"/>
                <a:ea typeface="Calibri"/>
                <a:cs typeface="Calibri"/>
              </a:defRPr>
            </a:lvl1pPr>
            <a:lvl2pPr>
              <a:defRPr sz="1875" b="0">
                <a:solidFill>
                  <a:srgbClr val="B9CEC7"/>
                </a:solidFill>
                <a:latin typeface="Calibri"/>
                <a:ea typeface="Calibri"/>
                <a:cs typeface="Calibri"/>
              </a:defRPr>
            </a:lvl2pPr>
            <a:lvl3pPr>
              <a:defRPr sz="1875" b="0">
                <a:solidFill>
                  <a:srgbClr val="B9CEC7"/>
                </a:solidFill>
                <a:latin typeface="Calibri"/>
                <a:ea typeface="Calibri"/>
                <a:cs typeface="Calibri"/>
              </a:defRPr>
            </a:lvl3pPr>
            <a:lvl4pPr>
              <a:defRPr sz="1875" b="0">
                <a:solidFill>
                  <a:srgbClr val="B9CEC7"/>
                </a:solidFill>
                <a:latin typeface="Calibri"/>
                <a:ea typeface="Calibri"/>
                <a:cs typeface="Calibri"/>
              </a:defRPr>
            </a:lvl4pPr>
            <a:lvl5pPr>
              <a:defRPr sz="1875" b="0">
                <a:solidFill>
                  <a:srgbClr val="B9CEC7"/>
                </a:solidFill>
                <a:latin typeface="Calibri"/>
                <a:ea typeface="Calibri"/>
                <a:cs typeface="Calibri"/>
              </a:defRPr>
            </a:lvl5pPr>
            <a:lvl6pPr>
              <a:defRPr sz="1875" b="0">
                <a:solidFill>
                  <a:srgbClr val="B9CEC7"/>
                </a:solidFill>
                <a:latin typeface="Calibri"/>
                <a:ea typeface="Calibri"/>
                <a:cs typeface="Calibri"/>
              </a:defRPr>
            </a:lvl6pPr>
            <a:lvl7pPr>
              <a:defRPr sz="1875" b="0">
                <a:solidFill>
                  <a:srgbClr val="B9CEC7"/>
                </a:solidFill>
                <a:latin typeface="Calibri"/>
                <a:ea typeface="Calibri"/>
                <a:cs typeface="Calibri"/>
              </a:defRPr>
            </a:lvl7pPr>
            <a:lvl8pPr>
              <a:defRPr sz="1875" b="0">
                <a:solidFill>
                  <a:srgbClr val="B9CEC7"/>
                </a:solidFill>
                <a:latin typeface="Calibri"/>
                <a:ea typeface="Calibri"/>
                <a:cs typeface="Calibri"/>
              </a:defRPr>
            </a:lvl8pPr>
            <a:lvl9pPr>
              <a:defRPr sz="1875" b="0">
                <a:solidFill>
                  <a:srgbClr val="B9CEC7"/>
                </a:solidFill>
                <a:latin typeface="Calibri"/>
                <a:ea typeface="Calibri"/>
                <a:cs typeface="Calibri"/>
              </a:defRPr>
            </a:lvl9pPr>
          </a:lstStyle>
          <a:p xmlns:a="http://schemas.openxmlformats.org/drawingml/2006/main">
            <a:pPr>
              <a:defRPr sz="1875" b="0">
                <a:solidFill>
                  <a:srgbClr val="B9CEC7"/>
                </a:solidFill>
                <a:latin typeface="Calibri"/>
                <a:ea typeface="Calibri"/>
                <a:cs typeface="Calibri"/>
              </a:defRPr>
            </a:pPr>
            <a:r>
              <a:rPr sz="1875" b="0">
                <a:solidFill>
                  <a:srgbClr val="B9CEC7"/>
                </a:solidFill>
                <a:latin typeface="Calibri"/>
                <a:ea typeface="Calibri"/>
                <a:cs typeface="Calibri"/>
              </a:rPr>
              <a:t>Broader channel tests, retention work and staged adjacent product development.</a:t>
            </a:r>
          </a:p>
        </p:txBody>
      </p:sp>
      <p:sp>
        <p:nvSpPr>
          <p:cNvPr id="12" name="$1.5M">
            <a:extLst xmlns:a="http://schemas.openxmlformats.org/drawingml/2006/main">
              <a:ext uri="{FF2B5EF4-FFF2-40B4-BE49-F238E27FC236}">
                <a16:creationId xmlns:a16="http://schemas.microsoft.com/office/drawing/2014/main" id="{085BA052-2133-4BE8-BF31-EA74F353FCD8}"/>
              </a:ext>
            </a:extLst>
          </p:cNvPr>
          <p:cNvSpPr>
            <a:spLocks xmlns:a="http://schemas.openxmlformats.org/drawingml/2006/main" noGrp="1"/>
          </p:cNvSpPr>
          <p:nvPr/>
        </p:nvSpPr>
        <p:spPr>
          <a:xfrm xmlns:a="http://schemas.openxmlformats.org/drawingml/2006/main">
            <a:off x="8039100" y="26860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425" b="0">
                <a:solidFill>
                  <a:srgbClr val="BF9A50"/>
                </a:solidFill>
                <a:latin typeface="Calibri"/>
                <a:ea typeface="Calibri"/>
                <a:cs typeface="Calibri"/>
              </a:defRPr>
            </a:defPPr>
            <a:lvl1pPr>
              <a:defRPr sz="4425" b="0">
                <a:solidFill>
                  <a:srgbClr val="BF9A50"/>
                </a:solidFill>
                <a:latin typeface="Calibri"/>
                <a:ea typeface="Calibri"/>
                <a:cs typeface="Calibri"/>
              </a:defRPr>
            </a:lvl1pPr>
            <a:lvl2pPr>
              <a:defRPr sz="4425" b="0">
                <a:solidFill>
                  <a:srgbClr val="BF9A50"/>
                </a:solidFill>
                <a:latin typeface="Calibri"/>
                <a:ea typeface="Calibri"/>
                <a:cs typeface="Calibri"/>
              </a:defRPr>
            </a:lvl2pPr>
            <a:lvl3pPr>
              <a:defRPr sz="4425" b="0">
                <a:solidFill>
                  <a:srgbClr val="BF9A50"/>
                </a:solidFill>
                <a:latin typeface="Calibri"/>
                <a:ea typeface="Calibri"/>
                <a:cs typeface="Calibri"/>
              </a:defRPr>
            </a:lvl3pPr>
            <a:lvl4pPr>
              <a:defRPr sz="4425" b="0">
                <a:solidFill>
                  <a:srgbClr val="BF9A50"/>
                </a:solidFill>
                <a:latin typeface="Calibri"/>
                <a:ea typeface="Calibri"/>
                <a:cs typeface="Calibri"/>
              </a:defRPr>
            </a:lvl4pPr>
            <a:lvl5pPr>
              <a:defRPr sz="4425" b="0">
                <a:solidFill>
                  <a:srgbClr val="BF9A50"/>
                </a:solidFill>
                <a:latin typeface="Calibri"/>
                <a:ea typeface="Calibri"/>
                <a:cs typeface="Calibri"/>
              </a:defRPr>
            </a:lvl5pPr>
            <a:lvl6pPr>
              <a:defRPr sz="4425" b="0">
                <a:solidFill>
                  <a:srgbClr val="BF9A50"/>
                </a:solidFill>
                <a:latin typeface="Calibri"/>
                <a:ea typeface="Calibri"/>
                <a:cs typeface="Calibri"/>
              </a:defRPr>
            </a:lvl6pPr>
            <a:lvl7pPr>
              <a:defRPr sz="4425" b="0">
                <a:solidFill>
                  <a:srgbClr val="BF9A50"/>
                </a:solidFill>
                <a:latin typeface="Calibri"/>
                <a:ea typeface="Calibri"/>
                <a:cs typeface="Calibri"/>
              </a:defRPr>
            </a:lvl7pPr>
            <a:lvl8pPr>
              <a:defRPr sz="4425" b="0">
                <a:solidFill>
                  <a:srgbClr val="BF9A50"/>
                </a:solidFill>
                <a:latin typeface="Calibri"/>
                <a:ea typeface="Calibri"/>
                <a:cs typeface="Calibri"/>
              </a:defRPr>
            </a:lvl8pPr>
            <a:lvl9pPr>
              <a:defRPr sz="4425" b="0">
                <a:solidFill>
                  <a:srgbClr val="BF9A50"/>
                </a:solidFill>
                <a:latin typeface="Calibri"/>
                <a:ea typeface="Calibri"/>
                <a:cs typeface="Calibri"/>
              </a:defRPr>
            </a:lvl9pPr>
          </a:lstStyle>
          <a:p xmlns:a="http://schemas.openxmlformats.org/drawingml/2006/main">
            <a:pPr>
              <a:defRPr sz="4425" b="0">
                <a:solidFill>
                  <a:srgbClr val="BF9A50"/>
                </a:solidFill>
                <a:latin typeface="Calibri"/>
                <a:ea typeface="Calibri"/>
                <a:cs typeface="Calibri"/>
              </a:defRPr>
            </a:pPr>
            <a:r>
              <a:rPr sz="4425" b="0">
                <a:solidFill>
                  <a:srgbClr val="BF9A50"/>
                </a:solidFill>
                <a:latin typeface="Calibri"/>
                <a:ea typeface="Calibri"/>
                <a:cs typeface="Calibri"/>
              </a:rPr>
              <a:t>$1.5M</a:t>
            </a:r>
          </a:p>
        </p:txBody>
      </p:sp>
      <p:sp>
        <p:nvSpPr>
          <p:cNvPr id="13" name="Accelerate">
            <a:extLst xmlns:a="http://schemas.openxmlformats.org/drawingml/2006/main">
              <a:ext uri="{FF2B5EF4-FFF2-40B4-BE49-F238E27FC236}">
                <a16:creationId xmlns:a16="http://schemas.microsoft.com/office/drawing/2014/main" id="{2DFC4007-1336-4131-AEFB-14D4FE29E045}"/>
              </a:ext>
            </a:extLst>
          </p:cNvPr>
          <p:cNvSpPr>
            <a:spLocks xmlns:a="http://schemas.openxmlformats.org/drawingml/2006/main" noGrp="1"/>
          </p:cNvSpPr>
          <p:nvPr/>
        </p:nvSpPr>
        <p:spPr>
          <a:xfrm xmlns:a="http://schemas.openxmlformats.org/drawingml/2006/main">
            <a:off x="8039100" y="36766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F5F0E7"/>
                </a:solidFill>
                <a:latin typeface="Calibri"/>
                <a:ea typeface="Calibri"/>
                <a:cs typeface="Calibri"/>
              </a:defRPr>
            </a:defPPr>
            <a:lvl1pPr>
              <a:defRPr sz="2175" b="1">
                <a:solidFill>
                  <a:srgbClr val="F5F0E7"/>
                </a:solidFill>
                <a:latin typeface="Calibri"/>
                <a:ea typeface="Calibri"/>
                <a:cs typeface="Calibri"/>
              </a:defRPr>
            </a:lvl1pPr>
            <a:lvl2pPr>
              <a:defRPr sz="2175" b="1">
                <a:solidFill>
                  <a:srgbClr val="F5F0E7"/>
                </a:solidFill>
                <a:latin typeface="Calibri"/>
                <a:ea typeface="Calibri"/>
                <a:cs typeface="Calibri"/>
              </a:defRPr>
            </a:lvl2pPr>
            <a:lvl3pPr>
              <a:defRPr sz="2175" b="1">
                <a:solidFill>
                  <a:srgbClr val="F5F0E7"/>
                </a:solidFill>
                <a:latin typeface="Calibri"/>
                <a:ea typeface="Calibri"/>
                <a:cs typeface="Calibri"/>
              </a:defRPr>
            </a:lvl3pPr>
            <a:lvl4pPr>
              <a:defRPr sz="2175" b="1">
                <a:solidFill>
                  <a:srgbClr val="F5F0E7"/>
                </a:solidFill>
                <a:latin typeface="Calibri"/>
                <a:ea typeface="Calibri"/>
                <a:cs typeface="Calibri"/>
              </a:defRPr>
            </a:lvl4pPr>
            <a:lvl5pPr>
              <a:defRPr sz="2175" b="1">
                <a:solidFill>
                  <a:srgbClr val="F5F0E7"/>
                </a:solidFill>
                <a:latin typeface="Calibri"/>
                <a:ea typeface="Calibri"/>
                <a:cs typeface="Calibri"/>
              </a:defRPr>
            </a:lvl5pPr>
            <a:lvl6pPr>
              <a:defRPr sz="2175" b="1">
                <a:solidFill>
                  <a:srgbClr val="F5F0E7"/>
                </a:solidFill>
                <a:latin typeface="Calibri"/>
                <a:ea typeface="Calibri"/>
                <a:cs typeface="Calibri"/>
              </a:defRPr>
            </a:lvl6pPr>
            <a:lvl7pPr>
              <a:defRPr sz="2175" b="1">
                <a:solidFill>
                  <a:srgbClr val="F5F0E7"/>
                </a:solidFill>
                <a:latin typeface="Calibri"/>
                <a:ea typeface="Calibri"/>
                <a:cs typeface="Calibri"/>
              </a:defRPr>
            </a:lvl7pPr>
            <a:lvl8pPr>
              <a:defRPr sz="2175" b="1">
                <a:solidFill>
                  <a:srgbClr val="F5F0E7"/>
                </a:solidFill>
                <a:latin typeface="Calibri"/>
                <a:ea typeface="Calibri"/>
                <a:cs typeface="Calibri"/>
              </a:defRPr>
            </a:lvl8pPr>
            <a:lvl9pPr>
              <a:defRPr sz="2175" b="1">
                <a:solidFill>
                  <a:srgbClr val="F5F0E7"/>
                </a:solidFill>
                <a:latin typeface="Calibri"/>
                <a:ea typeface="Calibri"/>
                <a:cs typeface="Calibri"/>
              </a:defRPr>
            </a:lvl9pPr>
          </a:lstStyle>
          <a:p xmlns:a="http://schemas.openxmlformats.org/drawingml/2006/main">
            <a:pPr>
              <a:defRPr sz="2175" b="1">
                <a:solidFill>
                  <a:srgbClr val="F5F0E7"/>
                </a:solidFill>
                <a:latin typeface="Calibri"/>
                <a:ea typeface="Calibri"/>
                <a:cs typeface="Calibri"/>
              </a:defRPr>
            </a:pPr>
            <a:r>
              <a:rPr sz="2175" b="1">
                <a:solidFill>
                  <a:srgbClr val="F5F0E7"/>
                </a:solidFill>
                <a:latin typeface="Calibri"/>
                <a:ea typeface="Calibri"/>
                <a:cs typeface="Calibri"/>
              </a:rPr>
              <a:t>Accelerate</a:t>
            </a:r>
          </a:p>
        </p:txBody>
      </p:sp>
      <p:sp>
        <p:nvSpPr>
          <p:cNvPr id="14" name="Broader U.S. acquisition, wholesale capabilit">
            <a:extLst xmlns:a="http://schemas.openxmlformats.org/drawingml/2006/main">
              <a:ext uri="{FF2B5EF4-FFF2-40B4-BE49-F238E27FC236}">
                <a16:creationId xmlns:a16="http://schemas.microsoft.com/office/drawing/2014/main" id="{6A463A0D-5327-4353-8061-4DFBB59FB5C6}"/>
              </a:ext>
            </a:extLst>
          </p:cNvPr>
          <p:cNvSpPr>
            <a:spLocks xmlns:a="http://schemas.openxmlformats.org/drawingml/2006/main" noGrp="1"/>
          </p:cNvSpPr>
          <p:nvPr/>
        </p:nvSpPr>
        <p:spPr>
          <a:xfrm xmlns:a="http://schemas.openxmlformats.org/drawingml/2006/main">
            <a:off x="8039100" y="4333875"/>
            <a:ext cx="309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B9CEC7"/>
                </a:solidFill>
                <a:latin typeface="Calibri"/>
                <a:ea typeface="Calibri"/>
                <a:cs typeface="Calibri"/>
              </a:defRPr>
            </a:defPPr>
            <a:lvl1pPr>
              <a:defRPr sz="1875" b="0">
                <a:solidFill>
                  <a:srgbClr val="B9CEC7"/>
                </a:solidFill>
                <a:latin typeface="Calibri"/>
                <a:ea typeface="Calibri"/>
                <a:cs typeface="Calibri"/>
              </a:defRPr>
            </a:lvl1pPr>
            <a:lvl2pPr>
              <a:defRPr sz="1875" b="0">
                <a:solidFill>
                  <a:srgbClr val="B9CEC7"/>
                </a:solidFill>
                <a:latin typeface="Calibri"/>
                <a:ea typeface="Calibri"/>
                <a:cs typeface="Calibri"/>
              </a:defRPr>
            </a:lvl2pPr>
            <a:lvl3pPr>
              <a:defRPr sz="1875" b="0">
                <a:solidFill>
                  <a:srgbClr val="B9CEC7"/>
                </a:solidFill>
                <a:latin typeface="Calibri"/>
                <a:ea typeface="Calibri"/>
                <a:cs typeface="Calibri"/>
              </a:defRPr>
            </a:lvl3pPr>
            <a:lvl4pPr>
              <a:defRPr sz="1875" b="0">
                <a:solidFill>
                  <a:srgbClr val="B9CEC7"/>
                </a:solidFill>
                <a:latin typeface="Calibri"/>
                <a:ea typeface="Calibri"/>
                <a:cs typeface="Calibri"/>
              </a:defRPr>
            </a:lvl4pPr>
            <a:lvl5pPr>
              <a:defRPr sz="1875" b="0">
                <a:solidFill>
                  <a:srgbClr val="B9CEC7"/>
                </a:solidFill>
                <a:latin typeface="Calibri"/>
                <a:ea typeface="Calibri"/>
                <a:cs typeface="Calibri"/>
              </a:defRPr>
            </a:lvl5pPr>
            <a:lvl6pPr>
              <a:defRPr sz="1875" b="0">
                <a:solidFill>
                  <a:srgbClr val="B9CEC7"/>
                </a:solidFill>
                <a:latin typeface="Calibri"/>
                <a:ea typeface="Calibri"/>
                <a:cs typeface="Calibri"/>
              </a:defRPr>
            </a:lvl6pPr>
            <a:lvl7pPr>
              <a:defRPr sz="1875" b="0">
                <a:solidFill>
                  <a:srgbClr val="B9CEC7"/>
                </a:solidFill>
                <a:latin typeface="Calibri"/>
                <a:ea typeface="Calibri"/>
                <a:cs typeface="Calibri"/>
              </a:defRPr>
            </a:lvl7pPr>
            <a:lvl8pPr>
              <a:defRPr sz="1875" b="0">
                <a:solidFill>
                  <a:srgbClr val="B9CEC7"/>
                </a:solidFill>
                <a:latin typeface="Calibri"/>
                <a:ea typeface="Calibri"/>
                <a:cs typeface="Calibri"/>
              </a:defRPr>
            </a:lvl8pPr>
            <a:lvl9pPr>
              <a:defRPr sz="1875" b="0">
                <a:solidFill>
                  <a:srgbClr val="B9CEC7"/>
                </a:solidFill>
                <a:latin typeface="Calibri"/>
                <a:ea typeface="Calibri"/>
                <a:cs typeface="Calibri"/>
              </a:defRPr>
            </a:lvl9pPr>
          </a:lstStyle>
          <a:p xmlns:a="http://schemas.openxmlformats.org/drawingml/2006/main">
            <a:pPr>
              <a:defRPr sz="1875" b="0">
                <a:solidFill>
                  <a:srgbClr val="B9CEC7"/>
                </a:solidFill>
                <a:latin typeface="Calibri"/>
                <a:ea typeface="Calibri"/>
                <a:cs typeface="Calibri"/>
              </a:defRPr>
            </a:pPr>
            <a:r>
              <a:rPr sz="1875" b="0">
                <a:solidFill>
                  <a:srgbClr val="B9CEC7"/>
                </a:solidFill>
                <a:latin typeface="Calibri"/>
                <a:ea typeface="Calibri"/>
                <a:cs typeface="Calibri"/>
              </a:rPr>
              <a:t>Broader U.S. acquisition, wholesale capability and expanded validation.</a:t>
            </a:r>
          </a:p>
        </p:txBody>
      </p:sp>
      <p:sp>
        <p:nvSpPr>
          <p:cNvPr id="15" name="Management funding plan. Commercial metrics r">
            <a:extLst xmlns:a="http://schemas.openxmlformats.org/drawingml/2006/main">
              <a:ext uri="{FF2B5EF4-FFF2-40B4-BE49-F238E27FC236}">
                <a16:creationId xmlns:a16="http://schemas.microsoft.com/office/drawing/2014/main" id="{6C6AD84B-D0E2-4FAC-BCAB-E320F3A1855E}"/>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B9CEC7"/>
                </a:solidFill>
                <a:latin typeface="Calibri"/>
                <a:ea typeface="Calibri"/>
                <a:cs typeface="Calibri"/>
              </a:defRPr>
            </a:defPPr>
            <a:lvl1pPr>
              <a:defRPr sz="1275" b="0">
                <a:solidFill>
                  <a:srgbClr val="B9CEC7"/>
                </a:solidFill>
                <a:latin typeface="Calibri"/>
                <a:ea typeface="Calibri"/>
                <a:cs typeface="Calibri"/>
              </a:defRPr>
            </a:lvl1pPr>
            <a:lvl2pPr>
              <a:defRPr sz="1275" b="0">
                <a:solidFill>
                  <a:srgbClr val="B9CEC7"/>
                </a:solidFill>
                <a:latin typeface="Calibri"/>
                <a:ea typeface="Calibri"/>
                <a:cs typeface="Calibri"/>
              </a:defRPr>
            </a:lvl2pPr>
            <a:lvl3pPr>
              <a:defRPr sz="1275" b="0">
                <a:solidFill>
                  <a:srgbClr val="B9CEC7"/>
                </a:solidFill>
                <a:latin typeface="Calibri"/>
                <a:ea typeface="Calibri"/>
                <a:cs typeface="Calibri"/>
              </a:defRPr>
            </a:lvl3pPr>
            <a:lvl4pPr>
              <a:defRPr sz="1275" b="0">
                <a:solidFill>
                  <a:srgbClr val="B9CEC7"/>
                </a:solidFill>
                <a:latin typeface="Calibri"/>
                <a:ea typeface="Calibri"/>
                <a:cs typeface="Calibri"/>
              </a:defRPr>
            </a:lvl4pPr>
            <a:lvl5pPr>
              <a:defRPr sz="1275" b="0">
                <a:solidFill>
                  <a:srgbClr val="B9CEC7"/>
                </a:solidFill>
                <a:latin typeface="Calibri"/>
                <a:ea typeface="Calibri"/>
                <a:cs typeface="Calibri"/>
              </a:defRPr>
            </a:lvl5pPr>
            <a:lvl6pPr>
              <a:defRPr sz="1275" b="0">
                <a:solidFill>
                  <a:srgbClr val="B9CEC7"/>
                </a:solidFill>
                <a:latin typeface="Calibri"/>
                <a:ea typeface="Calibri"/>
                <a:cs typeface="Calibri"/>
              </a:defRPr>
            </a:lvl6pPr>
            <a:lvl7pPr>
              <a:defRPr sz="1275" b="0">
                <a:solidFill>
                  <a:srgbClr val="B9CEC7"/>
                </a:solidFill>
                <a:latin typeface="Calibri"/>
                <a:ea typeface="Calibri"/>
                <a:cs typeface="Calibri"/>
              </a:defRPr>
            </a:lvl7pPr>
            <a:lvl8pPr>
              <a:defRPr sz="1275" b="0">
                <a:solidFill>
                  <a:srgbClr val="B9CEC7"/>
                </a:solidFill>
                <a:latin typeface="Calibri"/>
                <a:ea typeface="Calibri"/>
                <a:cs typeface="Calibri"/>
              </a:defRPr>
            </a:lvl8pPr>
            <a:lvl9pPr>
              <a:defRPr sz="1275" b="0">
                <a:solidFill>
                  <a:srgbClr val="B9CEC7"/>
                </a:solidFill>
                <a:latin typeface="Calibri"/>
                <a:ea typeface="Calibri"/>
                <a:cs typeface="Calibri"/>
              </a:defRPr>
            </a:lvl9pPr>
          </a:lstStyle>
          <a:p xmlns:a="http://schemas.openxmlformats.org/drawingml/2006/main">
            <a:pPr>
              <a:defRPr sz="1275" b="0">
                <a:solidFill>
                  <a:srgbClr val="B9CEC7"/>
                </a:solidFill>
                <a:latin typeface="Calibri"/>
                <a:ea typeface="Calibri"/>
                <a:cs typeface="Calibri"/>
              </a:defRPr>
            </a:pPr>
            <a:r>
              <a:rPr sz="1275" b="0">
                <a:solidFill>
                  <a:srgbClr val="B9CEC7"/>
                </a:solidFill>
                <a:latin typeface="Calibri"/>
                <a:ea typeface="Calibri"/>
                <a:cs typeface="Calibri"/>
              </a:rPr>
              <a:t>Management funding plan. Commercial metrics remain unproven. Terms to be agreed.</a:t>
            </a:r>
          </a:p>
        </p:txBody>
      </p:sp>
    </p:spTree>
    <p:extLst>
      <p:ext uri="{BB962C8B-B14F-4D97-AF65-F5344CB8AC3E}">
        <p14:creationId xmlns:p14="http://schemas.microsoft.com/office/powerpoint/2010/main" val="1483797994"/>
      </p:ext>
    </p:extLst>
  </p:cSld>
</p:sld>
</file>

<file path=ppt/slides/slide12.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2" name="Use of funds and 18-month milestones">
            <a:extLst xmlns:a="http://schemas.openxmlformats.org/drawingml/2006/main">
              <a:ext uri="{FF2B5EF4-FFF2-40B4-BE49-F238E27FC236}">
                <a16:creationId xmlns:a16="http://schemas.microsoft.com/office/drawing/2014/main" id="{98A3E1AD-1165-48E6-BE4C-82E2A1BA0A90}"/>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073F48"/>
                </a:solidFill>
                <a:latin typeface="Calibri"/>
                <a:ea typeface="Calibri"/>
                <a:cs typeface="Calibri"/>
              </a:defRPr>
            </a:defPPr>
            <a:lvl1pPr>
              <a:defRPr sz="3300" b="0">
                <a:solidFill>
                  <a:srgbClr val="073F48"/>
                </a:solidFill>
                <a:latin typeface="Calibri"/>
                <a:ea typeface="Calibri"/>
                <a:cs typeface="Calibri"/>
              </a:defRPr>
            </a:lvl1pPr>
            <a:lvl2pPr>
              <a:defRPr sz="3300" b="0">
                <a:solidFill>
                  <a:srgbClr val="073F48"/>
                </a:solidFill>
                <a:latin typeface="Calibri"/>
                <a:ea typeface="Calibri"/>
                <a:cs typeface="Calibri"/>
              </a:defRPr>
            </a:lvl2pPr>
            <a:lvl3pPr>
              <a:defRPr sz="3300" b="0">
                <a:solidFill>
                  <a:srgbClr val="073F48"/>
                </a:solidFill>
                <a:latin typeface="Calibri"/>
                <a:ea typeface="Calibri"/>
                <a:cs typeface="Calibri"/>
              </a:defRPr>
            </a:lvl3pPr>
            <a:lvl4pPr>
              <a:defRPr sz="3300" b="0">
                <a:solidFill>
                  <a:srgbClr val="073F48"/>
                </a:solidFill>
                <a:latin typeface="Calibri"/>
                <a:ea typeface="Calibri"/>
                <a:cs typeface="Calibri"/>
              </a:defRPr>
            </a:lvl4pPr>
            <a:lvl5pPr>
              <a:defRPr sz="3300" b="0">
                <a:solidFill>
                  <a:srgbClr val="073F48"/>
                </a:solidFill>
                <a:latin typeface="Calibri"/>
                <a:ea typeface="Calibri"/>
                <a:cs typeface="Calibri"/>
              </a:defRPr>
            </a:lvl5pPr>
            <a:lvl6pPr>
              <a:defRPr sz="3300" b="0">
                <a:solidFill>
                  <a:srgbClr val="073F48"/>
                </a:solidFill>
                <a:latin typeface="Calibri"/>
                <a:ea typeface="Calibri"/>
                <a:cs typeface="Calibri"/>
              </a:defRPr>
            </a:lvl6pPr>
            <a:lvl7pPr>
              <a:defRPr sz="3300" b="0">
                <a:solidFill>
                  <a:srgbClr val="073F48"/>
                </a:solidFill>
                <a:latin typeface="Calibri"/>
                <a:ea typeface="Calibri"/>
                <a:cs typeface="Calibri"/>
              </a:defRPr>
            </a:lvl7pPr>
            <a:lvl8pPr>
              <a:defRPr sz="3300" b="0">
                <a:solidFill>
                  <a:srgbClr val="073F48"/>
                </a:solidFill>
                <a:latin typeface="Calibri"/>
                <a:ea typeface="Calibri"/>
                <a:cs typeface="Calibri"/>
              </a:defRPr>
            </a:lvl8pPr>
            <a:lvl9pPr>
              <a:defRPr sz="3300" b="0">
                <a:solidFill>
                  <a:srgbClr val="073F48"/>
                </a:solidFill>
                <a:latin typeface="Calibri"/>
                <a:ea typeface="Calibri"/>
                <a:cs typeface="Calibri"/>
              </a:defRPr>
            </a:lvl9pPr>
          </a:lstStyle>
          <a:p xmlns:a="http://schemas.openxmlformats.org/drawingml/2006/main">
            <a:pPr>
              <a:defRPr sz="3300" b="0">
                <a:solidFill>
                  <a:srgbClr val="073F48"/>
                </a:solidFill>
                <a:latin typeface="Calibri"/>
                <a:ea typeface="Calibri"/>
                <a:cs typeface="Calibri"/>
              </a:defRPr>
            </a:pPr>
            <a:r>
              <a:rPr sz="3300" b="0">
                <a:solidFill>
                  <a:srgbClr val="073F48"/>
                </a:solidFill>
                <a:latin typeface="Calibri"/>
                <a:ea typeface="Calibri"/>
                <a:cs typeface="Calibri"/>
              </a:rPr>
              <a:t>Use of funds and 18-month milestones</a:t>
            </a:r>
          </a:p>
        </p:txBody>
      </p:sp>
      <p:sp>
        <p:nvSpPr>
          <p:cNvPr id="3" name="AURA PATCH  /  CONFIDENTIAL  /  OCTOBER 2026">
            <a:extLst xmlns:a="http://schemas.openxmlformats.org/drawingml/2006/main">
              <a:ext uri="{FF2B5EF4-FFF2-40B4-BE49-F238E27FC236}">
                <a16:creationId xmlns:a16="http://schemas.microsoft.com/office/drawing/2014/main" id="{7CA70C5B-6325-4D9A-A2AE-BE7F5A3E0347}"/>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567371"/>
                </a:solidFill>
                <a:latin typeface="Calibri"/>
                <a:ea typeface="Calibri"/>
                <a:cs typeface="Calibri"/>
              </a:defRPr>
            </a:defPPr>
            <a:lvl1pPr>
              <a:defRPr sz="900" b="0">
                <a:solidFill>
                  <a:srgbClr val="567371"/>
                </a:solidFill>
                <a:latin typeface="Calibri"/>
                <a:ea typeface="Calibri"/>
                <a:cs typeface="Calibri"/>
              </a:defRPr>
            </a:lvl1pPr>
            <a:lvl2pPr>
              <a:defRPr sz="900" b="0">
                <a:solidFill>
                  <a:srgbClr val="567371"/>
                </a:solidFill>
                <a:latin typeface="Calibri"/>
                <a:ea typeface="Calibri"/>
                <a:cs typeface="Calibri"/>
              </a:defRPr>
            </a:lvl2pPr>
            <a:lvl3pPr>
              <a:defRPr sz="900" b="0">
                <a:solidFill>
                  <a:srgbClr val="567371"/>
                </a:solidFill>
                <a:latin typeface="Calibri"/>
                <a:ea typeface="Calibri"/>
                <a:cs typeface="Calibri"/>
              </a:defRPr>
            </a:lvl3pPr>
            <a:lvl4pPr>
              <a:defRPr sz="900" b="0">
                <a:solidFill>
                  <a:srgbClr val="567371"/>
                </a:solidFill>
                <a:latin typeface="Calibri"/>
                <a:ea typeface="Calibri"/>
                <a:cs typeface="Calibri"/>
              </a:defRPr>
            </a:lvl4pPr>
            <a:lvl5pPr>
              <a:defRPr sz="900" b="0">
                <a:solidFill>
                  <a:srgbClr val="567371"/>
                </a:solidFill>
                <a:latin typeface="Calibri"/>
                <a:ea typeface="Calibri"/>
                <a:cs typeface="Calibri"/>
              </a:defRPr>
            </a:lvl5pPr>
            <a:lvl6pPr>
              <a:defRPr sz="900" b="0">
                <a:solidFill>
                  <a:srgbClr val="567371"/>
                </a:solidFill>
                <a:latin typeface="Calibri"/>
                <a:ea typeface="Calibri"/>
                <a:cs typeface="Calibri"/>
              </a:defRPr>
            </a:lvl6pPr>
            <a:lvl7pPr>
              <a:defRPr sz="900" b="0">
                <a:solidFill>
                  <a:srgbClr val="567371"/>
                </a:solidFill>
                <a:latin typeface="Calibri"/>
                <a:ea typeface="Calibri"/>
                <a:cs typeface="Calibri"/>
              </a:defRPr>
            </a:lvl7pPr>
            <a:lvl8pPr>
              <a:defRPr sz="900" b="0">
                <a:solidFill>
                  <a:srgbClr val="567371"/>
                </a:solidFill>
                <a:latin typeface="Calibri"/>
                <a:ea typeface="Calibri"/>
                <a:cs typeface="Calibri"/>
              </a:defRPr>
            </a:lvl8pPr>
            <a:lvl9pPr>
              <a:defRPr sz="900" b="0">
                <a:solidFill>
                  <a:srgbClr val="567371"/>
                </a:solidFill>
                <a:latin typeface="Calibri"/>
                <a:ea typeface="Calibri"/>
                <a:cs typeface="Calibri"/>
              </a:defRPr>
            </a:lvl9pPr>
          </a:lstStyle>
          <a:p xmlns:a="http://schemas.openxmlformats.org/drawingml/2006/main">
            <a:pPr>
              <a:defRPr sz="900" b="0">
                <a:solidFill>
                  <a:srgbClr val="567371"/>
                </a:solidFill>
                <a:latin typeface="Calibri"/>
                <a:ea typeface="Calibri"/>
                <a:cs typeface="Calibri"/>
              </a:defRPr>
            </a:pPr>
            <a:r>
              <a:rPr sz="900" b="0">
                <a:solidFill>
                  <a:srgbClr val="567371"/>
                </a:solidFill>
                <a:latin typeface="Calibri"/>
                <a:ea typeface="Calibri"/>
                <a:cs typeface="Calibri"/>
              </a:rPr>
              <a:t>AURA PATCH  /  CONFIDENTIAL  /  OCTOBER 2026</a:t>
            </a:r>
          </a:p>
        </p:txBody>
      </p:sp>
      <p:sp>
        <p:nvSpPr>
          <p:cNvPr id="4" name="12">
            <a:extLst xmlns:a="http://schemas.openxmlformats.org/drawingml/2006/main">
              <a:ext uri="{FF2B5EF4-FFF2-40B4-BE49-F238E27FC236}">
                <a16:creationId xmlns:a16="http://schemas.microsoft.com/office/drawing/2014/main" id="{F1467255-F583-4BDE-8525-92D51D1B1F2F}"/>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12</a:t>
            </a:r>
          </a:p>
        </p:txBody>
      </p:sp>
      <p:sp>
        <p:nvSpPr>
          <p:cNvPr id="5" name="ILLUSTRATIVE $1M ALLOCATION">
            <a:extLst xmlns:a="http://schemas.openxmlformats.org/drawingml/2006/main">
              <a:ext uri="{FF2B5EF4-FFF2-40B4-BE49-F238E27FC236}">
                <a16:creationId xmlns:a16="http://schemas.microsoft.com/office/drawing/2014/main" id="{33CF1165-4187-4F3B-BFC0-10F057BE9AB5}"/>
              </a:ext>
            </a:extLst>
          </p:cNvPr>
          <p:cNvSpPr>
            <a:spLocks xmlns:a="http://schemas.openxmlformats.org/drawingml/2006/main" noGrp="1"/>
          </p:cNvSpPr>
          <p:nvPr/>
        </p:nvSpPr>
        <p:spPr>
          <a:xfrm xmlns:a="http://schemas.openxmlformats.org/drawingml/2006/main">
            <a:off x="609600" y="1581150"/>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00" b="1">
                <a:solidFill>
                  <a:srgbClr val="BF9A50"/>
                </a:solidFill>
                <a:latin typeface="Calibri"/>
                <a:ea typeface="Calibri"/>
                <a:cs typeface="Calibri"/>
              </a:defRPr>
            </a:defPPr>
            <a:lvl1pPr>
              <a:defRPr sz="1500" b="1">
                <a:solidFill>
                  <a:srgbClr val="BF9A50"/>
                </a:solidFill>
                <a:latin typeface="Calibri"/>
                <a:ea typeface="Calibri"/>
                <a:cs typeface="Calibri"/>
              </a:defRPr>
            </a:lvl1pPr>
            <a:lvl2pPr>
              <a:defRPr sz="1500" b="1">
                <a:solidFill>
                  <a:srgbClr val="BF9A50"/>
                </a:solidFill>
                <a:latin typeface="Calibri"/>
                <a:ea typeface="Calibri"/>
                <a:cs typeface="Calibri"/>
              </a:defRPr>
            </a:lvl2pPr>
            <a:lvl3pPr>
              <a:defRPr sz="1500" b="1">
                <a:solidFill>
                  <a:srgbClr val="BF9A50"/>
                </a:solidFill>
                <a:latin typeface="Calibri"/>
                <a:ea typeface="Calibri"/>
                <a:cs typeface="Calibri"/>
              </a:defRPr>
            </a:lvl3pPr>
            <a:lvl4pPr>
              <a:defRPr sz="1500" b="1">
                <a:solidFill>
                  <a:srgbClr val="BF9A50"/>
                </a:solidFill>
                <a:latin typeface="Calibri"/>
                <a:ea typeface="Calibri"/>
                <a:cs typeface="Calibri"/>
              </a:defRPr>
            </a:lvl4pPr>
            <a:lvl5pPr>
              <a:defRPr sz="1500" b="1">
                <a:solidFill>
                  <a:srgbClr val="BF9A50"/>
                </a:solidFill>
                <a:latin typeface="Calibri"/>
                <a:ea typeface="Calibri"/>
                <a:cs typeface="Calibri"/>
              </a:defRPr>
            </a:lvl5pPr>
            <a:lvl6pPr>
              <a:defRPr sz="1500" b="1">
                <a:solidFill>
                  <a:srgbClr val="BF9A50"/>
                </a:solidFill>
                <a:latin typeface="Calibri"/>
                <a:ea typeface="Calibri"/>
                <a:cs typeface="Calibri"/>
              </a:defRPr>
            </a:lvl6pPr>
            <a:lvl7pPr>
              <a:defRPr sz="1500" b="1">
                <a:solidFill>
                  <a:srgbClr val="BF9A50"/>
                </a:solidFill>
                <a:latin typeface="Calibri"/>
                <a:ea typeface="Calibri"/>
                <a:cs typeface="Calibri"/>
              </a:defRPr>
            </a:lvl7pPr>
            <a:lvl8pPr>
              <a:defRPr sz="1500" b="1">
                <a:solidFill>
                  <a:srgbClr val="BF9A50"/>
                </a:solidFill>
                <a:latin typeface="Calibri"/>
                <a:ea typeface="Calibri"/>
                <a:cs typeface="Calibri"/>
              </a:defRPr>
            </a:lvl8pPr>
            <a:lvl9pPr>
              <a:defRPr sz="1500" b="1">
                <a:solidFill>
                  <a:srgbClr val="BF9A50"/>
                </a:solidFill>
                <a:latin typeface="Calibri"/>
                <a:ea typeface="Calibri"/>
                <a:cs typeface="Calibri"/>
              </a:defRPr>
            </a:lvl9pPr>
          </a:lstStyle>
          <a:p xmlns:a="http://schemas.openxmlformats.org/drawingml/2006/main">
            <a:pPr>
              <a:defRPr sz="1500" b="1">
                <a:solidFill>
                  <a:srgbClr val="BF9A50"/>
                </a:solidFill>
                <a:latin typeface="Calibri"/>
                <a:ea typeface="Calibri"/>
                <a:cs typeface="Calibri"/>
              </a:defRPr>
            </a:pPr>
            <a:r>
              <a:rPr sz="1500" b="1">
                <a:solidFill>
                  <a:srgbClr val="BF9A50"/>
                </a:solidFill>
                <a:latin typeface="Calibri"/>
                <a:ea typeface="Calibri"/>
                <a:cs typeface="Calibri"/>
              </a:rPr>
              <a:t>ILLUSTRATIVE $1M ALLOCATION</a:t>
            </a:r>
          </a:p>
        </p:txBody>
      </p:sp>
      <p:graphicFrame>
        <p:nvGraphicFramePr>
          <p:cNvPr id="6" name="">
            <a:extLst xmlns:a="http://schemas.openxmlformats.org/drawingml/2006/main">
              <a:ext uri="{FF2B5EF4-FFF2-40B4-BE49-F238E27FC236}">
                <a16:creationId xmlns:a16="http://schemas.microsoft.com/office/drawing/2014/main" id="{F0BEA622-408D-4D2F-AEC6-55DAB3330FB6}"/>
              </a:ext>
            </a:extLst>
          </p:cNvPr>
          <p:cNvGraphicFramePr/>
          <p:nvPr/>
        </p:nvGraphicFramePr>
        <p:xfrm>
          <a:off xmlns:a="http://schemas.openxmlformats.org/drawingml/2006/main" x="609600" y="2152650"/>
          <a:ext xmlns:a="http://schemas.openxmlformats.org/drawingml/2006/main" cx="6858000" cy="2952750"/>
        </p:xfrm>
        <a:graphic xmlns:a="http://schemas.openxmlformats.org/drawingml/2006/main">
          <a:graphicData uri="http://schemas.openxmlformats.org/drawingml/2006/table">
            <a:tbl>
              <a:tblPr/>
              <a:tblGrid>
                <a:gridCol w="4572000"/>
                <a:gridCol w="857250"/>
                <a:gridCol w="1428750"/>
              </a:tblGrid>
              <a:tr h="421821">
                <a:tc>
                  <a:txBody>
                    <a:bodyPr/>
                    <a:lstStyle/>
                    <a:p>
                      <a:r>
                        <a:rPr sz="1350" b="1">
                          <a:solidFill>
                            <a:srgbClr val="F5F0E7"/>
                          </a:solidFill>
                        </a:rPr>
                        <a:t>USE OF FUNDS</a:t>
                      </a:r>
                    </a:p>
                  </a:txBody>
                  <a:tcPr marL="91440" marR="91440" marT="45720" marB="45720">
                    <a:lnL w="6668">
                      <a:solidFill>
                        <a:srgbClr val="D9D8CC"/>
                      </a:solidFill>
                    </a:lnL>
                    <a:lnR w="6668">
                      <a:solidFill>
                        <a:srgbClr val="D9D8CC"/>
                      </a:solidFill>
                    </a:lnR>
                    <a:lnT w="6668">
                      <a:solidFill>
                        <a:srgbClr val="D9D8CC"/>
                      </a:solidFill>
                    </a:lnT>
                    <a:lnB w="6668">
                      <a:solidFill>
                        <a:srgbClr val="D9D8CC"/>
                      </a:solidFill>
                    </a:lnB>
                    <a:solidFill>
                      <a:srgbClr val="073F48"/>
                    </a:solidFill>
                  </a:tcPr>
                </a:tc>
                <a:tc>
                  <a:txBody>
                    <a:bodyPr/>
                    <a:lstStyle/>
                    <a:p>
                      <a:r>
                        <a:rPr sz="1350" b="1">
                          <a:solidFill>
                            <a:srgbClr val="F5F0E7"/>
                          </a:solidFill>
                        </a:rPr>
                        <a:t>SHARE</a:t>
                      </a:r>
                    </a:p>
                  </a:txBody>
                  <a:tcPr marL="91440" marR="91440" marT="45720" marB="45720">
                    <a:lnR w="6668">
                      <a:solidFill>
                        <a:srgbClr val="D9D8CC"/>
                      </a:solidFill>
                    </a:lnR>
                    <a:lnT w="6668">
                      <a:solidFill>
                        <a:srgbClr val="D9D8CC"/>
                      </a:solidFill>
                    </a:lnT>
                    <a:lnB w="6668">
                      <a:solidFill>
                        <a:srgbClr val="D9D8CC"/>
                      </a:solidFill>
                    </a:lnB>
                    <a:solidFill>
                      <a:srgbClr val="073F48"/>
                    </a:solidFill>
                  </a:tcPr>
                </a:tc>
                <a:tc>
                  <a:txBody>
                    <a:bodyPr/>
                    <a:lstStyle/>
                    <a:p>
                      <a:r>
                        <a:rPr sz="1350" b="1">
                          <a:solidFill>
                            <a:srgbClr val="F5F0E7"/>
                          </a:solidFill>
                        </a:rPr>
                        <a:t>AMOUNT</a:t>
                      </a:r>
                    </a:p>
                  </a:txBody>
                  <a:tcPr marL="91440" marR="91440" marT="45720" marB="45720">
                    <a:lnR w="6668">
                      <a:solidFill>
                        <a:srgbClr val="D9D8CC"/>
                      </a:solidFill>
                    </a:lnR>
                    <a:lnT w="6668">
                      <a:solidFill>
                        <a:srgbClr val="D9D8CC"/>
                      </a:solidFill>
                    </a:lnT>
                    <a:lnB w="6668">
                      <a:solidFill>
                        <a:srgbClr val="D9D8CC"/>
                      </a:solidFill>
                    </a:lnB>
                    <a:solidFill>
                      <a:srgbClr val="073F48"/>
                    </a:solidFill>
                  </a:tcPr>
                </a:tc>
              </a:tr>
              <a:tr h="421821">
                <a:tc>
                  <a:txBody>
                    <a:bodyPr/>
                    <a:lstStyle/>
                    <a:p>
                      <a:r>
                        <a:rPr sz="1575" b="0">
                          <a:solidFill>
                            <a:srgbClr val="073F48"/>
                          </a:solidFill>
                        </a:rPr>
                        <a:t>Marketing and acquisition</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575" b="0">
                          <a:solidFill>
                            <a:srgbClr val="073F48"/>
                          </a:solidFill>
                        </a:rPr>
                        <a:t>45%</a:t>
                      </a:r>
                    </a:p>
                  </a:txBody>
                  <a:tcPr marL="91440" marR="91440" marT="45720" marB="45720">
                    <a:lnR w="6668">
                      <a:solidFill>
                        <a:srgbClr val="D9D8CC"/>
                      </a:solidFill>
                    </a:lnR>
                    <a:lnB w="6668">
                      <a:solidFill>
                        <a:srgbClr val="D9D8CC"/>
                      </a:solidFill>
                    </a:lnB>
                    <a:solidFill>
                      <a:srgbClr val="F5F0E7"/>
                    </a:solidFill>
                  </a:tcPr>
                </a:tc>
                <a:tc>
                  <a:txBody>
                    <a:bodyPr/>
                    <a:lstStyle/>
                    <a:p>
                      <a:r>
                        <a:rPr sz="1575" b="0">
                          <a:solidFill>
                            <a:srgbClr val="073F48"/>
                          </a:solidFill>
                        </a:rPr>
                        <a:t>$450K</a:t>
                      </a:r>
                    </a:p>
                  </a:txBody>
                  <a:tcPr marL="91440" marR="91440" marT="45720" marB="45720">
                    <a:lnR w="6668">
                      <a:solidFill>
                        <a:srgbClr val="D9D8CC"/>
                      </a:solidFill>
                    </a:lnR>
                    <a:lnB w="6668">
                      <a:solidFill>
                        <a:srgbClr val="D9D8CC"/>
                      </a:solidFill>
                    </a:lnB>
                    <a:solidFill>
                      <a:srgbClr val="F5F0E7"/>
                    </a:solidFill>
                  </a:tcPr>
                </a:tc>
              </a:tr>
              <a:tr h="421821">
                <a:tc>
                  <a:txBody>
                    <a:bodyPr/>
                    <a:lstStyle/>
                    <a:p>
                      <a:r>
                        <a:rPr sz="1575" b="0">
                          <a:solidFill>
                            <a:srgbClr val="073F48"/>
                          </a:solidFill>
                        </a:rPr>
                        <a:t>Inventory and fulfillment</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575" b="0">
                          <a:solidFill>
                            <a:srgbClr val="073F48"/>
                          </a:solidFill>
                        </a:rPr>
                        <a:t>20%</a:t>
                      </a:r>
                    </a:p>
                  </a:txBody>
                  <a:tcPr marL="91440" marR="91440" marT="45720" marB="45720">
                    <a:lnR w="6668">
                      <a:solidFill>
                        <a:srgbClr val="D9D8CC"/>
                      </a:solidFill>
                    </a:lnR>
                    <a:lnB w="6668">
                      <a:solidFill>
                        <a:srgbClr val="D9D8CC"/>
                      </a:solidFill>
                    </a:lnB>
                    <a:solidFill>
                      <a:srgbClr val="F5F0E7"/>
                    </a:solidFill>
                  </a:tcPr>
                </a:tc>
                <a:tc>
                  <a:txBody>
                    <a:bodyPr/>
                    <a:lstStyle/>
                    <a:p>
                      <a:r>
                        <a:rPr sz="1575" b="0">
                          <a:solidFill>
                            <a:srgbClr val="073F48"/>
                          </a:solidFill>
                        </a:rPr>
                        <a:t>$200K</a:t>
                      </a:r>
                    </a:p>
                  </a:txBody>
                  <a:tcPr marL="91440" marR="91440" marT="45720" marB="45720">
                    <a:lnR w="6668">
                      <a:solidFill>
                        <a:srgbClr val="D9D8CC"/>
                      </a:solidFill>
                    </a:lnR>
                    <a:lnB w="6668">
                      <a:solidFill>
                        <a:srgbClr val="D9D8CC"/>
                      </a:solidFill>
                    </a:lnB>
                    <a:solidFill>
                      <a:srgbClr val="F5F0E7"/>
                    </a:solidFill>
                  </a:tcPr>
                </a:tc>
              </a:tr>
              <a:tr h="421821">
                <a:tc>
                  <a:txBody>
                    <a:bodyPr/>
                    <a:lstStyle/>
                    <a:p>
                      <a:r>
                        <a:rPr sz="1575" b="0">
                          <a:solidFill>
                            <a:srgbClr val="073F48"/>
                          </a:solidFill>
                        </a:rPr>
                        <a:t>Energy and Recover development</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575" b="0">
                          <a:solidFill>
                            <a:srgbClr val="073F48"/>
                          </a:solidFill>
                        </a:rPr>
                        <a:t>15%</a:t>
                      </a:r>
                    </a:p>
                  </a:txBody>
                  <a:tcPr marL="91440" marR="91440" marT="45720" marB="45720">
                    <a:lnR w="6668">
                      <a:solidFill>
                        <a:srgbClr val="D9D8CC"/>
                      </a:solidFill>
                    </a:lnR>
                    <a:lnB w="6668">
                      <a:solidFill>
                        <a:srgbClr val="D9D8CC"/>
                      </a:solidFill>
                    </a:lnB>
                    <a:solidFill>
                      <a:srgbClr val="F5F0E7"/>
                    </a:solidFill>
                  </a:tcPr>
                </a:tc>
                <a:tc>
                  <a:txBody>
                    <a:bodyPr/>
                    <a:lstStyle/>
                    <a:p>
                      <a:r>
                        <a:rPr sz="1575" b="0">
                          <a:solidFill>
                            <a:srgbClr val="073F48"/>
                          </a:solidFill>
                        </a:rPr>
                        <a:t>$150K</a:t>
                      </a:r>
                    </a:p>
                  </a:txBody>
                  <a:tcPr marL="91440" marR="91440" marT="45720" marB="45720">
                    <a:lnR w="6668">
                      <a:solidFill>
                        <a:srgbClr val="D9D8CC"/>
                      </a:solidFill>
                    </a:lnR>
                    <a:lnB w="6668">
                      <a:solidFill>
                        <a:srgbClr val="D9D8CC"/>
                      </a:solidFill>
                    </a:lnB>
                    <a:solidFill>
                      <a:srgbClr val="F5F0E7"/>
                    </a:solidFill>
                  </a:tcPr>
                </a:tc>
              </a:tr>
              <a:tr h="421821">
                <a:tc>
                  <a:txBody>
                    <a:bodyPr/>
                    <a:lstStyle/>
                    <a:p>
                      <a:r>
                        <a:rPr sz="1575" b="0">
                          <a:solidFill>
                            <a:srgbClr val="073F48"/>
                          </a:solidFill>
                        </a:rPr>
                        <a:t>Claims, regulatory and validation</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575" b="0">
                          <a:solidFill>
                            <a:srgbClr val="073F48"/>
                          </a:solidFill>
                        </a:rPr>
                        <a:t>10%</a:t>
                      </a:r>
                    </a:p>
                  </a:txBody>
                  <a:tcPr marL="91440" marR="91440" marT="45720" marB="45720">
                    <a:lnR w="6668">
                      <a:solidFill>
                        <a:srgbClr val="D9D8CC"/>
                      </a:solidFill>
                    </a:lnR>
                    <a:lnB w="6668">
                      <a:solidFill>
                        <a:srgbClr val="D9D8CC"/>
                      </a:solidFill>
                    </a:lnB>
                    <a:solidFill>
                      <a:srgbClr val="F5F0E7"/>
                    </a:solidFill>
                  </a:tcPr>
                </a:tc>
                <a:tc>
                  <a:txBody>
                    <a:bodyPr/>
                    <a:lstStyle/>
                    <a:p>
                      <a:r>
                        <a:rPr sz="1575" b="0">
                          <a:solidFill>
                            <a:srgbClr val="073F48"/>
                          </a:solidFill>
                        </a:rPr>
                        <a:t>$100K</a:t>
                      </a:r>
                    </a:p>
                  </a:txBody>
                  <a:tcPr marL="91440" marR="91440" marT="45720" marB="45720">
                    <a:lnR w="6668">
                      <a:solidFill>
                        <a:srgbClr val="D9D8CC"/>
                      </a:solidFill>
                    </a:lnR>
                    <a:lnB w="6668">
                      <a:solidFill>
                        <a:srgbClr val="D9D8CC"/>
                      </a:solidFill>
                    </a:lnB>
                    <a:solidFill>
                      <a:srgbClr val="F5F0E7"/>
                    </a:solidFill>
                  </a:tcPr>
                </a:tc>
              </a:tr>
              <a:tr h="421821">
                <a:tc>
                  <a:txBody>
                    <a:bodyPr/>
                    <a:lstStyle/>
                    <a:p>
                      <a:r>
                        <a:rPr sz="1575" b="0">
                          <a:solidFill>
                            <a:srgbClr val="073F48"/>
                          </a:solidFill>
                        </a:rPr>
                        <a:t>E-commerce, CRM and analytics</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575" b="0">
                          <a:solidFill>
                            <a:srgbClr val="073F48"/>
                          </a:solidFill>
                        </a:rPr>
                        <a:t>5%</a:t>
                      </a:r>
                    </a:p>
                  </a:txBody>
                  <a:tcPr marL="91440" marR="91440" marT="45720" marB="45720">
                    <a:lnR w="6668">
                      <a:solidFill>
                        <a:srgbClr val="D9D8CC"/>
                      </a:solidFill>
                    </a:lnR>
                    <a:lnB w="6668">
                      <a:solidFill>
                        <a:srgbClr val="D9D8CC"/>
                      </a:solidFill>
                    </a:lnB>
                    <a:solidFill>
                      <a:srgbClr val="F5F0E7"/>
                    </a:solidFill>
                  </a:tcPr>
                </a:tc>
                <a:tc>
                  <a:txBody>
                    <a:bodyPr/>
                    <a:lstStyle/>
                    <a:p>
                      <a:r>
                        <a:rPr sz="1575" b="0">
                          <a:solidFill>
                            <a:srgbClr val="073F48"/>
                          </a:solidFill>
                        </a:rPr>
                        <a:t>$50K</a:t>
                      </a:r>
                    </a:p>
                  </a:txBody>
                  <a:tcPr marL="91440" marR="91440" marT="45720" marB="45720">
                    <a:lnR w="6668">
                      <a:solidFill>
                        <a:srgbClr val="D9D8CC"/>
                      </a:solidFill>
                    </a:lnR>
                    <a:lnB w="6668">
                      <a:solidFill>
                        <a:srgbClr val="D9D8CC"/>
                      </a:solidFill>
                    </a:lnB>
                    <a:solidFill>
                      <a:srgbClr val="F5F0E7"/>
                    </a:solidFill>
                  </a:tcPr>
                </a:tc>
              </a:tr>
              <a:tr h="421821">
                <a:tc>
                  <a:txBody>
                    <a:bodyPr/>
                    <a:lstStyle/>
                    <a:p>
                      <a:r>
                        <a:rPr sz="1575" b="0">
                          <a:solidFill>
                            <a:srgbClr val="073F48"/>
                          </a:solidFill>
                        </a:rPr>
                        <a:t>Legal, IP and working capital</a:t>
                      </a:r>
                    </a:p>
                  </a:txBody>
                  <a:tcPr marL="91440" marR="91440" marT="45720" marB="45720">
                    <a:lnL w="6668">
                      <a:solidFill>
                        <a:srgbClr val="D9D8CC"/>
                      </a:solidFill>
                    </a:lnL>
                    <a:lnR w="6668">
                      <a:solidFill>
                        <a:srgbClr val="D9D8CC"/>
                      </a:solidFill>
                    </a:lnR>
                    <a:lnB w="6668">
                      <a:solidFill>
                        <a:srgbClr val="D9D8CC"/>
                      </a:solidFill>
                    </a:lnB>
                    <a:solidFill>
                      <a:srgbClr val="F5F0E7"/>
                    </a:solidFill>
                  </a:tcPr>
                </a:tc>
                <a:tc>
                  <a:txBody>
                    <a:bodyPr/>
                    <a:lstStyle/>
                    <a:p>
                      <a:r>
                        <a:rPr sz="1575" b="0">
                          <a:solidFill>
                            <a:srgbClr val="073F48"/>
                          </a:solidFill>
                        </a:rPr>
                        <a:t>5%</a:t>
                      </a:r>
                    </a:p>
                  </a:txBody>
                  <a:tcPr marL="91440" marR="91440" marT="45720" marB="45720">
                    <a:lnR w="6668">
                      <a:solidFill>
                        <a:srgbClr val="D9D8CC"/>
                      </a:solidFill>
                    </a:lnR>
                    <a:lnB w="6668">
                      <a:solidFill>
                        <a:srgbClr val="D9D8CC"/>
                      </a:solidFill>
                    </a:lnB>
                    <a:solidFill>
                      <a:srgbClr val="F5F0E7"/>
                    </a:solidFill>
                  </a:tcPr>
                </a:tc>
                <a:tc>
                  <a:txBody>
                    <a:bodyPr/>
                    <a:lstStyle/>
                    <a:p>
                      <a:r>
                        <a:rPr sz="1575" b="0">
                          <a:solidFill>
                            <a:srgbClr val="073F48"/>
                          </a:solidFill>
                        </a:rPr>
                        <a:t>$50K</a:t>
                      </a:r>
                    </a:p>
                  </a:txBody>
                  <a:tcPr marL="91440" marR="91440" marT="45720" marB="45720">
                    <a:lnR w="6668">
                      <a:solidFill>
                        <a:srgbClr val="D9D8CC"/>
                      </a:solidFill>
                    </a:lnR>
                    <a:lnB w="6668">
                      <a:solidFill>
                        <a:srgbClr val="D9D8CC"/>
                      </a:solidFill>
                    </a:lnB>
                    <a:solidFill>
                      <a:srgbClr val="F5F0E7"/>
                    </a:solidFill>
                  </a:tcPr>
                </a:tc>
              </a:tr>
            </a:tbl>
          </a:graphicData>
        </a:graphic>
      </p:graphicFrame>
      <p:sp>
        <p:nvSpPr>
          <p:cNvPr id="7" name="0–3 months">
            <a:extLst xmlns:a="http://schemas.openxmlformats.org/drawingml/2006/main">
              <a:ext uri="{FF2B5EF4-FFF2-40B4-BE49-F238E27FC236}">
                <a16:creationId xmlns:a16="http://schemas.microsoft.com/office/drawing/2014/main" id="{C3D640DA-E330-4BEB-BD8A-4D3DA5E5333F}"/>
              </a:ext>
            </a:extLst>
          </p:cNvPr>
          <p:cNvSpPr>
            <a:spLocks xmlns:a="http://schemas.openxmlformats.org/drawingml/2006/main" noGrp="1"/>
          </p:cNvSpPr>
          <p:nvPr/>
        </p:nvSpPr>
        <p:spPr>
          <a:xfrm xmlns:a="http://schemas.openxmlformats.org/drawingml/2006/main">
            <a:off x="8001000" y="2095500"/>
            <a:ext cx="3571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73F48"/>
                </a:solidFill>
                <a:latin typeface="Calibri"/>
                <a:ea typeface="Calibri"/>
                <a:cs typeface="Calibri"/>
              </a:defRPr>
            </a:defPPr>
            <a:lvl1pPr>
              <a:defRPr sz="1725" b="1">
                <a:solidFill>
                  <a:srgbClr val="073F48"/>
                </a:solidFill>
                <a:latin typeface="Calibri"/>
                <a:ea typeface="Calibri"/>
                <a:cs typeface="Calibri"/>
              </a:defRPr>
            </a:lvl1pPr>
            <a:lvl2pPr>
              <a:defRPr sz="1725" b="1">
                <a:solidFill>
                  <a:srgbClr val="073F48"/>
                </a:solidFill>
                <a:latin typeface="Calibri"/>
                <a:ea typeface="Calibri"/>
                <a:cs typeface="Calibri"/>
              </a:defRPr>
            </a:lvl2pPr>
            <a:lvl3pPr>
              <a:defRPr sz="1725" b="1">
                <a:solidFill>
                  <a:srgbClr val="073F48"/>
                </a:solidFill>
                <a:latin typeface="Calibri"/>
                <a:ea typeface="Calibri"/>
                <a:cs typeface="Calibri"/>
              </a:defRPr>
            </a:lvl3pPr>
            <a:lvl4pPr>
              <a:defRPr sz="1725" b="1">
                <a:solidFill>
                  <a:srgbClr val="073F48"/>
                </a:solidFill>
                <a:latin typeface="Calibri"/>
                <a:ea typeface="Calibri"/>
                <a:cs typeface="Calibri"/>
              </a:defRPr>
            </a:lvl4pPr>
            <a:lvl5pPr>
              <a:defRPr sz="1725" b="1">
                <a:solidFill>
                  <a:srgbClr val="073F48"/>
                </a:solidFill>
                <a:latin typeface="Calibri"/>
                <a:ea typeface="Calibri"/>
                <a:cs typeface="Calibri"/>
              </a:defRPr>
            </a:lvl5pPr>
            <a:lvl6pPr>
              <a:defRPr sz="1725" b="1">
                <a:solidFill>
                  <a:srgbClr val="073F48"/>
                </a:solidFill>
                <a:latin typeface="Calibri"/>
                <a:ea typeface="Calibri"/>
                <a:cs typeface="Calibri"/>
              </a:defRPr>
            </a:lvl6pPr>
            <a:lvl7pPr>
              <a:defRPr sz="1725" b="1">
                <a:solidFill>
                  <a:srgbClr val="073F48"/>
                </a:solidFill>
                <a:latin typeface="Calibri"/>
                <a:ea typeface="Calibri"/>
                <a:cs typeface="Calibri"/>
              </a:defRPr>
            </a:lvl7pPr>
            <a:lvl8pPr>
              <a:defRPr sz="1725" b="1">
                <a:solidFill>
                  <a:srgbClr val="073F48"/>
                </a:solidFill>
                <a:latin typeface="Calibri"/>
                <a:ea typeface="Calibri"/>
                <a:cs typeface="Calibri"/>
              </a:defRPr>
            </a:lvl8pPr>
            <a:lvl9pPr>
              <a:defRPr sz="1725" b="1">
                <a:solidFill>
                  <a:srgbClr val="073F48"/>
                </a:solidFill>
                <a:latin typeface="Calibri"/>
                <a:ea typeface="Calibri"/>
                <a:cs typeface="Calibri"/>
              </a:defRPr>
            </a:lvl9pPr>
          </a:lstStyle>
          <a:p xmlns:a="http://schemas.openxmlformats.org/drawingml/2006/main">
            <a:pPr>
              <a:defRPr sz="1725" b="1">
                <a:solidFill>
                  <a:srgbClr val="073F48"/>
                </a:solidFill>
                <a:latin typeface="Calibri"/>
                <a:ea typeface="Calibri"/>
                <a:cs typeface="Calibri"/>
              </a:defRPr>
            </a:pPr>
            <a:r>
              <a:rPr sz="1725" b="1">
                <a:solidFill>
                  <a:srgbClr val="073F48"/>
                </a:solidFill>
                <a:latin typeface="Calibri"/>
                <a:ea typeface="Calibri"/>
                <a:cs typeface="Calibri"/>
              </a:rPr>
              <a:t>0–3 months</a:t>
            </a:r>
          </a:p>
        </p:txBody>
      </p:sp>
      <p:sp>
        <p:nvSpPr>
          <p:cNvPr id="8" name="Foundation: supply, regulatory and analytics">
            <a:extLst xmlns:a="http://schemas.openxmlformats.org/drawingml/2006/main">
              <a:ext uri="{FF2B5EF4-FFF2-40B4-BE49-F238E27FC236}">
                <a16:creationId xmlns:a16="http://schemas.microsoft.com/office/drawing/2014/main" id="{89941972-B8AA-4658-8C08-FE0E9981E460}"/>
              </a:ext>
            </a:extLst>
          </p:cNvPr>
          <p:cNvSpPr>
            <a:spLocks xmlns:a="http://schemas.openxmlformats.org/drawingml/2006/main" noGrp="1"/>
          </p:cNvSpPr>
          <p:nvPr/>
        </p:nvSpPr>
        <p:spPr>
          <a:xfrm xmlns:a="http://schemas.openxmlformats.org/drawingml/2006/main">
            <a:off x="8001000" y="2438400"/>
            <a:ext cx="3571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67371"/>
                </a:solidFill>
                <a:latin typeface="Calibri"/>
                <a:ea typeface="Calibri"/>
                <a:cs typeface="Calibri"/>
              </a:defRPr>
            </a:defPPr>
            <a:lvl1pPr>
              <a:defRPr sz="1575" b="0">
                <a:solidFill>
                  <a:srgbClr val="567371"/>
                </a:solidFill>
                <a:latin typeface="Calibri"/>
                <a:ea typeface="Calibri"/>
                <a:cs typeface="Calibri"/>
              </a:defRPr>
            </a:lvl1pPr>
            <a:lvl2pPr>
              <a:defRPr sz="1575" b="0">
                <a:solidFill>
                  <a:srgbClr val="567371"/>
                </a:solidFill>
                <a:latin typeface="Calibri"/>
                <a:ea typeface="Calibri"/>
                <a:cs typeface="Calibri"/>
              </a:defRPr>
            </a:lvl2pPr>
            <a:lvl3pPr>
              <a:defRPr sz="1575" b="0">
                <a:solidFill>
                  <a:srgbClr val="567371"/>
                </a:solidFill>
                <a:latin typeface="Calibri"/>
                <a:ea typeface="Calibri"/>
                <a:cs typeface="Calibri"/>
              </a:defRPr>
            </a:lvl3pPr>
            <a:lvl4pPr>
              <a:defRPr sz="1575" b="0">
                <a:solidFill>
                  <a:srgbClr val="567371"/>
                </a:solidFill>
                <a:latin typeface="Calibri"/>
                <a:ea typeface="Calibri"/>
                <a:cs typeface="Calibri"/>
              </a:defRPr>
            </a:lvl4pPr>
            <a:lvl5pPr>
              <a:defRPr sz="1575" b="0">
                <a:solidFill>
                  <a:srgbClr val="567371"/>
                </a:solidFill>
                <a:latin typeface="Calibri"/>
                <a:ea typeface="Calibri"/>
                <a:cs typeface="Calibri"/>
              </a:defRPr>
            </a:lvl5pPr>
            <a:lvl6pPr>
              <a:defRPr sz="1575" b="0">
                <a:solidFill>
                  <a:srgbClr val="567371"/>
                </a:solidFill>
                <a:latin typeface="Calibri"/>
                <a:ea typeface="Calibri"/>
                <a:cs typeface="Calibri"/>
              </a:defRPr>
            </a:lvl6pPr>
            <a:lvl7pPr>
              <a:defRPr sz="1575" b="0">
                <a:solidFill>
                  <a:srgbClr val="567371"/>
                </a:solidFill>
                <a:latin typeface="Calibri"/>
                <a:ea typeface="Calibri"/>
                <a:cs typeface="Calibri"/>
              </a:defRPr>
            </a:lvl7pPr>
            <a:lvl8pPr>
              <a:defRPr sz="1575" b="0">
                <a:solidFill>
                  <a:srgbClr val="567371"/>
                </a:solidFill>
                <a:latin typeface="Calibri"/>
                <a:ea typeface="Calibri"/>
                <a:cs typeface="Calibri"/>
              </a:defRPr>
            </a:lvl8pPr>
            <a:lvl9pPr>
              <a:defRPr sz="1575" b="0">
                <a:solidFill>
                  <a:srgbClr val="567371"/>
                </a:solidFill>
                <a:latin typeface="Calibri"/>
                <a:ea typeface="Calibri"/>
                <a:cs typeface="Calibri"/>
              </a:defRPr>
            </a:lvl9pPr>
          </a:lstStyle>
          <a:p xmlns:a="http://schemas.openxmlformats.org/drawingml/2006/main">
            <a:pPr>
              <a:defRPr sz="1575" b="0">
                <a:solidFill>
                  <a:srgbClr val="567371"/>
                </a:solidFill>
                <a:latin typeface="Calibri"/>
                <a:ea typeface="Calibri"/>
                <a:cs typeface="Calibri"/>
              </a:defRPr>
            </a:pPr>
            <a:r>
              <a:rPr sz="1575" b="0">
                <a:solidFill>
                  <a:srgbClr val="567371"/>
                </a:solidFill>
                <a:latin typeface="Calibri"/>
                <a:ea typeface="Calibri"/>
                <a:cs typeface="Calibri"/>
              </a:rPr>
              <a:t>Foundation: supply, regulatory and analytics</a:t>
            </a:r>
          </a:p>
        </p:txBody>
      </p:sp>
      <p:sp>
        <p:nvSpPr>
          <p:cNvPr id="9" name="4–6 months">
            <a:extLst xmlns:a="http://schemas.openxmlformats.org/drawingml/2006/main">
              <a:ext uri="{FF2B5EF4-FFF2-40B4-BE49-F238E27FC236}">
                <a16:creationId xmlns:a16="http://schemas.microsoft.com/office/drawing/2014/main" id="{D3BA3FDA-6B39-4FA3-9E3E-D9D0FE9A1AC1}"/>
              </a:ext>
            </a:extLst>
          </p:cNvPr>
          <p:cNvSpPr>
            <a:spLocks xmlns:a="http://schemas.openxmlformats.org/drawingml/2006/main" noGrp="1"/>
          </p:cNvSpPr>
          <p:nvPr/>
        </p:nvSpPr>
        <p:spPr>
          <a:xfrm xmlns:a="http://schemas.openxmlformats.org/drawingml/2006/main">
            <a:off x="8001000" y="2952750"/>
            <a:ext cx="3571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73F48"/>
                </a:solidFill>
                <a:latin typeface="Calibri"/>
                <a:ea typeface="Calibri"/>
                <a:cs typeface="Calibri"/>
              </a:defRPr>
            </a:defPPr>
            <a:lvl1pPr>
              <a:defRPr sz="1725" b="1">
                <a:solidFill>
                  <a:srgbClr val="073F48"/>
                </a:solidFill>
                <a:latin typeface="Calibri"/>
                <a:ea typeface="Calibri"/>
                <a:cs typeface="Calibri"/>
              </a:defRPr>
            </a:lvl1pPr>
            <a:lvl2pPr>
              <a:defRPr sz="1725" b="1">
                <a:solidFill>
                  <a:srgbClr val="073F48"/>
                </a:solidFill>
                <a:latin typeface="Calibri"/>
                <a:ea typeface="Calibri"/>
                <a:cs typeface="Calibri"/>
              </a:defRPr>
            </a:lvl2pPr>
            <a:lvl3pPr>
              <a:defRPr sz="1725" b="1">
                <a:solidFill>
                  <a:srgbClr val="073F48"/>
                </a:solidFill>
                <a:latin typeface="Calibri"/>
                <a:ea typeface="Calibri"/>
                <a:cs typeface="Calibri"/>
              </a:defRPr>
            </a:lvl3pPr>
            <a:lvl4pPr>
              <a:defRPr sz="1725" b="1">
                <a:solidFill>
                  <a:srgbClr val="073F48"/>
                </a:solidFill>
                <a:latin typeface="Calibri"/>
                <a:ea typeface="Calibri"/>
                <a:cs typeface="Calibri"/>
              </a:defRPr>
            </a:lvl4pPr>
            <a:lvl5pPr>
              <a:defRPr sz="1725" b="1">
                <a:solidFill>
                  <a:srgbClr val="073F48"/>
                </a:solidFill>
                <a:latin typeface="Calibri"/>
                <a:ea typeface="Calibri"/>
                <a:cs typeface="Calibri"/>
              </a:defRPr>
            </a:lvl5pPr>
            <a:lvl6pPr>
              <a:defRPr sz="1725" b="1">
                <a:solidFill>
                  <a:srgbClr val="073F48"/>
                </a:solidFill>
                <a:latin typeface="Calibri"/>
                <a:ea typeface="Calibri"/>
                <a:cs typeface="Calibri"/>
              </a:defRPr>
            </a:lvl6pPr>
            <a:lvl7pPr>
              <a:defRPr sz="1725" b="1">
                <a:solidFill>
                  <a:srgbClr val="073F48"/>
                </a:solidFill>
                <a:latin typeface="Calibri"/>
                <a:ea typeface="Calibri"/>
                <a:cs typeface="Calibri"/>
              </a:defRPr>
            </a:lvl7pPr>
            <a:lvl8pPr>
              <a:defRPr sz="1725" b="1">
                <a:solidFill>
                  <a:srgbClr val="073F48"/>
                </a:solidFill>
                <a:latin typeface="Calibri"/>
                <a:ea typeface="Calibri"/>
                <a:cs typeface="Calibri"/>
              </a:defRPr>
            </a:lvl8pPr>
            <a:lvl9pPr>
              <a:defRPr sz="1725" b="1">
                <a:solidFill>
                  <a:srgbClr val="073F48"/>
                </a:solidFill>
                <a:latin typeface="Calibri"/>
                <a:ea typeface="Calibri"/>
                <a:cs typeface="Calibri"/>
              </a:defRPr>
            </a:lvl9pPr>
          </a:lstStyle>
          <a:p xmlns:a="http://schemas.openxmlformats.org/drawingml/2006/main">
            <a:pPr>
              <a:defRPr sz="1725" b="1">
                <a:solidFill>
                  <a:srgbClr val="073F48"/>
                </a:solidFill>
                <a:latin typeface="Calibri"/>
                <a:ea typeface="Calibri"/>
                <a:cs typeface="Calibri"/>
              </a:defRPr>
            </a:pPr>
            <a:r>
              <a:rPr sz="1725" b="1">
                <a:solidFill>
                  <a:srgbClr val="073F48"/>
                </a:solidFill>
                <a:latin typeface="Calibri"/>
                <a:ea typeface="Calibri"/>
                <a:cs typeface="Calibri"/>
              </a:rPr>
              <a:t>4–6 months</a:t>
            </a:r>
          </a:p>
        </p:txBody>
      </p:sp>
      <p:sp>
        <p:nvSpPr>
          <p:cNvPr id="10" name="Launch: first flagship customer cohorts">
            <a:extLst xmlns:a="http://schemas.openxmlformats.org/drawingml/2006/main">
              <a:ext uri="{FF2B5EF4-FFF2-40B4-BE49-F238E27FC236}">
                <a16:creationId xmlns:a16="http://schemas.microsoft.com/office/drawing/2014/main" id="{6D876592-DB43-4082-AD37-2A1DFC08E15C}"/>
              </a:ext>
            </a:extLst>
          </p:cNvPr>
          <p:cNvSpPr>
            <a:spLocks xmlns:a="http://schemas.openxmlformats.org/drawingml/2006/main" noGrp="1"/>
          </p:cNvSpPr>
          <p:nvPr/>
        </p:nvSpPr>
        <p:spPr>
          <a:xfrm xmlns:a="http://schemas.openxmlformats.org/drawingml/2006/main">
            <a:off x="8001000" y="3295650"/>
            <a:ext cx="3571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67371"/>
                </a:solidFill>
                <a:latin typeface="Calibri"/>
                <a:ea typeface="Calibri"/>
                <a:cs typeface="Calibri"/>
              </a:defRPr>
            </a:defPPr>
            <a:lvl1pPr>
              <a:defRPr sz="1575" b="0">
                <a:solidFill>
                  <a:srgbClr val="567371"/>
                </a:solidFill>
                <a:latin typeface="Calibri"/>
                <a:ea typeface="Calibri"/>
                <a:cs typeface="Calibri"/>
              </a:defRPr>
            </a:lvl1pPr>
            <a:lvl2pPr>
              <a:defRPr sz="1575" b="0">
                <a:solidFill>
                  <a:srgbClr val="567371"/>
                </a:solidFill>
                <a:latin typeface="Calibri"/>
                <a:ea typeface="Calibri"/>
                <a:cs typeface="Calibri"/>
              </a:defRPr>
            </a:lvl2pPr>
            <a:lvl3pPr>
              <a:defRPr sz="1575" b="0">
                <a:solidFill>
                  <a:srgbClr val="567371"/>
                </a:solidFill>
                <a:latin typeface="Calibri"/>
                <a:ea typeface="Calibri"/>
                <a:cs typeface="Calibri"/>
              </a:defRPr>
            </a:lvl3pPr>
            <a:lvl4pPr>
              <a:defRPr sz="1575" b="0">
                <a:solidFill>
                  <a:srgbClr val="567371"/>
                </a:solidFill>
                <a:latin typeface="Calibri"/>
                <a:ea typeface="Calibri"/>
                <a:cs typeface="Calibri"/>
              </a:defRPr>
            </a:lvl4pPr>
            <a:lvl5pPr>
              <a:defRPr sz="1575" b="0">
                <a:solidFill>
                  <a:srgbClr val="567371"/>
                </a:solidFill>
                <a:latin typeface="Calibri"/>
                <a:ea typeface="Calibri"/>
                <a:cs typeface="Calibri"/>
              </a:defRPr>
            </a:lvl5pPr>
            <a:lvl6pPr>
              <a:defRPr sz="1575" b="0">
                <a:solidFill>
                  <a:srgbClr val="567371"/>
                </a:solidFill>
                <a:latin typeface="Calibri"/>
                <a:ea typeface="Calibri"/>
                <a:cs typeface="Calibri"/>
              </a:defRPr>
            </a:lvl6pPr>
            <a:lvl7pPr>
              <a:defRPr sz="1575" b="0">
                <a:solidFill>
                  <a:srgbClr val="567371"/>
                </a:solidFill>
                <a:latin typeface="Calibri"/>
                <a:ea typeface="Calibri"/>
                <a:cs typeface="Calibri"/>
              </a:defRPr>
            </a:lvl7pPr>
            <a:lvl8pPr>
              <a:defRPr sz="1575" b="0">
                <a:solidFill>
                  <a:srgbClr val="567371"/>
                </a:solidFill>
                <a:latin typeface="Calibri"/>
                <a:ea typeface="Calibri"/>
                <a:cs typeface="Calibri"/>
              </a:defRPr>
            </a:lvl8pPr>
            <a:lvl9pPr>
              <a:defRPr sz="1575" b="0">
                <a:solidFill>
                  <a:srgbClr val="567371"/>
                </a:solidFill>
                <a:latin typeface="Calibri"/>
                <a:ea typeface="Calibri"/>
                <a:cs typeface="Calibri"/>
              </a:defRPr>
            </a:lvl9pPr>
          </a:lstStyle>
          <a:p xmlns:a="http://schemas.openxmlformats.org/drawingml/2006/main">
            <a:pPr>
              <a:defRPr sz="1575" b="0">
                <a:solidFill>
                  <a:srgbClr val="567371"/>
                </a:solidFill>
                <a:latin typeface="Calibri"/>
                <a:ea typeface="Calibri"/>
                <a:cs typeface="Calibri"/>
              </a:defRPr>
            </a:pPr>
            <a:r>
              <a:rPr sz="1575" b="0">
                <a:solidFill>
                  <a:srgbClr val="567371"/>
                </a:solidFill>
                <a:latin typeface="Calibri"/>
                <a:ea typeface="Calibri"/>
                <a:cs typeface="Calibri"/>
              </a:rPr>
              <a:t>Launch: first flagship customer cohorts</a:t>
            </a:r>
          </a:p>
        </p:txBody>
      </p:sp>
      <p:sp>
        <p:nvSpPr>
          <p:cNvPr id="11" name="7–12 months">
            <a:extLst xmlns:a="http://schemas.openxmlformats.org/drawingml/2006/main">
              <a:ext uri="{FF2B5EF4-FFF2-40B4-BE49-F238E27FC236}">
                <a16:creationId xmlns:a16="http://schemas.microsoft.com/office/drawing/2014/main" id="{3FFFA72B-06F3-40EF-9EB9-600E77CD5E88}"/>
              </a:ext>
            </a:extLst>
          </p:cNvPr>
          <p:cNvSpPr>
            <a:spLocks xmlns:a="http://schemas.openxmlformats.org/drawingml/2006/main" noGrp="1"/>
          </p:cNvSpPr>
          <p:nvPr/>
        </p:nvSpPr>
        <p:spPr>
          <a:xfrm xmlns:a="http://schemas.openxmlformats.org/drawingml/2006/main">
            <a:off x="8001000" y="3810000"/>
            <a:ext cx="3571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73F48"/>
                </a:solidFill>
                <a:latin typeface="Calibri"/>
                <a:ea typeface="Calibri"/>
                <a:cs typeface="Calibri"/>
              </a:defRPr>
            </a:defPPr>
            <a:lvl1pPr>
              <a:defRPr sz="1725" b="1">
                <a:solidFill>
                  <a:srgbClr val="073F48"/>
                </a:solidFill>
                <a:latin typeface="Calibri"/>
                <a:ea typeface="Calibri"/>
                <a:cs typeface="Calibri"/>
              </a:defRPr>
            </a:lvl1pPr>
            <a:lvl2pPr>
              <a:defRPr sz="1725" b="1">
                <a:solidFill>
                  <a:srgbClr val="073F48"/>
                </a:solidFill>
                <a:latin typeface="Calibri"/>
                <a:ea typeface="Calibri"/>
                <a:cs typeface="Calibri"/>
              </a:defRPr>
            </a:lvl2pPr>
            <a:lvl3pPr>
              <a:defRPr sz="1725" b="1">
                <a:solidFill>
                  <a:srgbClr val="073F48"/>
                </a:solidFill>
                <a:latin typeface="Calibri"/>
                <a:ea typeface="Calibri"/>
                <a:cs typeface="Calibri"/>
              </a:defRPr>
            </a:lvl3pPr>
            <a:lvl4pPr>
              <a:defRPr sz="1725" b="1">
                <a:solidFill>
                  <a:srgbClr val="073F48"/>
                </a:solidFill>
                <a:latin typeface="Calibri"/>
                <a:ea typeface="Calibri"/>
                <a:cs typeface="Calibri"/>
              </a:defRPr>
            </a:lvl4pPr>
            <a:lvl5pPr>
              <a:defRPr sz="1725" b="1">
                <a:solidFill>
                  <a:srgbClr val="073F48"/>
                </a:solidFill>
                <a:latin typeface="Calibri"/>
                <a:ea typeface="Calibri"/>
                <a:cs typeface="Calibri"/>
              </a:defRPr>
            </a:lvl5pPr>
            <a:lvl6pPr>
              <a:defRPr sz="1725" b="1">
                <a:solidFill>
                  <a:srgbClr val="073F48"/>
                </a:solidFill>
                <a:latin typeface="Calibri"/>
                <a:ea typeface="Calibri"/>
                <a:cs typeface="Calibri"/>
              </a:defRPr>
            </a:lvl6pPr>
            <a:lvl7pPr>
              <a:defRPr sz="1725" b="1">
                <a:solidFill>
                  <a:srgbClr val="073F48"/>
                </a:solidFill>
                <a:latin typeface="Calibri"/>
                <a:ea typeface="Calibri"/>
                <a:cs typeface="Calibri"/>
              </a:defRPr>
            </a:lvl7pPr>
            <a:lvl8pPr>
              <a:defRPr sz="1725" b="1">
                <a:solidFill>
                  <a:srgbClr val="073F48"/>
                </a:solidFill>
                <a:latin typeface="Calibri"/>
                <a:ea typeface="Calibri"/>
                <a:cs typeface="Calibri"/>
              </a:defRPr>
            </a:lvl8pPr>
            <a:lvl9pPr>
              <a:defRPr sz="1725" b="1">
                <a:solidFill>
                  <a:srgbClr val="073F48"/>
                </a:solidFill>
                <a:latin typeface="Calibri"/>
                <a:ea typeface="Calibri"/>
                <a:cs typeface="Calibri"/>
              </a:defRPr>
            </a:lvl9pPr>
          </a:lstStyle>
          <a:p xmlns:a="http://schemas.openxmlformats.org/drawingml/2006/main">
            <a:pPr>
              <a:defRPr sz="1725" b="1">
                <a:solidFill>
                  <a:srgbClr val="073F48"/>
                </a:solidFill>
                <a:latin typeface="Calibri"/>
                <a:ea typeface="Calibri"/>
                <a:cs typeface="Calibri"/>
              </a:defRPr>
            </a:pPr>
            <a:r>
              <a:rPr sz="1725" b="1">
                <a:solidFill>
                  <a:srgbClr val="073F48"/>
                </a:solidFill>
                <a:latin typeface="Calibri"/>
                <a:ea typeface="Calibri"/>
                <a:cs typeface="Calibri"/>
              </a:rPr>
              <a:t>7–12 months</a:t>
            </a:r>
          </a:p>
        </p:txBody>
      </p:sp>
      <p:sp>
        <p:nvSpPr>
          <p:cNvPr id="12" name="Optimize: CAC, retention and lifetime value">
            <a:extLst xmlns:a="http://schemas.openxmlformats.org/drawingml/2006/main">
              <a:ext uri="{FF2B5EF4-FFF2-40B4-BE49-F238E27FC236}">
                <a16:creationId xmlns:a16="http://schemas.microsoft.com/office/drawing/2014/main" id="{35670CDB-CFE6-44BC-BCFE-192C903678F3}"/>
              </a:ext>
            </a:extLst>
          </p:cNvPr>
          <p:cNvSpPr>
            <a:spLocks xmlns:a="http://schemas.openxmlformats.org/drawingml/2006/main" noGrp="1"/>
          </p:cNvSpPr>
          <p:nvPr/>
        </p:nvSpPr>
        <p:spPr>
          <a:xfrm xmlns:a="http://schemas.openxmlformats.org/drawingml/2006/main">
            <a:off x="8001000" y="4152900"/>
            <a:ext cx="3571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67371"/>
                </a:solidFill>
                <a:latin typeface="Calibri"/>
                <a:ea typeface="Calibri"/>
                <a:cs typeface="Calibri"/>
              </a:defRPr>
            </a:defPPr>
            <a:lvl1pPr>
              <a:defRPr sz="1575" b="0">
                <a:solidFill>
                  <a:srgbClr val="567371"/>
                </a:solidFill>
                <a:latin typeface="Calibri"/>
                <a:ea typeface="Calibri"/>
                <a:cs typeface="Calibri"/>
              </a:defRPr>
            </a:lvl1pPr>
            <a:lvl2pPr>
              <a:defRPr sz="1575" b="0">
                <a:solidFill>
                  <a:srgbClr val="567371"/>
                </a:solidFill>
                <a:latin typeface="Calibri"/>
                <a:ea typeface="Calibri"/>
                <a:cs typeface="Calibri"/>
              </a:defRPr>
            </a:lvl2pPr>
            <a:lvl3pPr>
              <a:defRPr sz="1575" b="0">
                <a:solidFill>
                  <a:srgbClr val="567371"/>
                </a:solidFill>
                <a:latin typeface="Calibri"/>
                <a:ea typeface="Calibri"/>
                <a:cs typeface="Calibri"/>
              </a:defRPr>
            </a:lvl3pPr>
            <a:lvl4pPr>
              <a:defRPr sz="1575" b="0">
                <a:solidFill>
                  <a:srgbClr val="567371"/>
                </a:solidFill>
                <a:latin typeface="Calibri"/>
                <a:ea typeface="Calibri"/>
                <a:cs typeface="Calibri"/>
              </a:defRPr>
            </a:lvl4pPr>
            <a:lvl5pPr>
              <a:defRPr sz="1575" b="0">
                <a:solidFill>
                  <a:srgbClr val="567371"/>
                </a:solidFill>
                <a:latin typeface="Calibri"/>
                <a:ea typeface="Calibri"/>
                <a:cs typeface="Calibri"/>
              </a:defRPr>
            </a:lvl5pPr>
            <a:lvl6pPr>
              <a:defRPr sz="1575" b="0">
                <a:solidFill>
                  <a:srgbClr val="567371"/>
                </a:solidFill>
                <a:latin typeface="Calibri"/>
                <a:ea typeface="Calibri"/>
                <a:cs typeface="Calibri"/>
              </a:defRPr>
            </a:lvl6pPr>
            <a:lvl7pPr>
              <a:defRPr sz="1575" b="0">
                <a:solidFill>
                  <a:srgbClr val="567371"/>
                </a:solidFill>
                <a:latin typeface="Calibri"/>
                <a:ea typeface="Calibri"/>
                <a:cs typeface="Calibri"/>
              </a:defRPr>
            </a:lvl7pPr>
            <a:lvl8pPr>
              <a:defRPr sz="1575" b="0">
                <a:solidFill>
                  <a:srgbClr val="567371"/>
                </a:solidFill>
                <a:latin typeface="Calibri"/>
                <a:ea typeface="Calibri"/>
                <a:cs typeface="Calibri"/>
              </a:defRPr>
            </a:lvl8pPr>
            <a:lvl9pPr>
              <a:defRPr sz="1575" b="0">
                <a:solidFill>
                  <a:srgbClr val="567371"/>
                </a:solidFill>
                <a:latin typeface="Calibri"/>
                <a:ea typeface="Calibri"/>
                <a:cs typeface="Calibri"/>
              </a:defRPr>
            </a:lvl9pPr>
          </a:lstStyle>
          <a:p xmlns:a="http://schemas.openxmlformats.org/drawingml/2006/main">
            <a:pPr>
              <a:defRPr sz="1575" b="0">
                <a:solidFill>
                  <a:srgbClr val="567371"/>
                </a:solidFill>
                <a:latin typeface="Calibri"/>
                <a:ea typeface="Calibri"/>
                <a:cs typeface="Calibri"/>
              </a:defRPr>
            </a:pPr>
            <a:r>
              <a:rPr sz="1575" b="0">
                <a:solidFill>
                  <a:srgbClr val="567371"/>
                </a:solidFill>
                <a:latin typeface="Calibri"/>
                <a:ea typeface="Calibri"/>
                <a:cs typeface="Calibri"/>
              </a:rPr>
              <a:t>Optimize: CAC, retention and lifetime value</a:t>
            </a:r>
          </a:p>
        </p:txBody>
      </p:sp>
      <p:sp>
        <p:nvSpPr>
          <p:cNvPr id="13" name="13–18 months">
            <a:extLst xmlns:a="http://schemas.openxmlformats.org/drawingml/2006/main">
              <a:ext uri="{FF2B5EF4-FFF2-40B4-BE49-F238E27FC236}">
                <a16:creationId xmlns:a16="http://schemas.microsoft.com/office/drawing/2014/main" id="{84A0DE74-0575-4687-9FA7-5E967D95746A}"/>
              </a:ext>
            </a:extLst>
          </p:cNvPr>
          <p:cNvSpPr>
            <a:spLocks xmlns:a="http://schemas.openxmlformats.org/drawingml/2006/main" noGrp="1"/>
          </p:cNvSpPr>
          <p:nvPr/>
        </p:nvSpPr>
        <p:spPr>
          <a:xfrm xmlns:a="http://schemas.openxmlformats.org/drawingml/2006/main">
            <a:off x="8001000" y="4667250"/>
            <a:ext cx="3571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1">
                <a:solidFill>
                  <a:srgbClr val="073F48"/>
                </a:solidFill>
                <a:latin typeface="Calibri"/>
                <a:ea typeface="Calibri"/>
                <a:cs typeface="Calibri"/>
              </a:defRPr>
            </a:defPPr>
            <a:lvl1pPr>
              <a:defRPr sz="1725" b="1">
                <a:solidFill>
                  <a:srgbClr val="073F48"/>
                </a:solidFill>
                <a:latin typeface="Calibri"/>
                <a:ea typeface="Calibri"/>
                <a:cs typeface="Calibri"/>
              </a:defRPr>
            </a:lvl1pPr>
            <a:lvl2pPr>
              <a:defRPr sz="1725" b="1">
                <a:solidFill>
                  <a:srgbClr val="073F48"/>
                </a:solidFill>
                <a:latin typeface="Calibri"/>
                <a:ea typeface="Calibri"/>
                <a:cs typeface="Calibri"/>
              </a:defRPr>
            </a:lvl2pPr>
            <a:lvl3pPr>
              <a:defRPr sz="1725" b="1">
                <a:solidFill>
                  <a:srgbClr val="073F48"/>
                </a:solidFill>
                <a:latin typeface="Calibri"/>
                <a:ea typeface="Calibri"/>
                <a:cs typeface="Calibri"/>
              </a:defRPr>
            </a:lvl3pPr>
            <a:lvl4pPr>
              <a:defRPr sz="1725" b="1">
                <a:solidFill>
                  <a:srgbClr val="073F48"/>
                </a:solidFill>
                <a:latin typeface="Calibri"/>
                <a:ea typeface="Calibri"/>
                <a:cs typeface="Calibri"/>
              </a:defRPr>
            </a:lvl4pPr>
            <a:lvl5pPr>
              <a:defRPr sz="1725" b="1">
                <a:solidFill>
                  <a:srgbClr val="073F48"/>
                </a:solidFill>
                <a:latin typeface="Calibri"/>
                <a:ea typeface="Calibri"/>
                <a:cs typeface="Calibri"/>
              </a:defRPr>
            </a:lvl5pPr>
            <a:lvl6pPr>
              <a:defRPr sz="1725" b="1">
                <a:solidFill>
                  <a:srgbClr val="073F48"/>
                </a:solidFill>
                <a:latin typeface="Calibri"/>
                <a:ea typeface="Calibri"/>
                <a:cs typeface="Calibri"/>
              </a:defRPr>
            </a:lvl6pPr>
            <a:lvl7pPr>
              <a:defRPr sz="1725" b="1">
                <a:solidFill>
                  <a:srgbClr val="073F48"/>
                </a:solidFill>
                <a:latin typeface="Calibri"/>
                <a:ea typeface="Calibri"/>
                <a:cs typeface="Calibri"/>
              </a:defRPr>
            </a:lvl7pPr>
            <a:lvl8pPr>
              <a:defRPr sz="1725" b="1">
                <a:solidFill>
                  <a:srgbClr val="073F48"/>
                </a:solidFill>
                <a:latin typeface="Calibri"/>
                <a:ea typeface="Calibri"/>
                <a:cs typeface="Calibri"/>
              </a:defRPr>
            </a:lvl8pPr>
            <a:lvl9pPr>
              <a:defRPr sz="1725" b="1">
                <a:solidFill>
                  <a:srgbClr val="073F48"/>
                </a:solidFill>
                <a:latin typeface="Calibri"/>
                <a:ea typeface="Calibri"/>
                <a:cs typeface="Calibri"/>
              </a:defRPr>
            </a:lvl9pPr>
          </a:lstStyle>
          <a:p xmlns:a="http://schemas.openxmlformats.org/drawingml/2006/main">
            <a:pPr>
              <a:defRPr sz="1725" b="1">
                <a:solidFill>
                  <a:srgbClr val="073F48"/>
                </a:solidFill>
                <a:latin typeface="Calibri"/>
                <a:ea typeface="Calibri"/>
                <a:cs typeface="Calibri"/>
              </a:defRPr>
            </a:pPr>
            <a:r>
              <a:rPr sz="1725" b="1">
                <a:solidFill>
                  <a:srgbClr val="073F48"/>
                </a:solidFill>
                <a:latin typeface="Calibri"/>
                <a:ea typeface="Calibri"/>
                <a:cs typeface="Calibri"/>
              </a:rPr>
              <a:t>13–18 months</a:t>
            </a:r>
          </a:p>
        </p:txBody>
      </p:sp>
      <p:sp>
        <p:nvSpPr>
          <p:cNvPr id="14" name="Expand: proven channels and adjacent products">
            <a:extLst xmlns:a="http://schemas.openxmlformats.org/drawingml/2006/main">
              <a:ext uri="{FF2B5EF4-FFF2-40B4-BE49-F238E27FC236}">
                <a16:creationId xmlns:a16="http://schemas.microsoft.com/office/drawing/2014/main" id="{70BC4893-0751-47A3-BED6-0F4FC182F227}"/>
              </a:ext>
            </a:extLst>
          </p:cNvPr>
          <p:cNvSpPr>
            <a:spLocks xmlns:a="http://schemas.openxmlformats.org/drawingml/2006/main" noGrp="1"/>
          </p:cNvSpPr>
          <p:nvPr/>
        </p:nvSpPr>
        <p:spPr>
          <a:xfrm xmlns:a="http://schemas.openxmlformats.org/drawingml/2006/main">
            <a:off x="8001000" y="5010150"/>
            <a:ext cx="3571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567371"/>
                </a:solidFill>
                <a:latin typeface="Calibri"/>
                <a:ea typeface="Calibri"/>
                <a:cs typeface="Calibri"/>
              </a:defRPr>
            </a:defPPr>
            <a:lvl1pPr>
              <a:defRPr sz="1575" b="0">
                <a:solidFill>
                  <a:srgbClr val="567371"/>
                </a:solidFill>
                <a:latin typeface="Calibri"/>
                <a:ea typeface="Calibri"/>
                <a:cs typeface="Calibri"/>
              </a:defRPr>
            </a:lvl1pPr>
            <a:lvl2pPr>
              <a:defRPr sz="1575" b="0">
                <a:solidFill>
                  <a:srgbClr val="567371"/>
                </a:solidFill>
                <a:latin typeface="Calibri"/>
                <a:ea typeface="Calibri"/>
                <a:cs typeface="Calibri"/>
              </a:defRPr>
            </a:lvl2pPr>
            <a:lvl3pPr>
              <a:defRPr sz="1575" b="0">
                <a:solidFill>
                  <a:srgbClr val="567371"/>
                </a:solidFill>
                <a:latin typeface="Calibri"/>
                <a:ea typeface="Calibri"/>
                <a:cs typeface="Calibri"/>
              </a:defRPr>
            </a:lvl3pPr>
            <a:lvl4pPr>
              <a:defRPr sz="1575" b="0">
                <a:solidFill>
                  <a:srgbClr val="567371"/>
                </a:solidFill>
                <a:latin typeface="Calibri"/>
                <a:ea typeface="Calibri"/>
                <a:cs typeface="Calibri"/>
              </a:defRPr>
            </a:lvl4pPr>
            <a:lvl5pPr>
              <a:defRPr sz="1575" b="0">
                <a:solidFill>
                  <a:srgbClr val="567371"/>
                </a:solidFill>
                <a:latin typeface="Calibri"/>
                <a:ea typeface="Calibri"/>
                <a:cs typeface="Calibri"/>
              </a:defRPr>
            </a:lvl5pPr>
            <a:lvl6pPr>
              <a:defRPr sz="1575" b="0">
                <a:solidFill>
                  <a:srgbClr val="567371"/>
                </a:solidFill>
                <a:latin typeface="Calibri"/>
                <a:ea typeface="Calibri"/>
                <a:cs typeface="Calibri"/>
              </a:defRPr>
            </a:lvl6pPr>
            <a:lvl7pPr>
              <a:defRPr sz="1575" b="0">
                <a:solidFill>
                  <a:srgbClr val="567371"/>
                </a:solidFill>
                <a:latin typeface="Calibri"/>
                <a:ea typeface="Calibri"/>
                <a:cs typeface="Calibri"/>
              </a:defRPr>
            </a:lvl7pPr>
            <a:lvl8pPr>
              <a:defRPr sz="1575" b="0">
                <a:solidFill>
                  <a:srgbClr val="567371"/>
                </a:solidFill>
                <a:latin typeface="Calibri"/>
                <a:ea typeface="Calibri"/>
                <a:cs typeface="Calibri"/>
              </a:defRPr>
            </a:lvl8pPr>
            <a:lvl9pPr>
              <a:defRPr sz="1575" b="0">
                <a:solidFill>
                  <a:srgbClr val="567371"/>
                </a:solidFill>
                <a:latin typeface="Calibri"/>
                <a:ea typeface="Calibri"/>
                <a:cs typeface="Calibri"/>
              </a:defRPr>
            </a:lvl9pPr>
          </a:lstStyle>
          <a:p xmlns:a="http://schemas.openxmlformats.org/drawingml/2006/main">
            <a:pPr>
              <a:defRPr sz="1575" b="0">
                <a:solidFill>
                  <a:srgbClr val="567371"/>
                </a:solidFill>
                <a:latin typeface="Calibri"/>
                <a:ea typeface="Calibri"/>
                <a:cs typeface="Calibri"/>
              </a:defRPr>
            </a:pPr>
            <a:r>
              <a:rPr sz="1575" b="0">
                <a:solidFill>
                  <a:srgbClr val="567371"/>
                </a:solidFill>
                <a:latin typeface="Calibri"/>
                <a:ea typeface="Calibri"/>
                <a:cs typeface="Calibri"/>
              </a:rPr>
              <a:t>Expand: proven channels and adjacent products</a:t>
            </a:r>
          </a:p>
        </p:txBody>
      </p:sp>
      <p:sp>
        <p:nvSpPr>
          <p:cNvPr id="15" name="Management plan. Allocation totals 100%. Mile">
            <a:extLst xmlns:a="http://schemas.openxmlformats.org/drawingml/2006/main">
              <a:ext uri="{FF2B5EF4-FFF2-40B4-BE49-F238E27FC236}">
                <a16:creationId xmlns:a16="http://schemas.microsoft.com/office/drawing/2014/main" id="{190EE14A-59DB-4104-ACAA-0F3539646F27}"/>
              </a:ext>
            </a:extLst>
          </p:cNvPr>
          <p:cNvSpPr>
            <a:spLocks xmlns:a="http://schemas.openxmlformats.org/drawingml/2006/main" noGrp="1"/>
          </p:cNvSpPr>
          <p:nvPr/>
        </p:nvSpPr>
        <p:spPr>
          <a:xfrm xmlns:a="http://schemas.openxmlformats.org/drawingml/2006/main">
            <a:off x="609600" y="57340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567371"/>
                </a:solidFill>
                <a:latin typeface="Calibri"/>
                <a:ea typeface="Calibri"/>
                <a:cs typeface="Calibri"/>
              </a:defRPr>
            </a:defPPr>
            <a:lvl1pPr>
              <a:defRPr sz="1275" b="0">
                <a:solidFill>
                  <a:srgbClr val="567371"/>
                </a:solidFill>
                <a:latin typeface="Calibri"/>
                <a:ea typeface="Calibri"/>
                <a:cs typeface="Calibri"/>
              </a:defRPr>
            </a:lvl1pPr>
            <a:lvl2pPr>
              <a:defRPr sz="1275" b="0">
                <a:solidFill>
                  <a:srgbClr val="567371"/>
                </a:solidFill>
                <a:latin typeface="Calibri"/>
                <a:ea typeface="Calibri"/>
                <a:cs typeface="Calibri"/>
              </a:defRPr>
            </a:lvl2pPr>
            <a:lvl3pPr>
              <a:defRPr sz="1275" b="0">
                <a:solidFill>
                  <a:srgbClr val="567371"/>
                </a:solidFill>
                <a:latin typeface="Calibri"/>
                <a:ea typeface="Calibri"/>
                <a:cs typeface="Calibri"/>
              </a:defRPr>
            </a:lvl3pPr>
            <a:lvl4pPr>
              <a:defRPr sz="1275" b="0">
                <a:solidFill>
                  <a:srgbClr val="567371"/>
                </a:solidFill>
                <a:latin typeface="Calibri"/>
                <a:ea typeface="Calibri"/>
                <a:cs typeface="Calibri"/>
              </a:defRPr>
            </a:lvl4pPr>
            <a:lvl5pPr>
              <a:defRPr sz="1275" b="0">
                <a:solidFill>
                  <a:srgbClr val="567371"/>
                </a:solidFill>
                <a:latin typeface="Calibri"/>
                <a:ea typeface="Calibri"/>
                <a:cs typeface="Calibri"/>
              </a:defRPr>
            </a:lvl5pPr>
            <a:lvl6pPr>
              <a:defRPr sz="1275" b="0">
                <a:solidFill>
                  <a:srgbClr val="567371"/>
                </a:solidFill>
                <a:latin typeface="Calibri"/>
                <a:ea typeface="Calibri"/>
                <a:cs typeface="Calibri"/>
              </a:defRPr>
            </a:lvl6pPr>
            <a:lvl7pPr>
              <a:defRPr sz="1275" b="0">
                <a:solidFill>
                  <a:srgbClr val="567371"/>
                </a:solidFill>
                <a:latin typeface="Calibri"/>
                <a:ea typeface="Calibri"/>
                <a:cs typeface="Calibri"/>
              </a:defRPr>
            </a:lvl7pPr>
            <a:lvl8pPr>
              <a:defRPr sz="1275" b="0">
                <a:solidFill>
                  <a:srgbClr val="567371"/>
                </a:solidFill>
                <a:latin typeface="Calibri"/>
                <a:ea typeface="Calibri"/>
                <a:cs typeface="Calibri"/>
              </a:defRPr>
            </a:lvl8pPr>
            <a:lvl9pPr>
              <a:defRPr sz="1275" b="0">
                <a:solidFill>
                  <a:srgbClr val="567371"/>
                </a:solidFill>
                <a:latin typeface="Calibri"/>
                <a:ea typeface="Calibri"/>
                <a:cs typeface="Calibri"/>
              </a:defRPr>
            </a:lvl9pPr>
          </a:lstStyle>
          <a:p xmlns:a="http://schemas.openxmlformats.org/drawingml/2006/main">
            <a:pPr>
              <a:defRPr sz="1275" b="0">
                <a:solidFill>
                  <a:srgbClr val="567371"/>
                </a:solidFill>
                <a:latin typeface="Calibri"/>
                <a:ea typeface="Calibri"/>
                <a:cs typeface="Calibri"/>
              </a:defRPr>
            </a:pPr>
            <a:r>
              <a:rPr sz="1275" b="0">
                <a:solidFill>
                  <a:srgbClr val="567371"/>
                </a:solidFill>
                <a:latin typeface="Calibri"/>
                <a:ea typeface="Calibri"/>
                <a:cs typeface="Calibri"/>
              </a:rPr>
              <a:t>Management plan. Allocation totals 100%. Milestones depend on funding and performance.</a:t>
            </a:r>
          </a:p>
        </p:txBody>
      </p:sp>
    </p:spTree>
    <p:extLst>
      <p:ext uri="{BB962C8B-B14F-4D97-AF65-F5344CB8AC3E}">
        <p14:creationId xmlns:p14="http://schemas.microsoft.com/office/powerpoint/2010/main" val="1350865506"/>
      </p:ext>
    </p:extLst>
  </p:cSld>
</p:sld>
</file>

<file path=ppt/slides/slide13.xml><?xml version="1.0" encoding="utf-8"?>
<p:sld xmlns:p="http://schemas.openxmlformats.org/presentationml/2006/main">
  <p:cSld>
    <p:bg>
      <p:bgPr>
        <a:solidFill xmlns:a="http://schemas.openxmlformats.org/drawingml/2006/main">
          <a:srgbClr val="073F48"/>
        </a:solidFill>
      </p:bgPr>
    </p:bg>
    <p:spTree>
      <p:nvGrpSpPr>
        <p:cNvPr id="1" name=""/>
        <p:cNvGrpSpPr/>
        <p:nvPr/>
      </p:nvGrpSpPr>
      <p:grpSpPr>
        <a:xfrm xmlns:a="http://schemas.openxmlformats.org/drawingml/2006/main"/>
      </p:grpSpPr>
      <p:sp>
        <p:nvSpPr>
          <p:cNvPr id="2" name="The next chapter is commercial evidence">
            <a:extLst xmlns:a="http://schemas.openxmlformats.org/drawingml/2006/main">
              <a:ext uri="{FF2B5EF4-FFF2-40B4-BE49-F238E27FC236}">
                <a16:creationId xmlns:a16="http://schemas.microsoft.com/office/drawing/2014/main" id="{E406C405-4E98-4FBE-8E28-2133894995B2}"/>
              </a:ext>
            </a:extLst>
          </p:cNvPr>
          <p:cNvSpPr>
            <a:spLocks xmlns:a="http://schemas.openxmlformats.org/drawingml/2006/main" noGrp="1"/>
          </p:cNvSpPr>
          <p:nvPr/>
        </p:nvSpPr>
        <p:spPr>
          <a:xfrm xmlns:a="http://schemas.openxmlformats.org/drawingml/2006/main">
            <a:off x="609600" y="5715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0">
                <a:solidFill>
                  <a:srgbClr val="F5F0E7"/>
                </a:solidFill>
                <a:latin typeface="Calibri"/>
                <a:ea typeface="Calibri"/>
                <a:cs typeface="Calibri"/>
              </a:defRPr>
            </a:defPPr>
            <a:lvl1pPr>
              <a:defRPr sz="3300" b="0">
                <a:solidFill>
                  <a:srgbClr val="F5F0E7"/>
                </a:solidFill>
                <a:latin typeface="Calibri"/>
                <a:ea typeface="Calibri"/>
                <a:cs typeface="Calibri"/>
              </a:defRPr>
            </a:lvl1pPr>
            <a:lvl2pPr>
              <a:defRPr sz="3300" b="0">
                <a:solidFill>
                  <a:srgbClr val="F5F0E7"/>
                </a:solidFill>
                <a:latin typeface="Calibri"/>
                <a:ea typeface="Calibri"/>
                <a:cs typeface="Calibri"/>
              </a:defRPr>
            </a:lvl2pPr>
            <a:lvl3pPr>
              <a:defRPr sz="3300" b="0">
                <a:solidFill>
                  <a:srgbClr val="F5F0E7"/>
                </a:solidFill>
                <a:latin typeface="Calibri"/>
                <a:ea typeface="Calibri"/>
                <a:cs typeface="Calibri"/>
              </a:defRPr>
            </a:lvl3pPr>
            <a:lvl4pPr>
              <a:defRPr sz="3300" b="0">
                <a:solidFill>
                  <a:srgbClr val="F5F0E7"/>
                </a:solidFill>
                <a:latin typeface="Calibri"/>
                <a:ea typeface="Calibri"/>
                <a:cs typeface="Calibri"/>
              </a:defRPr>
            </a:lvl4pPr>
            <a:lvl5pPr>
              <a:defRPr sz="3300" b="0">
                <a:solidFill>
                  <a:srgbClr val="F5F0E7"/>
                </a:solidFill>
                <a:latin typeface="Calibri"/>
                <a:ea typeface="Calibri"/>
                <a:cs typeface="Calibri"/>
              </a:defRPr>
            </a:lvl5pPr>
            <a:lvl6pPr>
              <a:defRPr sz="3300" b="0">
                <a:solidFill>
                  <a:srgbClr val="F5F0E7"/>
                </a:solidFill>
                <a:latin typeface="Calibri"/>
                <a:ea typeface="Calibri"/>
                <a:cs typeface="Calibri"/>
              </a:defRPr>
            </a:lvl6pPr>
            <a:lvl7pPr>
              <a:defRPr sz="3300" b="0">
                <a:solidFill>
                  <a:srgbClr val="F5F0E7"/>
                </a:solidFill>
                <a:latin typeface="Calibri"/>
                <a:ea typeface="Calibri"/>
                <a:cs typeface="Calibri"/>
              </a:defRPr>
            </a:lvl7pPr>
            <a:lvl8pPr>
              <a:defRPr sz="3300" b="0">
                <a:solidFill>
                  <a:srgbClr val="F5F0E7"/>
                </a:solidFill>
                <a:latin typeface="Calibri"/>
                <a:ea typeface="Calibri"/>
                <a:cs typeface="Calibri"/>
              </a:defRPr>
            </a:lvl8pPr>
            <a:lvl9pPr>
              <a:defRPr sz="3300" b="0">
                <a:solidFill>
                  <a:srgbClr val="F5F0E7"/>
                </a:solidFill>
                <a:latin typeface="Calibri"/>
                <a:ea typeface="Calibri"/>
                <a:cs typeface="Calibri"/>
              </a:defRPr>
            </a:lvl9pPr>
          </a:lstStyle>
          <a:p xmlns:a="http://schemas.openxmlformats.org/drawingml/2006/main">
            <a:pPr>
              <a:defRPr sz="3300" b="0">
                <a:solidFill>
                  <a:srgbClr val="F5F0E7"/>
                </a:solidFill>
                <a:latin typeface="Calibri"/>
                <a:ea typeface="Calibri"/>
                <a:cs typeface="Calibri"/>
              </a:defRPr>
            </a:pPr>
            <a:r>
              <a:rPr sz="3300" b="0">
                <a:solidFill>
                  <a:srgbClr val="F5F0E7"/>
                </a:solidFill>
                <a:latin typeface="Calibri"/>
                <a:ea typeface="Calibri"/>
                <a:cs typeface="Calibri"/>
              </a:rPr>
              <a:t>The next chapter is commercial evidence</a:t>
            </a:r>
          </a:p>
        </p:txBody>
      </p:sp>
      <p:sp>
        <p:nvSpPr>
          <p:cNvPr id="3" name="AURA PATCH  /  CONFIDENTIAL  /  OCTOBER 2026">
            <a:extLst xmlns:a="http://schemas.openxmlformats.org/drawingml/2006/main">
              <a:ext uri="{FF2B5EF4-FFF2-40B4-BE49-F238E27FC236}">
                <a16:creationId xmlns:a16="http://schemas.microsoft.com/office/drawing/2014/main" id="{BDAE6061-790C-4C93-90FD-2EA63E7C8914}"/>
              </a:ext>
            </a:extLst>
          </p:cNvPr>
          <p:cNvSpPr>
            <a:spLocks xmlns:a="http://schemas.openxmlformats.org/drawingml/2006/main" noGrp="1"/>
          </p:cNvSpPr>
          <p:nvPr/>
        </p:nvSpPr>
        <p:spPr>
          <a:xfrm xmlns:a="http://schemas.openxmlformats.org/drawingml/2006/main">
            <a:off x="609600" y="64198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B9CEC7"/>
                </a:solidFill>
                <a:latin typeface="Calibri"/>
                <a:ea typeface="Calibri"/>
                <a:cs typeface="Calibri"/>
              </a:defRPr>
            </a:defPPr>
            <a:lvl1pPr>
              <a:defRPr sz="900" b="0">
                <a:solidFill>
                  <a:srgbClr val="B9CEC7"/>
                </a:solidFill>
                <a:latin typeface="Calibri"/>
                <a:ea typeface="Calibri"/>
                <a:cs typeface="Calibri"/>
              </a:defRPr>
            </a:lvl1pPr>
            <a:lvl2pPr>
              <a:defRPr sz="900" b="0">
                <a:solidFill>
                  <a:srgbClr val="B9CEC7"/>
                </a:solidFill>
                <a:latin typeface="Calibri"/>
                <a:ea typeface="Calibri"/>
                <a:cs typeface="Calibri"/>
              </a:defRPr>
            </a:lvl2pPr>
            <a:lvl3pPr>
              <a:defRPr sz="900" b="0">
                <a:solidFill>
                  <a:srgbClr val="B9CEC7"/>
                </a:solidFill>
                <a:latin typeface="Calibri"/>
                <a:ea typeface="Calibri"/>
                <a:cs typeface="Calibri"/>
              </a:defRPr>
            </a:lvl3pPr>
            <a:lvl4pPr>
              <a:defRPr sz="900" b="0">
                <a:solidFill>
                  <a:srgbClr val="B9CEC7"/>
                </a:solidFill>
                <a:latin typeface="Calibri"/>
                <a:ea typeface="Calibri"/>
                <a:cs typeface="Calibri"/>
              </a:defRPr>
            </a:lvl4pPr>
            <a:lvl5pPr>
              <a:defRPr sz="900" b="0">
                <a:solidFill>
                  <a:srgbClr val="B9CEC7"/>
                </a:solidFill>
                <a:latin typeface="Calibri"/>
                <a:ea typeface="Calibri"/>
                <a:cs typeface="Calibri"/>
              </a:defRPr>
            </a:lvl5pPr>
            <a:lvl6pPr>
              <a:defRPr sz="900" b="0">
                <a:solidFill>
                  <a:srgbClr val="B9CEC7"/>
                </a:solidFill>
                <a:latin typeface="Calibri"/>
                <a:ea typeface="Calibri"/>
                <a:cs typeface="Calibri"/>
              </a:defRPr>
            </a:lvl6pPr>
            <a:lvl7pPr>
              <a:defRPr sz="900" b="0">
                <a:solidFill>
                  <a:srgbClr val="B9CEC7"/>
                </a:solidFill>
                <a:latin typeface="Calibri"/>
                <a:ea typeface="Calibri"/>
                <a:cs typeface="Calibri"/>
              </a:defRPr>
            </a:lvl7pPr>
            <a:lvl8pPr>
              <a:defRPr sz="900" b="0">
                <a:solidFill>
                  <a:srgbClr val="B9CEC7"/>
                </a:solidFill>
                <a:latin typeface="Calibri"/>
                <a:ea typeface="Calibri"/>
                <a:cs typeface="Calibri"/>
              </a:defRPr>
            </a:lvl8pPr>
            <a:lvl9pPr>
              <a:defRPr sz="900" b="0">
                <a:solidFill>
                  <a:srgbClr val="B9CEC7"/>
                </a:solidFill>
                <a:latin typeface="Calibri"/>
                <a:ea typeface="Calibri"/>
                <a:cs typeface="Calibri"/>
              </a:defRPr>
            </a:lvl9pPr>
          </a:lstStyle>
          <a:p xmlns:a="http://schemas.openxmlformats.org/drawingml/2006/main">
            <a:pPr>
              <a:defRPr sz="900" b="0">
                <a:solidFill>
                  <a:srgbClr val="B9CEC7"/>
                </a:solidFill>
                <a:latin typeface="Calibri"/>
                <a:ea typeface="Calibri"/>
                <a:cs typeface="Calibri"/>
              </a:defRPr>
            </a:pPr>
            <a:r>
              <a:rPr sz="900" b="0">
                <a:solidFill>
                  <a:srgbClr val="B9CEC7"/>
                </a:solidFill>
                <a:latin typeface="Calibri"/>
                <a:ea typeface="Calibri"/>
                <a:cs typeface="Calibri"/>
              </a:rPr>
              <a:t>AURA PATCH  /  CONFIDENTIAL  /  OCTOBER 2026</a:t>
            </a:r>
          </a:p>
        </p:txBody>
      </p:sp>
      <p:sp>
        <p:nvSpPr>
          <p:cNvPr id="4" name="13">
            <a:extLst xmlns:a="http://schemas.openxmlformats.org/drawingml/2006/main">
              <a:ext uri="{FF2B5EF4-FFF2-40B4-BE49-F238E27FC236}">
                <a16:creationId xmlns:a16="http://schemas.microsoft.com/office/drawing/2014/main" id="{773A9B3A-C183-4EDD-8B5E-C88458989ED4}"/>
              </a:ext>
            </a:extLst>
          </p:cNvPr>
          <p:cNvSpPr>
            <a:spLocks xmlns:a="http://schemas.openxmlformats.org/drawingml/2006/main" noGrp="1"/>
          </p:cNvSpPr>
          <p:nvPr/>
        </p:nvSpPr>
        <p:spPr>
          <a:xfrm xmlns:a="http://schemas.openxmlformats.org/drawingml/2006/main">
            <a:off x="11182350" y="64198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BF9A50"/>
                </a:solidFill>
                <a:latin typeface="Calibri"/>
                <a:ea typeface="Calibri"/>
                <a:cs typeface="Calibri"/>
              </a:defRPr>
            </a:defPPr>
            <a:lvl1pPr>
              <a:defRPr sz="1050" b="0">
                <a:solidFill>
                  <a:srgbClr val="BF9A50"/>
                </a:solidFill>
                <a:latin typeface="Calibri"/>
                <a:ea typeface="Calibri"/>
                <a:cs typeface="Calibri"/>
              </a:defRPr>
            </a:lvl1pPr>
            <a:lvl2pPr>
              <a:defRPr sz="1050" b="0">
                <a:solidFill>
                  <a:srgbClr val="BF9A50"/>
                </a:solidFill>
                <a:latin typeface="Calibri"/>
                <a:ea typeface="Calibri"/>
                <a:cs typeface="Calibri"/>
              </a:defRPr>
            </a:lvl2pPr>
            <a:lvl3pPr>
              <a:defRPr sz="1050" b="0">
                <a:solidFill>
                  <a:srgbClr val="BF9A50"/>
                </a:solidFill>
                <a:latin typeface="Calibri"/>
                <a:ea typeface="Calibri"/>
                <a:cs typeface="Calibri"/>
              </a:defRPr>
            </a:lvl3pPr>
            <a:lvl4pPr>
              <a:defRPr sz="1050" b="0">
                <a:solidFill>
                  <a:srgbClr val="BF9A50"/>
                </a:solidFill>
                <a:latin typeface="Calibri"/>
                <a:ea typeface="Calibri"/>
                <a:cs typeface="Calibri"/>
              </a:defRPr>
            </a:lvl4pPr>
            <a:lvl5pPr>
              <a:defRPr sz="1050" b="0">
                <a:solidFill>
                  <a:srgbClr val="BF9A50"/>
                </a:solidFill>
                <a:latin typeface="Calibri"/>
                <a:ea typeface="Calibri"/>
                <a:cs typeface="Calibri"/>
              </a:defRPr>
            </a:lvl5pPr>
            <a:lvl6pPr>
              <a:defRPr sz="1050" b="0">
                <a:solidFill>
                  <a:srgbClr val="BF9A50"/>
                </a:solidFill>
                <a:latin typeface="Calibri"/>
                <a:ea typeface="Calibri"/>
                <a:cs typeface="Calibri"/>
              </a:defRPr>
            </a:lvl6pPr>
            <a:lvl7pPr>
              <a:defRPr sz="1050" b="0">
                <a:solidFill>
                  <a:srgbClr val="BF9A50"/>
                </a:solidFill>
                <a:latin typeface="Calibri"/>
                <a:ea typeface="Calibri"/>
                <a:cs typeface="Calibri"/>
              </a:defRPr>
            </a:lvl7pPr>
            <a:lvl8pPr>
              <a:defRPr sz="1050" b="0">
                <a:solidFill>
                  <a:srgbClr val="BF9A50"/>
                </a:solidFill>
                <a:latin typeface="Calibri"/>
                <a:ea typeface="Calibri"/>
                <a:cs typeface="Calibri"/>
              </a:defRPr>
            </a:lvl8pPr>
            <a:lvl9pPr>
              <a:defRPr sz="1050" b="0">
                <a:solidFill>
                  <a:srgbClr val="BF9A50"/>
                </a:solidFill>
                <a:latin typeface="Calibri"/>
                <a:ea typeface="Calibri"/>
                <a:cs typeface="Calibri"/>
              </a:defRPr>
            </a:lvl9pPr>
          </a:lstStyle>
          <a:p xmlns:a="http://schemas.openxmlformats.org/drawingml/2006/main">
            <a:pPr>
              <a:defRPr sz="1050" b="0">
                <a:solidFill>
                  <a:srgbClr val="BF9A50"/>
                </a:solidFill>
                <a:latin typeface="Calibri"/>
                <a:ea typeface="Calibri"/>
                <a:cs typeface="Calibri"/>
              </a:defRPr>
            </a:pPr>
            <a:r>
              <a:rPr sz="1050" b="0">
                <a:solidFill>
                  <a:srgbClr val="BF9A50"/>
                </a:solidFill>
                <a:latin typeface="Calibri"/>
                <a:ea typeface="Calibri"/>
                <a:cs typeface="Calibri"/>
              </a:rPr>
              <a:t>13</a:t>
            </a:r>
          </a:p>
        </p:txBody>
      </p:sp>
      <p:sp>
        <p:nvSpPr>
          <p:cNvPr id="5" name="AURA">
            <a:extLst xmlns:a="http://schemas.openxmlformats.org/drawingml/2006/main">
              <a:ext uri="{FF2B5EF4-FFF2-40B4-BE49-F238E27FC236}">
                <a16:creationId xmlns:a16="http://schemas.microsoft.com/office/drawing/2014/main" id="{E6A0BC45-09F7-48DE-B7CF-D17E8CE7BA80}"/>
              </a:ext>
            </a:extLst>
          </p:cNvPr>
          <p:cNvSpPr>
            <a:spLocks xmlns:a="http://schemas.openxmlformats.org/drawingml/2006/main" noGrp="1"/>
          </p:cNvSpPr>
          <p:nvPr/>
        </p:nvSpPr>
        <p:spPr>
          <a:xfrm xmlns:a="http://schemas.openxmlformats.org/drawingml/2006/main">
            <a:off x="609600" y="1943100"/>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600" b="0">
                <a:solidFill>
                  <a:srgbClr val="F5F0E7"/>
                </a:solidFill>
                <a:latin typeface="Georgia"/>
                <a:ea typeface="Georgia"/>
                <a:cs typeface="Georgia"/>
              </a:defRPr>
            </a:defPPr>
            <a:lvl1pPr>
              <a:defRPr sz="6600" b="0">
                <a:solidFill>
                  <a:srgbClr val="F5F0E7"/>
                </a:solidFill>
                <a:latin typeface="Georgia"/>
                <a:ea typeface="Georgia"/>
                <a:cs typeface="Georgia"/>
              </a:defRPr>
            </a:lvl1pPr>
            <a:lvl2pPr>
              <a:defRPr sz="6600" b="0">
                <a:solidFill>
                  <a:srgbClr val="F5F0E7"/>
                </a:solidFill>
                <a:latin typeface="Georgia"/>
                <a:ea typeface="Georgia"/>
                <a:cs typeface="Georgia"/>
              </a:defRPr>
            </a:lvl2pPr>
            <a:lvl3pPr>
              <a:defRPr sz="6600" b="0">
                <a:solidFill>
                  <a:srgbClr val="F5F0E7"/>
                </a:solidFill>
                <a:latin typeface="Georgia"/>
                <a:ea typeface="Georgia"/>
                <a:cs typeface="Georgia"/>
              </a:defRPr>
            </a:lvl3pPr>
            <a:lvl4pPr>
              <a:defRPr sz="6600" b="0">
                <a:solidFill>
                  <a:srgbClr val="F5F0E7"/>
                </a:solidFill>
                <a:latin typeface="Georgia"/>
                <a:ea typeface="Georgia"/>
                <a:cs typeface="Georgia"/>
              </a:defRPr>
            </a:lvl4pPr>
            <a:lvl5pPr>
              <a:defRPr sz="6600" b="0">
                <a:solidFill>
                  <a:srgbClr val="F5F0E7"/>
                </a:solidFill>
                <a:latin typeface="Georgia"/>
                <a:ea typeface="Georgia"/>
                <a:cs typeface="Georgia"/>
              </a:defRPr>
            </a:lvl5pPr>
            <a:lvl6pPr>
              <a:defRPr sz="6600" b="0">
                <a:solidFill>
                  <a:srgbClr val="F5F0E7"/>
                </a:solidFill>
                <a:latin typeface="Georgia"/>
                <a:ea typeface="Georgia"/>
                <a:cs typeface="Georgia"/>
              </a:defRPr>
            </a:lvl6pPr>
            <a:lvl7pPr>
              <a:defRPr sz="6600" b="0">
                <a:solidFill>
                  <a:srgbClr val="F5F0E7"/>
                </a:solidFill>
                <a:latin typeface="Georgia"/>
                <a:ea typeface="Georgia"/>
                <a:cs typeface="Georgia"/>
              </a:defRPr>
            </a:lvl7pPr>
            <a:lvl8pPr>
              <a:defRPr sz="6600" b="0">
                <a:solidFill>
                  <a:srgbClr val="F5F0E7"/>
                </a:solidFill>
                <a:latin typeface="Georgia"/>
                <a:ea typeface="Georgia"/>
                <a:cs typeface="Georgia"/>
              </a:defRPr>
            </a:lvl8pPr>
            <a:lvl9pPr>
              <a:defRPr sz="6600" b="0">
                <a:solidFill>
                  <a:srgbClr val="F5F0E7"/>
                </a:solidFill>
                <a:latin typeface="Georgia"/>
                <a:ea typeface="Georgia"/>
                <a:cs typeface="Georgia"/>
              </a:defRPr>
            </a:lvl9pPr>
          </a:lstStyle>
          <a:p xmlns:a="http://schemas.openxmlformats.org/drawingml/2006/main">
            <a:pPr>
              <a:defRPr sz="6600" b="0">
                <a:solidFill>
                  <a:srgbClr val="F5F0E7"/>
                </a:solidFill>
                <a:latin typeface="Georgia"/>
                <a:ea typeface="Georgia"/>
                <a:cs typeface="Georgia"/>
              </a:defRPr>
            </a:pPr>
            <a:r>
              <a:rPr sz="6600" b="0">
                <a:solidFill>
                  <a:srgbClr val="F5F0E7"/>
                </a:solidFill>
                <a:latin typeface="Georgia"/>
                <a:ea typeface="Georgia"/>
                <a:cs typeface="Georgia"/>
              </a:rPr>
              <a:t>AURA</a:t>
            </a:r>
          </a:p>
        </p:txBody>
      </p:sp>
      <p:sp>
        <p:nvSpPr>
          <p:cNvPr id="6" name="Daily Wellness Patch">
            <a:extLst xmlns:a="http://schemas.openxmlformats.org/drawingml/2006/main">
              <a:ext uri="{FF2B5EF4-FFF2-40B4-BE49-F238E27FC236}">
                <a16:creationId xmlns:a16="http://schemas.microsoft.com/office/drawing/2014/main" id="{A79AE774-7EC9-49D5-9B49-3E5C9BA788D4}"/>
              </a:ext>
            </a:extLst>
          </p:cNvPr>
          <p:cNvSpPr>
            <a:spLocks xmlns:a="http://schemas.openxmlformats.org/drawingml/2006/main" noGrp="1"/>
          </p:cNvSpPr>
          <p:nvPr/>
        </p:nvSpPr>
        <p:spPr>
          <a:xfrm xmlns:a="http://schemas.openxmlformats.org/drawingml/2006/main">
            <a:off x="666750" y="3143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25" b="0">
                <a:solidFill>
                  <a:srgbClr val="BF9A50"/>
                </a:solidFill>
                <a:latin typeface="Calibri"/>
                <a:ea typeface="Calibri"/>
                <a:cs typeface="Calibri"/>
              </a:defRPr>
            </a:defPPr>
            <a:lvl1pPr>
              <a:defRPr sz="2625" b="0">
                <a:solidFill>
                  <a:srgbClr val="BF9A50"/>
                </a:solidFill>
                <a:latin typeface="Calibri"/>
                <a:ea typeface="Calibri"/>
                <a:cs typeface="Calibri"/>
              </a:defRPr>
            </a:lvl1pPr>
            <a:lvl2pPr>
              <a:defRPr sz="2625" b="0">
                <a:solidFill>
                  <a:srgbClr val="BF9A50"/>
                </a:solidFill>
                <a:latin typeface="Calibri"/>
                <a:ea typeface="Calibri"/>
                <a:cs typeface="Calibri"/>
              </a:defRPr>
            </a:lvl2pPr>
            <a:lvl3pPr>
              <a:defRPr sz="2625" b="0">
                <a:solidFill>
                  <a:srgbClr val="BF9A50"/>
                </a:solidFill>
                <a:latin typeface="Calibri"/>
                <a:ea typeface="Calibri"/>
                <a:cs typeface="Calibri"/>
              </a:defRPr>
            </a:lvl3pPr>
            <a:lvl4pPr>
              <a:defRPr sz="2625" b="0">
                <a:solidFill>
                  <a:srgbClr val="BF9A50"/>
                </a:solidFill>
                <a:latin typeface="Calibri"/>
                <a:ea typeface="Calibri"/>
                <a:cs typeface="Calibri"/>
              </a:defRPr>
            </a:lvl4pPr>
            <a:lvl5pPr>
              <a:defRPr sz="2625" b="0">
                <a:solidFill>
                  <a:srgbClr val="BF9A50"/>
                </a:solidFill>
                <a:latin typeface="Calibri"/>
                <a:ea typeface="Calibri"/>
                <a:cs typeface="Calibri"/>
              </a:defRPr>
            </a:lvl5pPr>
            <a:lvl6pPr>
              <a:defRPr sz="2625" b="0">
                <a:solidFill>
                  <a:srgbClr val="BF9A50"/>
                </a:solidFill>
                <a:latin typeface="Calibri"/>
                <a:ea typeface="Calibri"/>
                <a:cs typeface="Calibri"/>
              </a:defRPr>
            </a:lvl6pPr>
            <a:lvl7pPr>
              <a:defRPr sz="2625" b="0">
                <a:solidFill>
                  <a:srgbClr val="BF9A50"/>
                </a:solidFill>
                <a:latin typeface="Calibri"/>
                <a:ea typeface="Calibri"/>
                <a:cs typeface="Calibri"/>
              </a:defRPr>
            </a:lvl7pPr>
            <a:lvl8pPr>
              <a:defRPr sz="2625" b="0">
                <a:solidFill>
                  <a:srgbClr val="BF9A50"/>
                </a:solidFill>
                <a:latin typeface="Calibri"/>
                <a:ea typeface="Calibri"/>
                <a:cs typeface="Calibri"/>
              </a:defRPr>
            </a:lvl8pPr>
            <a:lvl9pPr>
              <a:defRPr sz="2625" b="0">
                <a:solidFill>
                  <a:srgbClr val="BF9A50"/>
                </a:solidFill>
                <a:latin typeface="Calibri"/>
                <a:ea typeface="Calibri"/>
                <a:cs typeface="Calibri"/>
              </a:defRPr>
            </a:lvl9pPr>
          </a:lstStyle>
          <a:p xmlns:a="http://schemas.openxmlformats.org/drawingml/2006/main">
            <a:pPr>
              <a:defRPr sz="2625" b="0">
                <a:solidFill>
                  <a:srgbClr val="BF9A50"/>
                </a:solidFill>
                <a:latin typeface="Calibri"/>
                <a:ea typeface="Calibri"/>
                <a:cs typeface="Calibri"/>
              </a:defRPr>
            </a:pPr>
            <a:r>
              <a:rPr sz="2625" b="0">
                <a:solidFill>
                  <a:srgbClr val="BF9A50"/>
                </a:solidFill>
                <a:latin typeface="Calibri"/>
                <a:ea typeface="Calibri"/>
                <a:cs typeface="Calibri"/>
              </a:rPr>
              <a:t>Daily Wellness Patch</a:t>
            </a:r>
          </a:p>
        </p:txBody>
      </p:sp>
      <p:sp>
        <p:nvSpPr>
          <p:cNvPr id="7" name="Seeking $500K–$1.5M to launch the flagship,&#10;m">
            <a:extLst xmlns:a="http://schemas.openxmlformats.org/drawingml/2006/main">
              <a:ext uri="{FF2B5EF4-FFF2-40B4-BE49-F238E27FC236}">
                <a16:creationId xmlns:a16="http://schemas.microsoft.com/office/drawing/2014/main" id="{CADE8000-8402-4D9A-B37D-B03547D4FB66}"/>
              </a:ext>
            </a:extLst>
          </p:cNvPr>
          <p:cNvSpPr>
            <a:spLocks xmlns:a="http://schemas.openxmlformats.org/drawingml/2006/main" noGrp="1"/>
          </p:cNvSpPr>
          <p:nvPr/>
        </p:nvSpPr>
        <p:spPr>
          <a:xfrm xmlns:a="http://schemas.openxmlformats.org/drawingml/2006/main">
            <a:off x="666750" y="41624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0">
                <a:solidFill>
                  <a:srgbClr val="B9CEC7"/>
                </a:solidFill>
                <a:latin typeface="Calibri"/>
                <a:ea typeface="Calibri"/>
                <a:cs typeface="Calibri"/>
              </a:defRPr>
            </a:defPPr>
            <a:lvl1pPr>
              <a:defRPr sz="2475" b="0">
                <a:solidFill>
                  <a:srgbClr val="B9CEC7"/>
                </a:solidFill>
                <a:latin typeface="Calibri"/>
                <a:ea typeface="Calibri"/>
                <a:cs typeface="Calibri"/>
              </a:defRPr>
            </a:lvl1pPr>
            <a:lvl2pPr>
              <a:defRPr sz="2475" b="0">
                <a:solidFill>
                  <a:srgbClr val="B9CEC7"/>
                </a:solidFill>
                <a:latin typeface="Calibri"/>
                <a:ea typeface="Calibri"/>
                <a:cs typeface="Calibri"/>
              </a:defRPr>
            </a:lvl2pPr>
            <a:lvl3pPr>
              <a:defRPr sz="2475" b="0">
                <a:solidFill>
                  <a:srgbClr val="B9CEC7"/>
                </a:solidFill>
                <a:latin typeface="Calibri"/>
                <a:ea typeface="Calibri"/>
                <a:cs typeface="Calibri"/>
              </a:defRPr>
            </a:lvl3pPr>
            <a:lvl4pPr>
              <a:defRPr sz="2475" b="0">
                <a:solidFill>
                  <a:srgbClr val="B9CEC7"/>
                </a:solidFill>
                <a:latin typeface="Calibri"/>
                <a:ea typeface="Calibri"/>
                <a:cs typeface="Calibri"/>
              </a:defRPr>
            </a:lvl4pPr>
            <a:lvl5pPr>
              <a:defRPr sz="2475" b="0">
                <a:solidFill>
                  <a:srgbClr val="B9CEC7"/>
                </a:solidFill>
                <a:latin typeface="Calibri"/>
                <a:ea typeface="Calibri"/>
                <a:cs typeface="Calibri"/>
              </a:defRPr>
            </a:lvl5pPr>
            <a:lvl6pPr>
              <a:defRPr sz="2475" b="0">
                <a:solidFill>
                  <a:srgbClr val="B9CEC7"/>
                </a:solidFill>
                <a:latin typeface="Calibri"/>
                <a:ea typeface="Calibri"/>
                <a:cs typeface="Calibri"/>
              </a:defRPr>
            </a:lvl6pPr>
            <a:lvl7pPr>
              <a:defRPr sz="2475" b="0">
                <a:solidFill>
                  <a:srgbClr val="B9CEC7"/>
                </a:solidFill>
                <a:latin typeface="Calibri"/>
                <a:ea typeface="Calibri"/>
                <a:cs typeface="Calibri"/>
              </a:defRPr>
            </a:lvl7pPr>
            <a:lvl8pPr>
              <a:defRPr sz="2475" b="0">
                <a:solidFill>
                  <a:srgbClr val="B9CEC7"/>
                </a:solidFill>
                <a:latin typeface="Calibri"/>
                <a:ea typeface="Calibri"/>
                <a:cs typeface="Calibri"/>
              </a:defRPr>
            </a:lvl8pPr>
            <a:lvl9pPr>
              <a:defRPr sz="2475" b="0">
                <a:solidFill>
                  <a:srgbClr val="B9CEC7"/>
                </a:solidFill>
                <a:latin typeface="Calibri"/>
                <a:ea typeface="Calibri"/>
                <a:cs typeface="Calibri"/>
              </a:defRPr>
            </a:lvl9pPr>
          </a:lstStyle>
          <a:p xmlns:a="http://schemas.openxmlformats.org/drawingml/2006/main">
            <a:pPr>
              <a:defRPr sz="2475" b="0">
                <a:solidFill>
                  <a:srgbClr val="B9CEC7"/>
                </a:solidFill>
                <a:latin typeface="Calibri"/>
                <a:ea typeface="Calibri"/>
                <a:cs typeface="Calibri"/>
              </a:defRPr>
            </a:pPr>
            <a:r>
              <a:rPr sz="2475" b="0">
                <a:solidFill>
                  <a:srgbClr val="B9CEC7"/>
                </a:solidFill>
                <a:latin typeface="Calibri"/>
                <a:ea typeface="Calibri"/>
                <a:cs typeface="Calibri"/>
              </a:rPr>
              <a:t>Seeking $500K–$1.5M to launch the flagship,</a:t>
            </a:r>
          </a:p>
          <a:p xmlns:a="http://schemas.openxmlformats.org/drawingml/2006/main">
            <a:pPr>
              <a:defRPr sz="2475" b="0">
                <a:solidFill>
                  <a:srgbClr val="B9CEC7"/>
                </a:solidFill>
                <a:latin typeface="Calibri"/>
                <a:ea typeface="Calibri"/>
                <a:cs typeface="Calibri"/>
              </a:defRPr>
            </a:pPr>
            <a:r>
              <a:rPr sz="2475" b="0">
                <a:solidFill>
                  <a:srgbClr val="B9CEC7"/>
                </a:solidFill>
                <a:latin typeface="Calibri"/>
                <a:ea typeface="Calibri"/>
                <a:cs typeface="Calibri"/>
              </a:rPr>
              <a:t>measure repeat use and fund disciplined expansion.</a:t>
            </a:r>
          </a:p>
        </p:txBody>
      </p:sp>
      <p:sp>
        <p:nvSpPr>
          <p:cNvPr id="8" name="support@getaurapatch.com">
            <a:extLst xmlns:a="http://schemas.openxmlformats.org/drawingml/2006/main">
              <a:ext uri="{FF2B5EF4-FFF2-40B4-BE49-F238E27FC236}">
                <a16:creationId xmlns:a16="http://schemas.microsoft.com/office/drawing/2014/main" id="{BBD27E82-A13C-4C2E-86ED-0E365948911B}"/>
              </a:ext>
            </a:extLst>
          </p:cNvPr>
          <p:cNvSpPr>
            <a:spLocks xmlns:a="http://schemas.openxmlformats.org/drawingml/2006/main" noGrp="1"/>
          </p:cNvSpPr>
          <p:nvPr/>
        </p:nvSpPr>
        <p:spPr>
          <a:xfrm xmlns:a="http://schemas.openxmlformats.org/drawingml/2006/main">
            <a:off x="666750" y="56197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F5F0E7"/>
                </a:solidFill>
                <a:latin typeface="Calibri"/>
                <a:ea typeface="Calibri"/>
                <a:cs typeface="Calibri"/>
              </a:defRPr>
            </a:defPPr>
            <a:lvl1pPr>
              <a:defRPr sz="1950" b="0">
                <a:solidFill>
                  <a:srgbClr val="F5F0E7"/>
                </a:solidFill>
                <a:latin typeface="Calibri"/>
                <a:ea typeface="Calibri"/>
                <a:cs typeface="Calibri"/>
              </a:defRPr>
            </a:lvl1pPr>
            <a:lvl2pPr>
              <a:defRPr sz="1950" b="0">
                <a:solidFill>
                  <a:srgbClr val="F5F0E7"/>
                </a:solidFill>
                <a:latin typeface="Calibri"/>
                <a:ea typeface="Calibri"/>
                <a:cs typeface="Calibri"/>
              </a:defRPr>
            </a:lvl2pPr>
            <a:lvl3pPr>
              <a:defRPr sz="1950" b="0">
                <a:solidFill>
                  <a:srgbClr val="F5F0E7"/>
                </a:solidFill>
                <a:latin typeface="Calibri"/>
                <a:ea typeface="Calibri"/>
                <a:cs typeface="Calibri"/>
              </a:defRPr>
            </a:lvl3pPr>
            <a:lvl4pPr>
              <a:defRPr sz="1950" b="0">
                <a:solidFill>
                  <a:srgbClr val="F5F0E7"/>
                </a:solidFill>
                <a:latin typeface="Calibri"/>
                <a:ea typeface="Calibri"/>
                <a:cs typeface="Calibri"/>
              </a:defRPr>
            </a:lvl4pPr>
            <a:lvl5pPr>
              <a:defRPr sz="1950" b="0">
                <a:solidFill>
                  <a:srgbClr val="F5F0E7"/>
                </a:solidFill>
                <a:latin typeface="Calibri"/>
                <a:ea typeface="Calibri"/>
                <a:cs typeface="Calibri"/>
              </a:defRPr>
            </a:lvl5pPr>
            <a:lvl6pPr>
              <a:defRPr sz="1950" b="0">
                <a:solidFill>
                  <a:srgbClr val="F5F0E7"/>
                </a:solidFill>
                <a:latin typeface="Calibri"/>
                <a:ea typeface="Calibri"/>
                <a:cs typeface="Calibri"/>
              </a:defRPr>
            </a:lvl6pPr>
            <a:lvl7pPr>
              <a:defRPr sz="1950" b="0">
                <a:solidFill>
                  <a:srgbClr val="F5F0E7"/>
                </a:solidFill>
                <a:latin typeface="Calibri"/>
                <a:ea typeface="Calibri"/>
                <a:cs typeface="Calibri"/>
              </a:defRPr>
            </a:lvl7pPr>
            <a:lvl8pPr>
              <a:defRPr sz="1950" b="0">
                <a:solidFill>
                  <a:srgbClr val="F5F0E7"/>
                </a:solidFill>
                <a:latin typeface="Calibri"/>
                <a:ea typeface="Calibri"/>
                <a:cs typeface="Calibri"/>
              </a:defRPr>
            </a:lvl8pPr>
            <a:lvl9pPr>
              <a:defRPr sz="1950" b="0">
                <a:solidFill>
                  <a:srgbClr val="F5F0E7"/>
                </a:solidFill>
                <a:latin typeface="Calibri"/>
                <a:ea typeface="Calibri"/>
                <a:cs typeface="Calibri"/>
              </a:defRPr>
            </a:lvl9pPr>
          </a:lstStyle>
          <a:p xmlns:a="http://schemas.openxmlformats.org/drawingml/2006/main">
            <a:pPr>
              <a:defRPr sz="1950" b="0">
                <a:solidFill>
                  <a:srgbClr val="F5F0E7"/>
                </a:solidFill>
                <a:latin typeface="Calibri"/>
                <a:ea typeface="Calibri"/>
                <a:cs typeface="Calibri"/>
              </a:defRPr>
            </a:pPr>
            <a:r>
              <a:rPr sz="1950" b="0">
                <a:solidFill>
                  <a:srgbClr val="F5F0E7"/>
                </a:solidFill>
                <a:latin typeface="Calibri"/>
                <a:ea typeface="Calibri"/>
                <a:cs typeface="Calibri"/>
              </a:rPr>
              <a:t>support@getaurapatch.com</a:t>
            </a:r>
          </a:p>
        </p:txBody>
      </p:sp>
      <p:sp>
        <p:nvSpPr>
          <p:cNvPr id="9" name="getaurapatch.com">
            <a:extLst xmlns:a="http://schemas.openxmlformats.org/drawingml/2006/main">
              <a:ext uri="{FF2B5EF4-FFF2-40B4-BE49-F238E27FC236}">
                <a16:creationId xmlns:a16="http://schemas.microsoft.com/office/drawing/2014/main" id="{A570EBDE-9AB9-4A5E-9637-9ED17785E97E}"/>
              </a:ext>
            </a:extLst>
          </p:cNvPr>
          <p:cNvSpPr>
            <a:spLocks xmlns:a="http://schemas.openxmlformats.org/drawingml/2006/main" noGrp="1"/>
          </p:cNvSpPr>
          <p:nvPr/>
        </p:nvSpPr>
        <p:spPr>
          <a:xfrm xmlns:a="http://schemas.openxmlformats.org/drawingml/2006/main">
            <a:off x="8096250" y="5619750"/>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BF9A50"/>
                </a:solidFill>
                <a:latin typeface="Calibri"/>
                <a:ea typeface="Calibri"/>
                <a:cs typeface="Calibri"/>
              </a:defRPr>
            </a:defPPr>
            <a:lvl1pPr>
              <a:defRPr sz="1950" b="0">
                <a:solidFill>
                  <a:srgbClr val="BF9A50"/>
                </a:solidFill>
                <a:latin typeface="Calibri"/>
                <a:ea typeface="Calibri"/>
                <a:cs typeface="Calibri"/>
              </a:defRPr>
            </a:lvl1pPr>
            <a:lvl2pPr>
              <a:defRPr sz="1950" b="0">
                <a:solidFill>
                  <a:srgbClr val="BF9A50"/>
                </a:solidFill>
                <a:latin typeface="Calibri"/>
                <a:ea typeface="Calibri"/>
                <a:cs typeface="Calibri"/>
              </a:defRPr>
            </a:lvl2pPr>
            <a:lvl3pPr>
              <a:defRPr sz="1950" b="0">
                <a:solidFill>
                  <a:srgbClr val="BF9A50"/>
                </a:solidFill>
                <a:latin typeface="Calibri"/>
                <a:ea typeface="Calibri"/>
                <a:cs typeface="Calibri"/>
              </a:defRPr>
            </a:lvl3pPr>
            <a:lvl4pPr>
              <a:defRPr sz="1950" b="0">
                <a:solidFill>
                  <a:srgbClr val="BF9A50"/>
                </a:solidFill>
                <a:latin typeface="Calibri"/>
                <a:ea typeface="Calibri"/>
                <a:cs typeface="Calibri"/>
              </a:defRPr>
            </a:lvl4pPr>
            <a:lvl5pPr>
              <a:defRPr sz="1950" b="0">
                <a:solidFill>
                  <a:srgbClr val="BF9A50"/>
                </a:solidFill>
                <a:latin typeface="Calibri"/>
                <a:ea typeface="Calibri"/>
                <a:cs typeface="Calibri"/>
              </a:defRPr>
            </a:lvl5pPr>
            <a:lvl6pPr>
              <a:defRPr sz="1950" b="0">
                <a:solidFill>
                  <a:srgbClr val="BF9A50"/>
                </a:solidFill>
                <a:latin typeface="Calibri"/>
                <a:ea typeface="Calibri"/>
                <a:cs typeface="Calibri"/>
              </a:defRPr>
            </a:lvl6pPr>
            <a:lvl7pPr>
              <a:defRPr sz="1950" b="0">
                <a:solidFill>
                  <a:srgbClr val="BF9A50"/>
                </a:solidFill>
                <a:latin typeface="Calibri"/>
                <a:ea typeface="Calibri"/>
                <a:cs typeface="Calibri"/>
              </a:defRPr>
            </a:lvl7pPr>
            <a:lvl8pPr>
              <a:defRPr sz="1950" b="0">
                <a:solidFill>
                  <a:srgbClr val="BF9A50"/>
                </a:solidFill>
                <a:latin typeface="Calibri"/>
                <a:ea typeface="Calibri"/>
                <a:cs typeface="Calibri"/>
              </a:defRPr>
            </a:lvl8pPr>
            <a:lvl9pPr>
              <a:defRPr sz="1950" b="0">
                <a:solidFill>
                  <a:srgbClr val="BF9A50"/>
                </a:solidFill>
                <a:latin typeface="Calibri"/>
                <a:ea typeface="Calibri"/>
                <a:cs typeface="Calibri"/>
              </a:defRPr>
            </a:lvl9pPr>
          </a:lstStyle>
          <a:p xmlns:a="http://schemas.openxmlformats.org/drawingml/2006/main">
            <a:pPr>
              <a:defRPr sz="1950" b="0">
                <a:solidFill>
                  <a:srgbClr val="BF9A50"/>
                </a:solidFill>
                <a:latin typeface="Calibri"/>
                <a:ea typeface="Calibri"/>
                <a:cs typeface="Calibri"/>
              </a:defRPr>
            </a:pPr>
            <a:r>
              <a:rPr sz="1950" b="0">
                <a:solidFill>
                  <a:srgbClr val="BF9A50"/>
                </a:solidFill>
                <a:latin typeface="Calibri"/>
                <a:ea typeface="Calibri"/>
                <a:cs typeface="Calibri"/>
              </a:rPr>
              <a:t>getaurapatch.com</a:t>
            </a:r>
          </a:p>
        </p:txBody>
      </p:sp>
    </p:spTree>
    <p:extLst>
      <p:ext uri="{BB962C8B-B14F-4D97-AF65-F5344CB8AC3E}">
        <p14:creationId xmlns:p14="http://schemas.microsoft.com/office/powerpoint/2010/main" val="17530869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2026-10-24T16:54:56.1240000Z</dcterms:created>
  <dcterms:modified xsi:type="dcterms:W3CDTF">2026-10-24T16:54:56.1240000Z</dcterms:modified>
</coreProperties>
</file>